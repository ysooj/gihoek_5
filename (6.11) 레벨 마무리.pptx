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9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62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09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6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41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55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00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775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30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8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53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122D4-7CCB-4DAA-8DCF-4CFA9FD53A3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F303-83EE-4D30-8024-7B203BCE54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08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4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microsoft.com/office/2007/relationships/hdphoto" Target="../media/hdphoto6.wdp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microsoft.com/office/2007/relationships/hdphoto" Target="../media/hdphoto9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구조물의 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어떤 조건이 충족되면 상위 콘텐츠가 해금된다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Befor – Ing - After</a:t>
            </a:r>
          </a:p>
          <a:p>
            <a:r>
              <a:rPr lang="ko-KR" altLang="en-US" smtClean="0"/>
              <a:t>조건을 충족시키지 못했을 때도</a:t>
            </a:r>
            <a:r>
              <a:rPr lang="en-US" altLang="ko-KR" smtClean="0"/>
              <a:t> </a:t>
            </a:r>
            <a:r>
              <a:rPr lang="ko-KR" altLang="en-US" smtClean="0"/>
              <a:t>적어준다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적어도 레버를 움직이는 방향으로 구조물이 이동하는 정도의 수준은 돼야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단순히 열쇠를 찾아서 문을 여는 정도는 포트폴리오에 넣을 수준이 안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76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 시각화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어제 만든 건</a:t>
            </a:r>
            <a:endParaRPr lang="en-US" altLang="ko-KR" smtClean="0"/>
          </a:p>
          <a:p>
            <a:r>
              <a:rPr lang="ko-KR" altLang="en-US" smtClean="0"/>
              <a:t>오늘 만든 건 </a:t>
            </a:r>
            <a:endParaRPr lang="ko-KR" altLang="en-US"/>
          </a:p>
        </p:txBody>
      </p:sp>
      <p:sp>
        <p:nvSpPr>
          <p:cNvPr id="4" name="타원 3"/>
          <p:cNvSpPr/>
          <p:nvPr/>
        </p:nvSpPr>
        <p:spPr>
          <a:xfrm>
            <a:off x="3503779" y="1825626"/>
            <a:ext cx="349502" cy="349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포인트가 5개인 별 4"/>
          <p:cNvSpPr/>
          <p:nvPr/>
        </p:nvSpPr>
        <p:spPr>
          <a:xfrm>
            <a:off x="3420144" y="2310063"/>
            <a:ext cx="433137" cy="433137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68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게임의 상호작용 구조물 </a:t>
            </a:r>
            <a:r>
              <a:rPr lang="en-US" altLang="ko-KR"/>
              <a:t>- </a:t>
            </a:r>
            <a:r>
              <a:rPr lang="ko-KR" altLang="en-US"/>
              <a:t>오브젝트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27947" y="1825625"/>
            <a:ext cx="844616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[ </a:t>
            </a:r>
            <a:r>
              <a:rPr lang="ko-KR" altLang="en-US"/>
              <a:t>편의점 물류용 플라스틱 박스 더미</a:t>
            </a:r>
            <a:r>
              <a:rPr lang="en-US" altLang="ko-KR"/>
              <a:t> ]</a:t>
            </a:r>
          </a:p>
          <a:p>
            <a:r>
              <a:rPr lang="ko-KR" altLang="en-US"/>
              <a:t>부서진 창살 부분을 가리고 있는 역할</a:t>
            </a:r>
            <a:endParaRPr lang="en-US" altLang="ko-KR"/>
          </a:p>
          <a:p>
            <a:r>
              <a:rPr lang="ko-KR" altLang="en-US"/>
              <a:t>박스 더미를 치우면 철창 문의 부서진 부분이 있다</a:t>
            </a:r>
            <a:r>
              <a:rPr lang="en-US" altLang="ko-KR"/>
              <a:t>.</a:t>
            </a:r>
          </a:p>
          <a:p>
            <a:r>
              <a:rPr lang="ko-KR" altLang="en-US"/>
              <a:t>그 구멍으로 예쁜 고양이가 나올 수 있다</a:t>
            </a:r>
            <a:r>
              <a:rPr lang="en-US" altLang="ko-KR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56" t="33991" r="49521" b="15003"/>
          <a:stretch/>
        </p:blipFill>
        <p:spPr>
          <a:xfrm>
            <a:off x="838200" y="1608976"/>
            <a:ext cx="1880937" cy="456798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94" t="56534" r="11722" b="17748"/>
          <a:stretch/>
        </p:blipFill>
        <p:spPr>
          <a:xfrm>
            <a:off x="9625264" y="3865896"/>
            <a:ext cx="1848852" cy="2311067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10876603" y="0"/>
            <a:ext cx="1303896" cy="13038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921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맵 이미지 예시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7" t="6378" r="4218" b="6834"/>
          <a:stretch/>
        </p:blipFill>
        <p:spPr>
          <a:xfrm>
            <a:off x="1315397" y="1557337"/>
            <a:ext cx="9561206" cy="5062537"/>
          </a:xfr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E62EE4-D94F-38AE-882E-7825CA05E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235" y="5605678"/>
            <a:ext cx="627836" cy="10141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5C3753-3749-9F58-B23F-2D33581E8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864"/>
          <a:stretch>
            <a:fillRect/>
          </a:stretch>
        </p:blipFill>
        <p:spPr>
          <a:xfrm>
            <a:off x="10549274" y="5605678"/>
            <a:ext cx="327329" cy="1014196"/>
          </a:xfrm>
          <a:prstGeom prst="rect">
            <a:avLst/>
          </a:prstGeom>
        </p:spPr>
      </p:pic>
      <p:pic>
        <p:nvPicPr>
          <p:cNvPr id="5" name="그림 4"/>
          <p:cNvPicPr preferRelativeResize="0">
            <a:picLocks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172" b="69083" l="38522" r="50537">
                        <a14:foregroundMark x1="47729" y1="47189" x2="48183" y2="35429"/>
                        <a14:foregroundMark x1="49009" y1="35281" x2="45252" y2="36243"/>
                        <a14:foregroundMark x1="45665" y1="35133" x2="43600" y2="45784"/>
                        <a14:foregroundMark x1="44055" y1="44083" x2="39182" y2="49852"/>
                        <a14:foregroundMark x1="43889" y1="43861" x2="42031" y2="46080"/>
                        <a14:foregroundMark x1="39430" y1="48891" x2="39595" y2="56953"/>
                        <a14:foregroundMark x1="47316" y1="46746" x2="49959" y2="48077"/>
                        <a14:foregroundMark x1="49546" y1="46967" x2="49505" y2="54808"/>
                        <a14:foregroundMark x1="49670" y1="54216" x2="50289" y2="57914"/>
                        <a14:foregroundMark x1="49917" y1="57618" x2="49959" y2="64275"/>
                        <a14:foregroundMark x1="39719" y1="56805" x2="39637" y2="65680"/>
                        <a14:foregroundMark x1="39389" y1="64793" x2="40999" y2="65976"/>
                        <a14:foregroundMark x1="50206" y1="61760" x2="49959" y2="63240"/>
                        <a14:foregroundMark x1="49794" y1="63462" x2="49216" y2="63979"/>
                        <a14:foregroundMark x1="45417" y1="35281" x2="45169" y2="36908"/>
                        <a14:backgroundMark x1="49381" y1="64497" x2="44922" y2="69009"/>
                        <a14:backgroundMark x1="39802" y1="66124" x2="43518" y2="69822"/>
                        <a14:backgroundMark x1="33196" y1="59911" x2="33196" y2="599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56" t="33992" r="49521" b="30904"/>
          <a:stretch/>
        </p:blipFill>
        <p:spPr>
          <a:xfrm flipH="1">
            <a:off x="9067800" y="3883532"/>
            <a:ext cx="1211140" cy="2022350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10876603" y="0"/>
            <a:ext cx="1303896" cy="13038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13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내 게임의 상호작용 구조물 </a:t>
            </a:r>
            <a:r>
              <a:rPr lang="en-US" altLang="ko-KR"/>
              <a:t>- NPC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[ </a:t>
            </a:r>
            <a:r>
              <a:rPr lang="ko-KR" altLang="en-US"/>
              <a:t>고양이 영역 </a:t>
            </a:r>
            <a:r>
              <a:rPr lang="en-US" altLang="ko-KR"/>
              <a:t>]</a:t>
            </a:r>
          </a:p>
          <a:p>
            <a:r>
              <a:rPr lang="ko-KR" altLang="en-US"/>
              <a:t>예쁜 고양이를 구출하면 고양이 커플이 플레이어를 고양이 영역으로 이끈다</a:t>
            </a:r>
            <a:r>
              <a:rPr lang="en-US" altLang="ko-KR"/>
              <a:t>.</a:t>
            </a:r>
          </a:p>
          <a:p>
            <a:r>
              <a:rPr lang="ko-KR" altLang="en-US"/>
              <a:t>대장 고양이와 예쁜 고양이 커플과 함께 고양이 영역으로 가면 다른 고양이들이 경계를 해제한다</a:t>
            </a:r>
            <a:r>
              <a:rPr lang="en-US" altLang="ko-KR"/>
              <a:t>.</a:t>
            </a:r>
          </a:p>
          <a:p>
            <a:r>
              <a:rPr lang="ko-KR" altLang="en-US"/>
              <a:t>플레이어는 고양이 영역을 지나갈 수 있다</a:t>
            </a:r>
            <a:r>
              <a:rPr lang="en-US" altLang="ko-KR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6E268A"/>
              </a:clrFrom>
              <a:clrTo>
                <a:srgbClr val="6E268A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85" b="89941" l="9992" r="91206">
                        <a14:foregroundMark x1="49463" y1="34689" x2="50743" y2="28772"/>
                        <a14:foregroundMark x1="43476" y1="39867" x2="45334" y2="36538"/>
                        <a14:foregroundMark x1="50330" y1="33210" x2="45128" y2="37278"/>
                        <a14:foregroundMark x1="13832" y1="38388" x2="17465" y2="44527"/>
                        <a14:foregroundMark x1="18084" y1="52441" x2="20768" y2="57470"/>
                        <a14:foregroundMark x1="50537" y1="43195" x2="51775" y2="45784"/>
                        <a14:foregroundMark x1="53922" y1="47115" x2="51858" y2="46006"/>
                        <a14:foregroundMark x1="51363" y1="45414" x2="54872" y2="48003"/>
                        <a14:foregroundMark x1="77168" y1="48003" x2="79356" y2="46006"/>
                        <a14:foregroundMark x1="86994" y1="44527" x2="89678" y2="40607"/>
                        <a14:foregroundMark x1="86251" y1="26701" x2="89265" y2="31361"/>
                        <a14:foregroundMark x1="10859" y1="41938" x2="14162" y2="47485"/>
                        <a14:foregroundMark x1="72832" y1="23373" x2="80182" y2="27071"/>
                        <a14:foregroundMark x1="80801" y1="26553" x2="85012" y2="22263"/>
                        <a14:foregroundMark x1="52684" y1="26183" x2="50206" y2="30251"/>
                        <a14:foregroundMark x1="34600" y1="38979" x2="39141" y2="42086"/>
                        <a14:foregroundMark x1="38852" y1="41716" x2="40504" y2="44675"/>
                        <a14:foregroundMark x1="33567" y1="49852" x2="37490" y2="56879"/>
                        <a14:backgroundMark x1="54748" y1="49704" x2="67671" y2="5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45" y="4555769"/>
            <a:ext cx="3302647" cy="1843338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10876603" y="0"/>
            <a:ext cx="1303896" cy="13038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74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1C7E8-A1A4-4C91-6801-B7269ED2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맵 이미지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45A3E-E7C6-F0BE-CFEC-AB2CFE37A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고양이들이 경계              </a:t>
            </a:r>
            <a:r>
              <a:rPr lang="en-US" altLang="ko-KR" dirty="0"/>
              <a:t>-&gt;               </a:t>
            </a:r>
            <a:r>
              <a:rPr lang="ko-KR" altLang="en-US" dirty="0"/>
              <a:t>고양이들의 경계 해제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6596C9-6E1F-362E-907C-920520D95C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71" y="2655777"/>
            <a:ext cx="5307106" cy="29621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0A0D8A7-7612-05A8-8BBE-E48FEB4A36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4346" y1="19792" x2="32522" y2="72591"/>
                        <a14:backgroundMark x1="32522" y1="72591" x2="46330" y2="88411"/>
                        <a14:backgroundMark x1="46330" y1="88411" x2="62173" y2="77930"/>
                        <a14:backgroundMark x1="62173" y1="77930" x2="67624" y2="47982"/>
                        <a14:backgroundMark x1="67624" y1="47982" x2="61337" y2="22982"/>
                        <a14:backgroundMark x1="61337" y1="22982" x2="46076" y2="17708"/>
                        <a14:backgroundMark x1="46076" y1="17708" x2="27289" y2="215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716" t="20513" r="37794" b="26879"/>
          <a:stretch>
            <a:fillRect/>
          </a:stretch>
        </p:blipFill>
        <p:spPr>
          <a:xfrm rot="21016328">
            <a:off x="2887210" y="3145187"/>
            <a:ext cx="463918" cy="5343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0B6C64E-64A3-F462-3787-CE91FA3F2E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825" y="2655776"/>
            <a:ext cx="5307105" cy="29621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4973102-742B-A41E-3E5C-F1FFE623C2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6E268A"/>
              </a:clrFrom>
              <a:clrTo>
                <a:srgbClr val="6E268A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5" b="89941" l="9992" r="91206">
                        <a14:foregroundMark x1="49463" y1="34689" x2="50743" y2="28772"/>
                        <a14:foregroundMark x1="43476" y1="39867" x2="45334" y2="36538"/>
                        <a14:foregroundMark x1="50330" y1="33210" x2="45128" y2="37278"/>
                        <a14:foregroundMark x1="13832" y1="38388" x2="17465" y2="44527"/>
                        <a14:foregroundMark x1="18084" y1="52441" x2="20768" y2="57470"/>
                        <a14:foregroundMark x1="50537" y1="43195" x2="51775" y2="45784"/>
                        <a14:foregroundMark x1="53922" y1="47115" x2="51858" y2="46006"/>
                        <a14:foregroundMark x1="51363" y1="45414" x2="54872" y2="48003"/>
                        <a14:foregroundMark x1="77168" y1="48003" x2="79356" y2="46006"/>
                        <a14:foregroundMark x1="86994" y1="44527" x2="89678" y2="40607"/>
                        <a14:foregroundMark x1="86251" y1="26701" x2="89265" y2="31361"/>
                        <a14:foregroundMark x1="10859" y1="41938" x2="14162" y2="47485"/>
                        <a14:foregroundMark x1="72832" y1="23373" x2="80182" y2="27071"/>
                        <a14:foregroundMark x1="80801" y1="26553" x2="85012" y2="22263"/>
                        <a14:foregroundMark x1="52684" y1="26183" x2="50206" y2="30251"/>
                        <a14:foregroundMark x1="34600" y1="38979" x2="39141" y2="42086"/>
                        <a14:foregroundMark x1="38852" y1="41716" x2="40504" y2="44675"/>
                        <a14:foregroundMark x1="33567" y1="49852" x2="37490" y2="56879"/>
                        <a14:backgroundMark x1="54748" y1="49704" x2="67671" y2="50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702250" y="3459044"/>
            <a:ext cx="753935" cy="420800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>
          <a:xfrm>
            <a:off x="10876603" y="0"/>
            <a:ext cx="1303896" cy="13038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25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상호작용 구조물 </a:t>
            </a:r>
            <a:r>
              <a:rPr lang="en-US" altLang="ko-KR" smtClean="0"/>
              <a:t>- </a:t>
            </a:r>
            <a:r>
              <a:rPr lang="ko-KR" altLang="en-US" smtClean="0"/>
              <a:t>오브젝트</a:t>
            </a:r>
            <a:endParaRPr lang="ko-KR" altLang="en-US"/>
          </a:p>
        </p:txBody>
      </p:sp>
      <p:sp>
        <p:nvSpPr>
          <p:cNvPr id="4" name="포인트가 5개인 별 3"/>
          <p:cNvSpPr/>
          <p:nvPr/>
        </p:nvSpPr>
        <p:spPr>
          <a:xfrm>
            <a:off x="10751386" y="0"/>
            <a:ext cx="1440614" cy="144061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 </a:t>
            </a:r>
            <a:r>
              <a:rPr lang="ko-KR" altLang="en-US" smtClean="0"/>
              <a:t>비눗방울 기계</a:t>
            </a:r>
            <a:r>
              <a:rPr lang="en-US" altLang="ko-KR" smtClean="0"/>
              <a:t> ]</a:t>
            </a:r>
          </a:p>
          <a:p>
            <a:pPr algn="r"/>
            <a:r>
              <a:rPr lang="ko-KR" altLang="en-US" smtClean="0"/>
              <a:t>균열의 영향을 받아서 터지지 않는 비눗방울을 계속 생성한다</a:t>
            </a:r>
            <a:r>
              <a:rPr lang="en-US" altLang="ko-KR" smtClean="0"/>
              <a:t>.</a:t>
            </a:r>
          </a:p>
          <a:p>
            <a:pPr algn="r"/>
            <a:endParaRPr lang="en-US" altLang="ko-KR"/>
          </a:p>
          <a:p>
            <a:pPr algn="r"/>
            <a:r>
              <a:rPr lang="ko-KR" altLang="en-US" smtClean="0"/>
              <a:t>공중에 떠있는 사람들을 구하러 가는 길로 사용한다</a:t>
            </a:r>
            <a:r>
              <a:rPr lang="en-US" altLang="ko-KR" smtClean="0"/>
              <a:t>.</a:t>
            </a:r>
          </a:p>
          <a:p>
            <a:pPr algn="r"/>
            <a:endParaRPr lang="en-US" altLang="ko-KR"/>
          </a:p>
          <a:p>
            <a:pPr algn="r"/>
            <a:r>
              <a:rPr lang="ko-KR" altLang="en-US" smtClean="0"/>
              <a:t>레버가 빠져있어서 레버를 찾아서 끼워야 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7758" y1="48242" x2="37030" y2="50242"/>
                        <a14:foregroundMark x1="43758" y1="48788" x2="44788" y2="51879"/>
                        <a14:foregroundMark x1="45091" y1="52424" x2="45212" y2="57576"/>
                        <a14:foregroundMark x1="35333" y1="53879" x2="35455" y2="57697"/>
                        <a14:foregroundMark x1="36121" y1="51697" x2="34424" y2="52242"/>
                        <a14:foregroundMark x1="35758" y1="59212" x2="34121" y2="60545"/>
                        <a14:foregroundMark x1="34364" y1="60545" x2="34424" y2="62000"/>
                        <a14:foregroundMark x1="34424" y1="62000" x2="35576" y2="63879"/>
                        <a14:foregroundMark x1="32909" y1="64000" x2="32364" y2="66545"/>
                        <a14:foregroundMark x1="32545" y1="69030" x2="31333" y2="70909"/>
                        <a14:foregroundMark x1="31333" y1="71758" x2="32000" y2="73455"/>
                        <a14:foregroundMark x1="32364" y1="76909" x2="32909" y2="79333"/>
                        <a14:foregroundMark x1="34242" y1="80788" x2="35697" y2="82242"/>
                        <a14:foregroundMark x1="36000" y1="82788" x2="39576" y2="83030"/>
                        <a14:foregroundMark x1="43333" y1="83212" x2="44424" y2="81212"/>
                        <a14:foregroundMark x1="47030" y1="81455" x2="47758" y2="79697"/>
                        <a14:foregroundMark x1="47212" y1="78545" x2="49212" y2="75879"/>
                        <a14:foregroundMark x1="53879" y1="73212" x2="57697" y2="70667"/>
                        <a14:foregroundMark x1="50909" y1="54000" x2="54909" y2="56545"/>
                        <a14:foregroundMark x1="54909" y1="61697" x2="54909" y2="66424"/>
                        <a14:foregroundMark x1="46909" y1="60000" x2="47333" y2="63030"/>
                        <a14:foregroundMark x1="47758" y1="64000" x2="52424" y2="67576"/>
                        <a14:foregroundMark x1="52788" y1="67879" x2="54424" y2="67697"/>
                        <a14:foregroundMark x1="53333" y1="51030" x2="58121" y2="55091"/>
                        <a14:foregroundMark x1="68121" y1="15697" x2="71212" y2="13212"/>
                        <a14:foregroundMark x1="72909" y1="14364" x2="77212" y2="16000"/>
                        <a14:foregroundMark x1="78364" y1="13212" x2="80788" y2="15758"/>
                        <a14:foregroundMark x1="67455" y1="12242" x2="67455" y2="12242"/>
                        <a14:foregroundMark x1="61212" y1="30242" x2="62424" y2="31212"/>
                        <a14:foregroundMark x1="65333" y1="33091" x2="69576" y2="36364"/>
                        <a14:foregroundMark x1="38121" y1="47697" x2="40788" y2="47879"/>
                        <a14:foregroundMark x1="50364" y1="24424" x2="52364" y2="227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073" t="10001" r="17964" b="14814"/>
          <a:stretch/>
        </p:blipFill>
        <p:spPr>
          <a:xfrm>
            <a:off x="4711701" y="5149051"/>
            <a:ext cx="819150" cy="116284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10000" r="90000">
                        <a14:foregroundMark x1="16667" y1="89818" x2="22242" y2="93697"/>
                        <a14:foregroundMark x1="71697" y1="90727" x2="76667" y2="93879"/>
                        <a14:foregroundMark x1="75939" y1="80000" x2="76667" y2="86485"/>
                        <a14:foregroundMark x1="72424" y1="92788" x2="75576" y2="94606"/>
                        <a14:foregroundMark x1="76485" y1="94788" x2="80182" y2="92061"/>
                        <a14:foregroundMark x1="76485" y1="85939" x2="80364" y2="87394"/>
                        <a14:foregroundMark x1="80545" y1="88121" x2="80364" y2="91697"/>
                        <a14:foregroundMark x1="28727" y1="21091" x2="27758" y2="25939"/>
                        <a14:foregroundMark x1="28909" y1="18909" x2="28909" y2="18909"/>
                        <a14:foregroundMark x1="27212" y1="26121" x2="27758" y2="32606"/>
                        <a14:foregroundMark x1="19818" y1="39636" x2="20545" y2="42061"/>
                        <a14:foregroundMark x1="21091" y1="44424" x2="20182" y2="45758"/>
                        <a14:foregroundMark x1="30000" y1="23697" x2="29273" y2="25030"/>
                        <a14:foregroundMark x1="15576" y1="90545" x2="17212" y2="93333"/>
                        <a14:foregroundMark x1="25030" y1="91879" x2="22061" y2="92788"/>
                        <a14:backgroundMark x1="35030" y1="97576" x2="60182" y2="94424"/>
                        <a14:backgroundMark x1="75758" y1="91273" x2="76667" y2="88545"/>
                        <a14:backgroundMark x1="77394" y1="91091" x2="78545" y2="89273"/>
                        <a14:backgroundMark x1="75212" y1="87939" x2="75212" y2="89818"/>
                        <a14:backgroundMark x1="32424" y1="23515" x2="32424" y2="26121"/>
                        <a14:backgroundMark x1="63879" y1="28727" x2="65758" y2="33515"/>
                        <a14:backgroundMark x1="65030" y1="34061" x2="64788" y2="36303"/>
                        <a14:backgroundMark x1="65030" y1="36121" x2="64424" y2="37758"/>
                        <a14:backgroundMark x1="25212" y1="91879" x2="25212" y2="93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7592"/>
          <a:stretch/>
        </p:blipFill>
        <p:spPr>
          <a:xfrm>
            <a:off x="114300" y="3755957"/>
            <a:ext cx="3556000" cy="310204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4470401" y="5016500"/>
            <a:ext cx="1333500" cy="143510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꺾인 연결선 11"/>
          <p:cNvCxnSpPr>
            <a:stCxn id="10" idx="1"/>
            <a:endCxn id="15" idx="3"/>
          </p:cNvCxnSpPr>
          <p:nvPr/>
        </p:nvCxnSpPr>
        <p:spPr>
          <a:xfrm rot="10800000" flipV="1">
            <a:off x="3492501" y="5734050"/>
            <a:ext cx="977901" cy="412750"/>
          </a:xfrm>
          <a:prstGeom prst="bentConnector3">
            <a:avLst>
              <a:gd name="adj1" fmla="val 50000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rcRect l="4520" t="68478" r="13132" b="18478"/>
          <a:stretch/>
        </p:blipFill>
        <p:spPr>
          <a:xfrm>
            <a:off x="2971801" y="6070600"/>
            <a:ext cx="520699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27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604" y="1690688"/>
            <a:ext cx="8822792" cy="492434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맵 이미지 예시</a:t>
            </a:r>
          </a:p>
        </p:txBody>
      </p:sp>
      <p:sp>
        <p:nvSpPr>
          <p:cNvPr id="9" name="포인트가 5개인 별 8"/>
          <p:cNvSpPr/>
          <p:nvPr/>
        </p:nvSpPr>
        <p:spPr>
          <a:xfrm>
            <a:off x="10751386" y="0"/>
            <a:ext cx="1440614" cy="144061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0000" r="90000">
                        <a14:foregroundMark x1="16667" y1="89818" x2="22242" y2="93697"/>
                        <a14:foregroundMark x1="71697" y1="90727" x2="76667" y2="93879"/>
                        <a14:foregroundMark x1="75939" y1="80000" x2="76667" y2="86485"/>
                        <a14:foregroundMark x1="72424" y1="92788" x2="75576" y2="94606"/>
                        <a14:foregroundMark x1="76485" y1="94788" x2="80182" y2="92061"/>
                        <a14:foregroundMark x1="76485" y1="85939" x2="80364" y2="87394"/>
                        <a14:foregroundMark x1="80545" y1="88121" x2="80364" y2="91697"/>
                        <a14:foregroundMark x1="28727" y1="21091" x2="27758" y2="25939"/>
                        <a14:foregroundMark x1="28909" y1="18909" x2="28909" y2="18909"/>
                        <a14:foregroundMark x1="27212" y1="26121" x2="27758" y2="32606"/>
                        <a14:foregroundMark x1="19818" y1="39636" x2="20545" y2="42061"/>
                        <a14:foregroundMark x1="21091" y1="44424" x2="20182" y2="45758"/>
                        <a14:foregroundMark x1="30000" y1="23697" x2="29273" y2="25030"/>
                        <a14:foregroundMark x1="15576" y1="90545" x2="17212" y2="93333"/>
                        <a14:foregroundMark x1="25030" y1="91879" x2="22061" y2="92788"/>
                        <a14:backgroundMark x1="35030" y1="97576" x2="60182" y2="94424"/>
                        <a14:backgroundMark x1="75758" y1="91273" x2="76667" y2="88545"/>
                        <a14:backgroundMark x1="77394" y1="91091" x2="78545" y2="89273"/>
                        <a14:backgroundMark x1="75212" y1="87939" x2="75212" y2="89818"/>
                        <a14:backgroundMark x1="32424" y1="23515" x2="32424" y2="26121"/>
                        <a14:backgroundMark x1="63879" y1="28727" x2="65758" y2="33515"/>
                        <a14:backgroundMark x1="65030" y1="34061" x2="64788" y2="36303"/>
                        <a14:backgroundMark x1="65030" y1="36121" x2="64424" y2="37758"/>
                        <a14:backgroundMark x1="25212" y1="91879" x2="25212" y2="93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78" r="17592"/>
          <a:stretch/>
        </p:blipFill>
        <p:spPr>
          <a:xfrm>
            <a:off x="4953000" y="5042981"/>
            <a:ext cx="1003300" cy="87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15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게임의 상호작용 구조물 </a:t>
            </a:r>
            <a:r>
              <a:rPr lang="en-US" altLang="ko-KR" smtClean="0"/>
              <a:t>- </a:t>
            </a:r>
            <a:r>
              <a:rPr lang="ko-KR" altLang="en-US" smtClean="0"/>
              <a:t>오브젝트</a:t>
            </a:r>
            <a:endParaRPr lang="ko-KR" altLang="en-US"/>
          </a:p>
        </p:txBody>
      </p:sp>
      <p:sp>
        <p:nvSpPr>
          <p:cNvPr id="4" name="포인트가 5개인 별 3"/>
          <p:cNvSpPr/>
          <p:nvPr/>
        </p:nvSpPr>
        <p:spPr>
          <a:xfrm>
            <a:off x="10751386" y="0"/>
            <a:ext cx="1440614" cy="144061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 </a:t>
            </a:r>
            <a:r>
              <a:rPr lang="ko-KR" altLang="en-US" smtClean="0"/>
              <a:t>끈과 막대기 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다른 건물로 넘어갈 때 사용한다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NPC</a:t>
            </a:r>
            <a:r>
              <a:rPr lang="ko-KR" altLang="en-US" smtClean="0"/>
              <a:t>들과 협력해서 끈을 전달받고 고정하여 사용한다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391" b="80729" l="21948" r="79360">
                        <a14:foregroundMark x1="51453" y1="71094" x2="75145" y2="46615"/>
                        <a14:foregroundMark x1="69549" y1="68359" x2="75436" y2="73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619" t="26427" r="20816" b="21348"/>
          <a:stretch/>
        </p:blipFill>
        <p:spPr>
          <a:xfrm>
            <a:off x="5994399" y="3483429"/>
            <a:ext cx="5689600" cy="293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6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맵 이미지 예시</a:t>
            </a:r>
          </a:p>
        </p:txBody>
      </p:sp>
      <p:sp>
        <p:nvSpPr>
          <p:cNvPr id="9" name="포인트가 5개인 별 8"/>
          <p:cNvSpPr/>
          <p:nvPr/>
        </p:nvSpPr>
        <p:spPr>
          <a:xfrm>
            <a:off x="10751386" y="0"/>
            <a:ext cx="1440614" cy="1440614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86" y="1547797"/>
            <a:ext cx="8969828" cy="500641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391" b="80729" l="21948" r="79360">
                        <a14:foregroundMark x1="51453" y1="71094" x2="75145" y2="46615"/>
                        <a14:foregroundMark x1="69549" y1="68359" x2="75436" y2="73698"/>
                        <a14:backgroundMark x1="46730" y1="70182" x2="55669" y2="36458"/>
                        <a14:backgroundMark x1="69840" y1="76823" x2="84956" y2="67839"/>
                        <a14:backgroundMark x1="46148" y1="61068" x2="53052" y2="31641"/>
                        <a14:backgroundMark x1="45131" y1="70182" x2="50436" y2="30078"/>
                        <a14:backgroundMark x1="66206" y1="66016" x2="81177" y2="76042"/>
                        <a14:backgroundMark x1="66061" y1="68620" x2="77326" y2="79688"/>
                        <a14:backgroundMark x1="69404" y1="70182" x2="74564" y2="73438"/>
                        <a14:backgroundMark x1="70785" y1="66016" x2="73401" y2="72135"/>
                        <a14:backgroundMark x1="75436" y1="68880" x2="73110" y2="71875"/>
                        <a14:backgroundMark x1="70640" y1="65234" x2="71366" y2="73438"/>
                        <a14:backgroundMark x1="76890" y1="69401" x2="73256" y2="755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727" t="41682" r="19806" b="21606"/>
          <a:stretch/>
        </p:blipFill>
        <p:spPr>
          <a:xfrm rot="18338780">
            <a:off x="6133822" y="3983838"/>
            <a:ext cx="357739" cy="22577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rcRect l="1" t="25098" r="9440" b="33886"/>
          <a:stretch/>
        </p:blipFill>
        <p:spPr>
          <a:xfrm>
            <a:off x="6231605" y="4124657"/>
            <a:ext cx="99346" cy="5999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rcRect l="34810" t="32683" r="11575" b="34314"/>
          <a:stretch/>
        </p:blipFill>
        <p:spPr>
          <a:xfrm>
            <a:off x="6286456" y="4002731"/>
            <a:ext cx="58817" cy="4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개발할 때 절대 잊지 말아야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3242" y="1825625"/>
            <a:ext cx="11245516" cy="4351338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mtClean="0"/>
              <a:t>공식을 암기하듯이 외우지 말자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공식의 근본을 이해하고 적용하는 경험을 하자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Level</a:t>
            </a:r>
            <a:r>
              <a:rPr lang="ko-KR" altLang="en-US" smtClean="0"/>
              <a:t>의 근본 </a:t>
            </a:r>
            <a:r>
              <a:rPr lang="en-US" altLang="ko-KR" smtClean="0"/>
              <a:t>: </a:t>
            </a:r>
            <a:r>
              <a:rPr lang="ko-KR" altLang="en-US" smtClean="0"/>
              <a:t>게임 화면에서의 흐름 </a:t>
            </a:r>
            <a:r>
              <a:rPr lang="en-US" altLang="ko-KR" smtClean="0"/>
              <a:t>=&gt; </a:t>
            </a:r>
            <a:r>
              <a:rPr lang="ko-KR" altLang="en-US" smtClean="0"/>
              <a:t>상황의 기차칸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이야기 </a:t>
            </a:r>
            <a:r>
              <a:rPr lang="en-US" altLang="ko-KR" smtClean="0"/>
              <a:t>: </a:t>
            </a:r>
            <a:r>
              <a:rPr lang="ko-KR" altLang="en-US" smtClean="0"/>
              <a:t>발단</a:t>
            </a:r>
            <a:r>
              <a:rPr lang="en-US" altLang="ko-KR" smtClean="0"/>
              <a:t>(</a:t>
            </a:r>
            <a:r>
              <a:rPr lang="ko-KR" altLang="en-US" smtClean="0"/>
              <a:t>제시</a:t>
            </a:r>
            <a:r>
              <a:rPr lang="en-US" altLang="ko-KR" smtClean="0"/>
              <a:t>)-</a:t>
            </a:r>
            <a:r>
              <a:rPr lang="ko-KR" altLang="en-US" smtClean="0"/>
              <a:t>전개</a:t>
            </a:r>
            <a:r>
              <a:rPr lang="en-US" altLang="ko-KR" smtClean="0"/>
              <a:t>(</a:t>
            </a:r>
            <a:r>
              <a:rPr lang="ko-KR" altLang="en-US" smtClean="0"/>
              <a:t>인지</a:t>
            </a:r>
            <a:r>
              <a:rPr lang="en-US" altLang="ko-KR" smtClean="0"/>
              <a:t>)-</a:t>
            </a:r>
            <a:r>
              <a:rPr lang="ko-KR" altLang="en-US" smtClean="0"/>
              <a:t>위기</a:t>
            </a:r>
            <a:r>
              <a:rPr lang="en-US" altLang="ko-KR" smtClean="0"/>
              <a:t>(</a:t>
            </a:r>
            <a:r>
              <a:rPr lang="ko-KR" altLang="en-US" smtClean="0"/>
              <a:t>고조</a:t>
            </a:r>
            <a:r>
              <a:rPr lang="en-US" altLang="ko-KR" smtClean="0"/>
              <a:t>)-</a:t>
            </a:r>
            <a:r>
              <a:rPr lang="ko-KR" altLang="en-US" smtClean="0"/>
              <a:t>절정</a:t>
            </a:r>
            <a:r>
              <a:rPr lang="en-US" altLang="ko-KR" smtClean="0"/>
              <a:t>(</a:t>
            </a:r>
            <a:r>
              <a:rPr lang="ko-KR" altLang="en-US" smtClean="0"/>
              <a:t>최고조</a:t>
            </a:r>
            <a:r>
              <a:rPr lang="en-US" altLang="ko-KR" smtClean="0"/>
              <a:t>)-</a:t>
            </a:r>
            <a:r>
              <a:rPr lang="ko-KR" altLang="en-US" smtClean="0"/>
              <a:t>결말</a:t>
            </a:r>
            <a:r>
              <a:rPr lang="en-US" altLang="ko-KR" smtClean="0"/>
              <a:t>(</a:t>
            </a:r>
            <a:r>
              <a:rPr lang="ko-KR" altLang="en-US" smtClean="0"/>
              <a:t>해소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학습 </a:t>
            </a:r>
            <a:r>
              <a:rPr lang="en-US" altLang="ko-KR" smtClean="0"/>
              <a:t>: </a:t>
            </a:r>
            <a:r>
              <a:rPr lang="ko-KR" altLang="en-US" smtClean="0"/>
              <a:t>조작 숙련도</a:t>
            </a:r>
            <a:r>
              <a:rPr lang="en-US" altLang="ko-KR" smtClean="0"/>
              <a:t>, </a:t>
            </a:r>
            <a:r>
              <a:rPr lang="ko-KR" altLang="en-US" smtClean="0"/>
              <a:t>콘텐츠 이해도 </a:t>
            </a:r>
            <a:r>
              <a:rPr lang="en-US" altLang="ko-KR" smtClean="0"/>
              <a:t>/ </a:t>
            </a:r>
            <a:r>
              <a:rPr lang="ko-KR" altLang="en-US" smtClean="0"/>
              <a:t>적절한 시련과 고난 </a:t>
            </a:r>
            <a:r>
              <a:rPr lang="en-US" altLang="ko-KR" smtClean="0"/>
              <a:t>– </a:t>
            </a:r>
            <a:r>
              <a:rPr lang="ko-KR" altLang="en-US" smtClean="0"/>
              <a:t>난이도의 곡선과 이어진다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난이도 </a:t>
            </a:r>
            <a:r>
              <a:rPr lang="en-US" altLang="ko-KR" smtClean="0"/>
              <a:t>: </a:t>
            </a:r>
            <a:r>
              <a:rPr lang="ko-KR" altLang="en-US" smtClean="0"/>
              <a:t>문제 유형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이야기</a:t>
            </a:r>
            <a:r>
              <a:rPr lang="en-US" altLang="ko-KR" smtClean="0"/>
              <a:t>/</a:t>
            </a:r>
            <a:r>
              <a:rPr lang="ko-KR" altLang="en-US" smtClean="0"/>
              <a:t>학습</a:t>
            </a:r>
            <a:r>
              <a:rPr lang="en-US" altLang="ko-KR" smtClean="0"/>
              <a:t>/</a:t>
            </a:r>
            <a:r>
              <a:rPr lang="ko-KR" altLang="en-US" smtClean="0"/>
              <a:t>난이도의 흐름을 근거로 재미가 있다는 것을 설명해보자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68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042" y="277988"/>
            <a:ext cx="9111916" cy="630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45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814022"/>
            <a:ext cx="7544853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95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포트폴리오 </a:t>
            </a:r>
            <a:r>
              <a:rPr lang="en-US" altLang="ko-KR" smtClean="0"/>
              <a:t>3</a:t>
            </a:r>
            <a:r>
              <a:rPr lang="ko-KR" altLang="en-US" smtClean="0"/>
              <a:t>장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엑셀</a:t>
            </a:r>
            <a:endParaRPr lang="en-US" altLang="ko-KR" smtClean="0"/>
          </a:p>
          <a:p>
            <a:r>
              <a:rPr lang="ko-KR" altLang="en-US" smtClean="0"/>
              <a:t>스케치업</a:t>
            </a:r>
            <a:endParaRPr lang="en-US" altLang="ko-KR" smtClean="0"/>
          </a:p>
          <a:p>
            <a:r>
              <a:rPr lang="ko-KR" altLang="en-US" smtClean="0"/>
              <a:t>워드 </a:t>
            </a:r>
            <a:r>
              <a:rPr lang="en-US" altLang="ko-KR" smtClean="0"/>
              <a:t>/ </a:t>
            </a:r>
            <a:r>
              <a:rPr lang="en-US" altLang="ko-KR" smtClean="0"/>
              <a:t>ppt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ko-KR" altLang="en-US" smtClean="0"/>
              <a:t>스케치업을 </a:t>
            </a:r>
            <a:r>
              <a:rPr lang="en-US" altLang="ko-KR" smtClean="0"/>
              <a:t>Unity</a:t>
            </a:r>
            <a:r>
              <a:rPr lang="ko-KR" altLang="en-US" smtClean="0"/>
              <a:t>로 적용하기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96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303</Words>
  <Application>Microsoft Office PowerPoint</Application>
  <PresentationFormat>와이드스크린</PresentationFormat>
  <Paragraphs>53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상호작용 구조물의 조건</vt:lpstr>
      <vt:lpstr>상호작용 구조물 시각화</vt:lpstr>
      <vt:lpstr>내 게임의 상호작용 구조물 - 오브젝트</vt:lpstr>
      <vt:lpstr>맵 이미지 예시</vt:lpstr>
      <vt:lpstr>내 게임의 상호작용 구조물 - NPC</vt:lpstr>
      <vt:lpstr>맵 이미지 예시</vt:lpstr>
      <vt:lpstr>내 게임의 상호작용 구조물 - 오브젝트</vt:lpstr>
      <vt:lpstr>맵 이미지 예시</vt:lpstr>
      <vt:lpstr>내 게임의 상호작용 구조물 - 오브젝트</vt:lpstr>
      <vt:lpstr>맵 이미지 예시</vt:lpstr>
      <vt:lpstr>개발할 때 절대 잊지 말아야 할 것</vt:lpstr>
      <vt:lpstr>PowerPoint 프레젠테이션</vt:lpstr>
      <vt:lpstr>PowerPoint 프레젠테이션</vt:lpstr>
      <vt:lpstr>포트폴리오 3장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상호작용 구조물의 조건</dc:title>
  <dc:creator>FullName</dc:creator>
  <cp:lastModifiedBy>FullName</cp:lastModifiedBy>
  <cp:revision>9</cp:revision>
  <dcterms:created xsi:type="dcterms:W3CDTF">2026-06-10T05:00:26Z</dcterms:created>
  <dcterms:modified xsi:type="dcterms:W3CDTF">2026-06-10T06:54:28Z</dcterms:modified>
</cp:coreProperties>
</file>