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60" r:id="rId6"/>
    <p:sldId id="261" r:id="rId7"/>
    <p:sldId id="262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2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034" autoAdjust="0"/>
  </p:normalViewPr>
  <p:slideViewPr>
    <p:cSldViewPr snapToGrid="0" snapToObjects="1">
      <p:cViewPr varScale="1">
        <p:scale>
          <a:sx n="73" d="100"/>
          <a:sy n="73" d="100"/>
        </p:scale>
        <p:origin x="702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27889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DC00"/>
                </a:solidFill>
              </a:defRPr>
            </a:pPr>
            <a:r>
              <a:rPr lang="ko-KR" altLang="en-US" sz="3000" dirty="0"/>
              <a:t>전체 맵</a:t>
            </a:r>
            <a:endParaRPr sz="3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39C880F-854E-0534-8603-EAD0623B4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226236"/>
              </p:ext>
            </p:extLst>
          </p:nvPr>
        </p:nvGraphicFramePr>
        <p:xfrm>
          <a:off x="413657" y="4889501"/>
          <a:ext cx="6431280" cy="150476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389017">
                  <a:extLst>
                    <a:ext uri="{9D8B030D-6E8A-4147-A177-3AD203B41FA5}">
                      <a16:colId xmlns:a16="http://schemas.microsoft.com/office/drawing/2014/main" val="3122571230"/>
                    </a:ext>
                  </a:extLst>
                </a:gridCol>
                <a:gridCol w="5042263">
                  <a:extLst>
                    <a:ext uri="{9D8B030D-6E8A-4147-A177-3AD203B41FA5}">
                      <a16:colId xmlns:a16="http://schemas.microsoft.com/office/drawing/2014/main" val="3024861052"/>
                    </a:ext>
                  </a:extLst>
                </a:gridCol>
              </a:tblGrid>
              <a:tr h="399791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작성자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윤수진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73000233"/>
                  </a:ext>
                </a:extLst>
              </a:tr>
              <a:tr h="405343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지원 분야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레벨 디자인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52769267"/>
                  </a:ext>
                </a:extLst>
              </a:tr>
              <a:tr h="699634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목표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플레이어가 변이한 옛 친구의 기억을 추적하며 진실에 도달하는 스테이지 설계</a:t>
                      </a:r>
                      <a:endParaRPr lang="ko-KR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76100507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3F633FEB-E490-6CC7-4605-7D5BB156E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148" y="960120"/>
            <a:ext cx="5413195" cy="47334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DC00"/>
                </a:solidFill>
              </a:defRPr>
            </a:pPr>
            <a:r>
              <a:t>시나리오 컨셉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20784"/>
            <a:ext cx="7205819" cy="10934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E6E6E6"/>
                </a:solidFill>
              </a:defRPr>
            </a:pPr>
            <a:r>
              <a:rPr sz="1500" dirty="0" err="1">
                <a:solidFill>
                  <a:schemeClr val="bg1"/>
                </a:solidFill>
              </a:rPr>
              <a:t>축제가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끝난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공원에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정체불명의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균열이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발생</a:t>
            </a:r>
            <a:r>
              <a:rPr lang="ko-KR" altLang="en-US" sz="1500" dirty="0">
                <a:solidFill>
                  <a:schemeClr val="bg1"/>
                </a:solidFill>
              </a:rPr>
              <a:t>했다</a:t>
            </a:r>
            <a:r>
              <a:rPr lang="en-US" altLang="ko-KR" sz="1500" dirty="0">
                <a:solidFill>
                  <a:schemeClr val="bg1"/>
                </a:solidFill>
              </a:rPr>
              <a:t>.</a:t>
            </a:r>
            <a:endParaRPr lang="ko-KR" altLang="en-US" sz="15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chemeClr val="bg1"/>
                </a:solidFill>
              </a:rPr>
              <a:t>주인공은 선의 관리청의 지시에 따라 폐교를 탐색한다</a:t>
            </a:r>
            <a:r>
              <a:rPr lang="en-US" altLang="ko-KR" sz="1500" dirty="0">
                <a:solidFill>
                  <a:schemeClr val="bg1"/>
                </a:solidFill>
              </a:rPr>
              <a:t>.</a:t>
            </a:r>
            <a:endParaRPr lang="ko-KR" altLang="en-US" sz="15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500" dirty="0">
                <a:solidFill>
                  <a:schemeClr val="bg1"/>
                </a:solidFill>
              </a:rPr>
              <a:t>각 </a:t>
            </a:r>
            <a:r>
              <a:rPr lang="ko-KR" altLang="en-US" sz="1500" dirty="0">
                <a:solidFill>
                  <a:schemeClr val="bg1"/>
                </a:solidFill>
              </a:rPr>
              <a:t>구역</a:t>
            </a:r>
            <a:r>
              <a:rPr sz="1500" dirty="0" err="1">
                <a:solidFill>
                  <a:schemeClr val="bg1"/>
                </a:solidFill>
              </a:rPr>
              <a:t>에서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lang="ko-KR" altLang="en-US" sz="1500" dirty="0">
                <a:solidFill>
                  <a:schemeClr val="bg1"/>
                </a:solidFill>
              </a:rPr>
              <a:t>보스</a:t>
            </a:r>
            <a:r>
              <a:rPr sz="1500" dirty="0">
                <a:solidFill>
                  <a:schemeClr val="bg1"/>
                </a:solidFill>
              </a:rPr>
              <a:t>의 </a:t>
            </a:r>
            <a:r>
              <a:rPr sz="1500" dirty="0" err="1">
                <a:solidFill>
                  <a:schemeClr val="bg1"/>
                </a:solidFill>
              </a:rPr>
              <a:t>과거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기억을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수집하고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최종적으로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변이한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친구와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마주하게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lang="ko-KR" altLang="en-US" sz="1500" dirty="0">
                <a:solidFill>
                  <a:schemeClr val="bg1"/>
                </a:solidFill>
              </a:rPr>
              <a:t>된다</a:t>
            </a:r>
            <a:r>
              <a:rPr sz="15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96452D3-A8F5-27FE-A315-7ECE3D703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308" y="3742507"/>
            <a:ext cx="4902686" cy="26648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C0A7216-F65D-ED1F-B86F-B82DDDA70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93" y="2410096"/>
            <a:ext cx="4737463" cy="26648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2625AA-6955-2F69-D68C-13C489E19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FD037C-3CC6-89DE-B1B8-E4A717C3C22C}"/>
              </a:ext>
            </a:extLst>
          </p:cNvPr>
          <p:cNvSpPr txBox="1"/>
          <p:nvPr/>
        </p:nvSpPr>
        <p:spPr>
          <a:xfrm>
            <a:off x="365760" y="274320"/>
            <a:ext cx="30508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DC00"/>
                </a:solidFill>
              </a:defRPr>
            </a:pPr>
            <a:r>
              <a:rPr lang="ko-KR" altLang="en-US" sz="3000" dirty="0"/>
              <a:t>배경 그래픽</a:t>
            </a:r>
            <a:r>
              <a:rPr sz="3000" dirty="0"/>
              <a:t> </a:t>
            </a:r>
            <a:r>
              <a:rPr sz="3000" dirty="0" err="1"/>
              <a:t>컨셉</a:t>
            </a:r>
            <a:endParaRPr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7E75C-C43C-9719-7D45-DBAC06B10D47}"/>
              </a:ext>
            </a:extLst>
          </p:cNvPr>
          <p:cNvSpPr txBox="1"/>
          <p:nvPr/>
        </p:nvSpPr>
        <p:spPr>
          <a:xfrm>
            <a:off x="365760" y="1018182"/>
            <a:ext cx="6577149" cy="17859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E6E6E6"/>
                </a:solidFill>
              </a:defRPr>
            </a:pPr>
            <a:r>
              <a:rPr lang="ko-KR" altLang="ko-KR" sz="1500" dirty="0"/>
              <a:t>현대 도시와 중학교를 기반으로 한 현실적 공간 구성</a:t>
            </a:r>
            <a:endParaRPr lang="en-US" altLang="ko-KR" sz="15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E6E6E6"/>
                </a:solidFill>
              </a:defRPr>
            </a:pPr>
            <a:r>
              <a:rPr lang="ko-KR" altLang="ko-KR" sz="1500" dirty="0"/>
              <a:t>기억과 감정에 의해 공간이 점차 왜곡되는 구조</a:t>
            </a:r>
            <a:endParaRPr lang="en-US" altLang="ko-KR" sz="15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E6E6E6"/>
                </a:solidFill>
              </a:defRPr>
            </a:pPr>
            <a:r>
              <a:rPr lang="ko-KR" altLang="ko-KR" sz="1500" dirty="0"/>
              <a:t>균열, 노이즈, 그림자 오브젝트를 활용한 불안정한 분위기 연출</a:t>
            </a:r>
            <a:endParaRPr lang="en-US" altLang="ko-KR" sz="15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E6E6E6"/>
                </a:solidFill>
              </a:defRPr>
            </a:pPr>
            <a:r>
              <a:rPr lang="ko-KR" altLang="ko-KR" sz="1500" dirty="0"/>
              <a:t>현실과 환상이 공존하는 초현실적 비주얼 표현</a:t>
            </a:r>
            <a:endParaRPr lang="en-US" altLang="ko-KR" sz="15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E6E6E6"/>
                </a:solidFill>
              </a:defRPr>
            </a:pPr>
            <a:r>
              <a:rPr lang="ko-KR" altLang="ko-KR" sz="1500" dirty="0"/>
              <a:t>어두운 배경과 네온 계열 포인트 컬러를 활용한 픽셀 아트 스타일</a:t>
            </a:r>
            <a:endParaRPr sz="1500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83CDE3-2493-67B4-CD35-F594386FA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794" y="3113450"/>
            <a:ext cx="6015446" cy="338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04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DC00"/>
                </a:solidFill>
              </a:defRPr>
            </a:pPr>
            <a:r>
              <a:rPr dirty="0" err="1"/>
              <a:t>스테이지</a:t>
            </a:r>
            <a:r>
              <a:rPr dirty="0"/>
              <a:t> </a:t>
            </a:r>
            <a:r>
              <a:rPr dirty="0" err="1"/>
              <a:t>개요</a:t>
            </a:r>
            <a:endParaRPr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D307013-33C8-C10D-E9DF-7DA42207F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94016"/>
              </p:ext>
            </p:extLst>
          </p:nvPr>
        </p:nvGraphicFramePr>
        <p:xfrm>
          <a:off x="622660" y="1198018"/>
          <a:ext cx="7920450" cy="4954587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931129">
                  <a:extLst>
                    <a:ext uri="{9D8B030D-6E8A-4147-A177-3AD203B41FA5}">
                      <a16:colId xmlns:a16="http://schemas.microsoft.com/office/drawing/2014/main" val="3122571230"/>
                    </a:ext>
                  </a:extLst>
                </a:gridCol>
                <a:gridCol w="5989321">
                  <a:extLst>
                    <a:ext uri="{9D8B030D-6E8A-4147-A177-3AD203B41FA5}">
                      <a16:colId xmlns:a16="http://schemas.microsoft.com/office/drawing/2014/main" val="3024861052"/>
                    </a:ext>
                  </a:extLst>
                </a:gridCol>
              </a:tblGrid>
              <a:tr h="460298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스테이지명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폐교 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트라우마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73000233"/>
                  </a:ext>
                </a:extLst>
              </a:tr>
              <a:tr h="466689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배경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현대 도시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52769267"/>
                  </a:ext>
                </a:extLst>
              </a:tr>
              <a:tr h="805520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플레이 타임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20~30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76100507"/>
                  </a:ext>
                </a:extLst>
              </a:tr>
              <a:tr h="805520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구조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탐색 → 단서 수집 → </a:t>
                      </a:r>
                      <a:r>
                        <a:rPr lang="ko-KR" altLang="en-US" b="0" dirty="0" err="1">
                          <a:solidFill>
                            <a:schemeClr val="bg1"/>
                          </a:solidFill>
                        </a:rPr>
                        <a:t>보스전</a:t>
                      </a:r>
                      <a:endParaRPr lang="ko-KR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74196615"/>
                  </a:ext>
                </a:extLst>
              </a:tr>
              <a:tr h="805520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목표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우정 목걸이 조각 수집 후 보스 구역 진입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5651202"/>
                  </a:ext>
                </a:extLst>
              </a:tr>
              <a:tr h="805520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진행 단계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운동장 → 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층 → 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층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트라우마 구역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→ 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층</a:t>
                      </a:r>
                      <a:endParaRPr lang="en-US" altLang="ko-KR" b="0" dirty="0">
                        <a:solidFill>
                          <a:schemeClr val="bg1"/>
                        </a:solidFill>
                      </a:endParaRPr>
                    </a:p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→ 옥상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우정 목걸이 조각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 → 강당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31768309"/>
                  </a:ext>
                </a:extLst>
              </a:tr>
              <a:tr h="805520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보스전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 진입 조건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옥상에서 우정 목걸이 조각을 습득하지 못하면 강당 진입 불가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.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우정 목걸이 조각 옆에 구겨진 쪽지에 강당 열쇠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ko-KR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22969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343555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DC00"/>
                </a:solidFill>
              </a:defRPr>
            </a:pPr>
            <a:r>
              <a:rPr lang="ko-KR" altLang="en-US" sz="3000" dirty="0"/>
              <a:t>전체 </a:t>
            </a:r>
            <a:r>
              <a:rPr sz="3000" dirty="0" err="1"/>
              <a:t>스테이지</a:t>
            </a:r>
            <a:r>
              <a:rPr sz="3000" dirty="0"/>
              <a:t> </a:t>
            </a:r>
            <a:r>
              <a:rPr sz="3000" dirty="0" err="1"/>
              <a:t>흐름</a:t>
            </a:r>
            <a:endParaRPr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651041" y="1632858"/>
            <a:ext cx="2420855" cy="37866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E6E6E6"/>
                </a:solidFill>
              </a:defRPr>
            </a:pPr>
            <a:r>
              <a:rPr lang="ko-KR" altLang="en-US" dirty="0">
                <a:solidFill>
                  <a:schemeClr val="bg1"/>
                </a:solidFill>
              </a:rPr>
              <a:t>폐교에 거대 균열 발생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  <a:defRPr sz="1800">
                <a:solidFill>
                  <a:srgbClr val="E6E6E6"/>
                </a:solidFill>
              </a:defRPr>
            </a:pPr>
            <a:r>
              <a:rPr dirty="0">
                <a:solidFill>
                  <a:schemeClr val="bg1"/>
                </a:solidFill>
              </a:rPr>
              <a:t>↓</a:t>
            </a:r>
          </a:p>
          <a:p>
            <a:pPr algn="ctr">
              <a:lnSpc>
                <a:spcPct val="150000"/>
              </a:lnSpc>
            </a:pPr>
            <a:r>
              <a:rPr dirty="0" err="1">
                <a:solidFill>
                  <a:schemeClr val="bg1"/>
                </a:solidFill>
              </a:rPr>
              <a:t>학교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내부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진입</a:t>
            </a:r>
            <a:endParaRPr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dirty="0">
                <a:solidFill>
                  <a:schemeClr val="bg1"/>
                </a:solidFill>
              </a:rPr>
              <a:t>↓</a:t>
            </a: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트라우마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이벤트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발생</a:t>
            </a:r>
            <a:endParaRPr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dirty="0">
                <a:solidFill>
                  <a:schemeClr val="bg1"/>
                </a:solidFill>
              </a:rPr>
              <a:t>↓</a:t>
            </a:r>
          </a:p>
          <a:p>
            <a:pPr algn="ctr">
              <a:lnSpc>
                <a:spcPct val="150000"/>
              </a:lnSpc>
            </a:pPr>
            <a:r>
              <a:rPr dirty="0" err="1">
                <a:solidFill>
                  <a:schemeClr val="bg1"/>
                </a:solidFill>
              </a:rPr>
              <a:t>우정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목걸이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조각 습득</a:t>
            </a:r>
            <a:endParaRPr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dirty="0">
                <a:solidFill>
                  <a:schemeClr val="bg1"/>
                </a:solidFill>
              </a:rPr>
              <a:t>↓</a:t>
            </a: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강당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보스전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22A283-58E6-C84F-0782-3D4847C4D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247" y="1319347"/>
            <a:ext cx="4826727" cy="48267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DC00"/>
                </a:solidFill>
              </a:defRPr>
            </a:pPr>
            <a:r>
              <a:t>이벤트 및 트리거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902030" cy="17091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E6E6E6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특정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장소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접근</a:t>
            </a:r>
            <a:r>
              <a:rPr dirty="0">
                <a:solidFill>
                  <a:schemeClr val="bg1"/>
                </a:solidFill>
              </a:rPr>
              <a:t> 시 NPC </a:t>
            </a:r>
            <a:r>
              <a:rPr dirty="0" err="1">
                <a:solidFill>
                  <a:schemeClr val="bg1"/>
                </a:solidFill>
              </a:rPr>
              <a:t>대화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발생</a:t>
            </a:r>
            <a:endParaRPr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폐쇄된</a:t>
            </a:r>
            <a:r>
              <a:rPr dirty="0">
                <a:solidFill>
                  <a:schemeClr val="bg1"/>
                </a:solidFill>
              </a:rPr>
              <a:t> 문 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ko-KR" altLang="en-US" dirty="0">
                <a:solidFill>
                  <a:schemeClr val="bg1"/>
                </a:solidFill>
              </a:rPr>
              <a:t>맵 곳곳에 단서 아이템</a:t>
            </a:r>
            <a:endParaRPr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dirty="0">
                <a:solidFill>
                  <a:schemeClr val="bg1"/>
                </a:solidFill>
              </a:rPr>
              <a:t>• </a:t>
            </a:r>
            <a:r>
              <a:rPr lang="ko-KR" altLang="en-US" dirty="0">
                <a:solidFill>
                  <a:schemeClr val="bg1"/>
                </a:solidFill>
              </a:rPr>
              <a:t>아이템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수집</a:t>
            </a:r>
            <a:r>
              <a:rPr dirty="0">
                <a:solidFill>
                  <a:schemeClr val="bg1"/>
                </a:solidFill>
              </a:rPr>
              <a:t> 시 </a:t>
            </a:r>
            <a:r>
              <a:rPr dirty="0" err="1">
                <a:solidFill>
                  <a:schemeClr val="bg1"/>
                </a:solidFill>
              </a:rPr>
              <a:t>과거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이야기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해금</a:t>
            </a:r>
            <a:endParaRPr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dirty="0">
                <a:solidFill>
                  <a:schemeClr val="bg1"/>
                </a:solidFill>
              </a:rPr>
              <a:t>• </a:t>
            </a:r>
            <a:r>
              <a:rPr lang="ko-KR" altLang="en-US" dirty="0">
                <a:solidFill>
                  <a:schemeClr val="bg1"/>
                </a:solidFill>
              </a:rPr>
              <a:t>우정 </a:t>
            </a:r>
            <a:r>
              <a:rPr dirty="0" err="1">
                <a:solidFill>
                  <a:schemeClr val="bg1"/>
                </a:solidFill>
              </a:rPr>
              <a:t>목걸이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조각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획득</a:t>
            </a:r>
            <a:r>
              <a:rPr dirty="0">
                <a:solidFill>
                  <a:schemeClr val="bg1"/>
                </a:solidFill>
              </a:rPr>
              <a:t> 시 </a:t>
            </a:r>
            <a:r>
              <a:rPr lang="ko-KR" altLang="en-US" dirty="0">
                <a:solidFill>
                  <a:schemeClr val="bg1"/>
                </a:solidFill>
              </a:rPr>
              <a:t>강당 </a:t>
            </a:r>
            <a:r>
              <a:rPr dirty="0" err="1">
                <a:solidFill>
                  <a:schemeClr val="bg1"/>
                </a:solidFill>
              </a:rPr>
              <a:t>개방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200247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DC00"/>
                </a:solidFill>
              </a:defRPr>
            </a:pPr>
            <a:r>
              <a:rPr dirty="0" err="1"/>
              <a:t>일반</a:t>
            </a:r>
            <a:r>
              <a:rPr dirty="0"/>
              <a:t> </a:t>
            </a:r>
            <a:r>
              <a:rPr lang="ko-KR" altLang="en-US" dirty="0"/>
              <a:t>몬스터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1190506"/>
            <a:ext cx="4099199" cy="747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sz="1500" dirty="0" err="1">
                <a:solidFill>
                  <a:schemeClr val="bg1"/>
                </a:solidFill>
              </a:rPr>
              <a:t>모든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적은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친구의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부정적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기억에서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생성된</a:t>
            </a:r>
            <a:r>
              <a:rPr sz="1500" dirty="0">
                <a:solidFill>
                  <a:schemeClr val="bg1"/>
                </a:solidFill>
              </a:rPr>
              <a:t> </a:t>
            </a:r>
            <a:r>
              <a:rPr sz="1500" dirty="0" err="1">
                <a:solidFill>
                  <a:schemeClr val="bg1"/>
                </a:solidFill>
              </a:rPr>
              <a:t>존재</a:t>
            </a:r>
            <a:endParaRPr lang="en-US" sz="15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chemeClr val="bg1"/>
                </a:solidFill>
              </a:rPr>
              <a:t>탐색 중심 구조로 과도한 전투는 지양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A1E8D03-FD19-7B68-9141-0A82EE7E3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823890"/>
              </p:ext>
            </p:extLst>
          </p:nvPr>
        </p:nvGraphicFramePr>
        <p:xfrm>
          <a:off x="548640" y="3134579"/>
          <a:ext cx="3849188" cy="312816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432559">
                  <a:extLst>
                    <a:ext uri="{9D8B030D-6E8A-4147-A177-3AD203B41FA5}">
                      <a16:colId xmlns:a16="http://schemas.microsoft.com/office/drawing/2014/main" val="3122571230"/>
                    </a:ext>
                  </a:extLst>
                </a:gridCol>
                <a:gridCol w="2416629">
                  <a:extLst>
                    <a:ext uri="{9D8B030D-6E8A-4147-A177-3AD203B41FA5}">
                      <a16:colId xmlns:a16="http://schemas.microsoft.com/office/drawing/2014/main" val="3024861052"/>
                    </a:ext>
                  </a:extLst>
                </a:gridCol>
              </a:tblGrid>
              <a:tr h="460298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그림자 학생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근거리 추격형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73000233"/>
                  </a:ext>
                </a:extLst>
              </a:tr>
              <a:tr h="466689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왜곡된 교사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원거리 공격형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52769267"/>
                  </a:ext>
                </a:extLst>
              </a:tr>
              <a:tr h="466689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기억 파편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자폭형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32370255"/>
                  </a:ext>
                </a:extLst>
              </a:tr>
              <a:tr h="466689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환영체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플레이어 위치 추적형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77648544"/>
                  </a:ext>
                </a:extLst>
              </a:tr>
              <a:tr h="462283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기억 파편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자폭형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76100507"/>
                  </a:ext>
                </a:extLst>
              </a:tr>
              <a:tr h="805520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환영체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플레이어 위치 추적형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74196615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C61C3C3-E029-91C6-2FBB-97079CDDB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819517"/>
              </p:ext>
            </p:extLst>
          </p:nvPr>
        </p:nvGraphicFramePr>
        <p:xfrm>
          <a:off x="4746172" y="3134579"/>
          <a:ext cx="3849188" cy="1860365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432559">
                  <a:extLst>
                    <a:ext uri="{9D8B030D-6E8A-4147-A177-3AD203B41FA5}">
                      <a16:colId xmlns:a16="http://schemas.microsoft.com/office/drawing/2014/main" val="3122571230"/>
                    </a:ext>
                  </a:extLst>
                </a:gridCol>
                <a:gridCol w="2416629">
                  <a:extLst>
                    <a:ext uri="{9D8B030D-6E8A-4147-A177-3AD203B41FA5}">
                      <a16:colId xmlns:a16="http://schemas.microsoft.com/office/drawing/2014/main" val="3024861052"/>
                    </a:ext>
                  </a:extLst>
                </a:gridCol>
              </a:tblGrid>
              <a:tr h="460298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공원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그림자 학생 위주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73000233"/>
                  </a:ext>
                </a:extLst>
              </a:tr>
              <a:tr h="466689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운동장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그림자 학생 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+ </a:t>
                      </a:r>
                      <a:r>
                        <a:rPr lang="ko-KR" altLang="en-US" b="0" dirty="0" err="1">
                          <a:solidFill>
                            <a:schemeClr val="bg1"/>
                          </a:solidFill>
                        </a:rPr>
                        <a:t>환영체</a:t>
                      </a:r>
                      <a:endParaRPr lang="ko-KR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52769267"/>
                  </a:ext>
                </a:extLst>
              </a:tr>
              <a:tr h="466689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교실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왜곡된 교사 배치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32370255"/>
                  </a:ext>
                </a:extLst>
              </a:tr>
              <a:tr h="466689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기억 공간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모든 적 혼합 출현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7764854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8A41CE5-8E42-0731-6347-221D85CC4FAF}"/>
              </a:ext>
            </a:extLst>
          </p:cNvPr>
          <p:cNvSpPr txBox="1"/>
          <p:nvPr/>
        </p:nvSpPr>
        <p:spPr>
          <a:xfrm>
            <a:off x="548640" y="2516777"/>
            <a:ext cx="6976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DC00"/>
                </a:solidFill>
              </a:defRPr>
            </a:pPr>
            <a:r>
              <a:rPr lang="ko-KR" altLang="en-US" sz="2000"/>
              <a:t>컨셉</a:t>
            </a:r>
            <a:endParaRPr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991ED4-0820-89C7-B735-1352B297F7C5}"/>
              </a:ext>
            </a:extLst>
          </p:cNvPr>
          <p:cNvSpPr txBox="1"/>
          <p:nvPr/>
        </p:nvSpPr>
        <p:spPr>
          <a:xfrm>
            <a:off x="4746172" y="2516777"/>
            <a:ext cx="6976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DC00"/>
                </a:solidFill>
              </a:defRPr>
            </a:pPr>
            <a:r>
              <a:rPr lang="ko-KR" altLang="en-US" sz="2000" dirty="0"/>
              <a:t>배치</a:t>
            </a:r>
            <a:endParaRPr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DC00"/>
                </a:solidFill>
              </a:defRPr>
            </a:pPr>
            <a:r>
              <a:t>보스 컨셉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467616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이름</a:t>
            </a:r>
            <a:r>
              <a:rPr dirty="0">
                <a:solidFill>
                  <a:schemeClr val="bg1"/>
                </a:solidFill>
              </a:rPr>
              <a:t> : </a:t>
            </a:r>
            <a:r>
              <a:rPr dirty="0" err="1">
                <a:solidFill>
                  <a:schemeClr val="bg1"/>
                </a:solidFill>
              </a:rPr>
              <a:t>변이한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친구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1형태 : </a:t>
            </a:r>
            <a:r>
              <a:rPr dirty="0" err="1">
                <a:solidFill>
                  <a:schemeClr val="bg1"/>
                </a:solidFill>
              </a:rPr>
              <a:t>인간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형태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- </a:t>
            </a:r>
            <a:r>
              <a:rPr dirty="0" err="1">
                <a:solidFill>
                  <a:schemeClr val="bg1"/>
                </a:solidFill>
              </a:rPr>
              <a:t>플레이어를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알아보는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듯한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반응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- </a:t>
            </a:r>
            <a:r>
              <a:rPr dirty="0" err="1">
                <a:solidFill>
                  <a:schemeClr val="bg1"/>
                </a:solidFill>
              </a:rPr>
              <a:t>환영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패턴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사용</a:t>
            </a:r>
            <a:endParaRPr dirty="0">
              <a:solidFill>
                <a:schemeClr val="bg1"/>
              </a:solidFill>
            </a:endParaRPr>
          </a:p>
          <a:p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2형태 : </a:t>
            </a:r>
            <a:r>
              <a:rPr dirty="0" err="1">
                <a:solidFill>
                  <a:schemeClr val="bg1"/>
                </a:solidFill>
              </a:rPr>
              <a:t>괴물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형태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- </a:t>
            </a:r>
            <a:r>
              <a:rPr dirty="0" err="1">
                <a:solidFill>
                  <a:schemeClr val="bg1"/>
                </a:solidFill>
              </a:rPr>
              <a:t>억눌린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감정이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폭주한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상태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- </a:t>
            </a:r>
            <a:r>
              <a:rPr dirty="0" err="1">
                <a:solidFill>
                  <a:schemeClr val="bg1"/>
                </a:solidFill>
              </a:rPr>
              <a:t>공격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범위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증가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DC00"/>
                </a:solidFill>
              </a:defRPr>
            </a:pPr>
            <a:r>
              <a:t>보스전 핵심 기믹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4594528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우정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목걸이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기믹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스테이지에서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모은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목걸이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조각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사용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특정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패턴</a:t>
            </a:r>
            <a:r>
              <a:rPr dirty="0">
                <a:solidFill>
                  <a:schemeClr val="bg1"/>
                </a:solidFill>
              </a:rPr>
              <a:t> 중 </a:t>
            </a:r>
            <a:r>
              <a:rPr dirty="0" err="1">
                <a:solidFill>
                  <a:schemeClr val="bg1"/>
                </a:solidFill>
              </a:rPr>
              <a:t>목걸이를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사용하면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환영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해제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기억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이벤트를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통해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보스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약화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전투와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스토리가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동시에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진행되는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구조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352</Words>
  <Application>Microsoft Office PowerPoint</Application>
  <PresentationFormat>화면 슬라이드 쇼(4:3)</PresentationFormat>
  <Paragraphs>88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musukie52@gmail.com</cp:lastModifiedBy>
  <cp:revision>2</cp:revision>
  <dcterms:created xsi:type="dcterms:W3CDTF">2013-01-27T09:14:16Z</dcterms:created>
  <dcterms:modified xsi:type="dcterms:W3CDTF">2026-06-03T03:55:31Z</dcterms:modified>
  <cp:category/>
</cp:coreProperties>
</file>