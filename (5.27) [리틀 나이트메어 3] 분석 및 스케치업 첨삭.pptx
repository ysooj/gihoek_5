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1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06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84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36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4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4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91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15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880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61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53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06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3ACFC-921A-4B27-A79B-E011F129C75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F0E0C-F8EF-41BC-B8C7-CD0C9C98D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90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Waypoint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플레이의 동선</a:t>
            </a:r>
            <a:r>
              <a:rPr lang="en-US" altLang="ko-KR" b="1" smtClean="0"/>
              <a:t>]</a:t>
            </a:r>
            <a:endParaRPr lang="en-US" altLang="ko-KR" b="1"/>
          </a:p>
          <a:p>
            <a:r>
              <a:rPr lang="ko-KR" altLang="en-US" smtClean="0"/>
              <a:t>정보 제시의 순서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이야기의 곡선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학습의 곡선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난이도의 곡선</a:t>
            </a:r>
            <a:endParaRPr lang="en-US" altLang="ko-KR" smtClean="0"/>
          </a:p>
          <a:p>
            <a:pPr lvl="2"/>
            <a:r>
              <a:rPr lang="ko-KR" altLang="en-US" smtClean="0"/>
              <a:t>그 구간에서 가장 어려운 콘텐츠</a:t>
            </a:r>
            <a:endParaRPr lang="en-US" altLang="ko-KR" smtClean="0"/>
          </a:p>
          <a:p>
            <a:pPr lvl="2"/>
            <a:r>
              <a:rPr lang="ko-KR" altLang="en-US" smtClean="0"/>
              <a:t>적절한 시련과 고난을 주면서 레벨을 디자인하자</a:t>
            </a:r>
            <a:endParaRPr lang="en-US" altLang="ko-KR" smtClean="0"/>
          </a:p>
          <a:p>
            <a:pPr lvl="2"/>
            <a:r>
              <a:rPr lang="ko-KR" altLang="en-US" b="1" smtClean="0">
                <a:solidFill>
                  <a:schemeClr val="accent6"/>
                </a:solidFill>
              </a:rPr>
              <a:t>라프코스터의 재미 이론</a:t>
            </a:r>
            <a:endParaRPr lang="en-US" altLang="ko-KR" b="1">
              <a:solidFill>
                <a:schemeClr val="accent6"/>
              </a:solidFill>
            </a:endParaRP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04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퍼즐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4914" y="1825625"/>
            <a:ext cx="10842172" cy="4351338"/>
          </a:xfrm>
        </p:spPr>
        <p:txBody>
          <a:bodyPr/>
          <a:lstStyle/>
          <a:p>
            <a:r>
              <a:rPr lang="ko-KR" altLang="en-US" smtClean="0"/>
              <a:t>문제의 유형을 관리해야 함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문제의 유형이 매 문제마다 달라야 하는 건 </a:t>
            </a:r>
            <a:r>
              <a:rPr lang="en-US" altLang="ko-KR" smtClean="0"/>
              <a:t>x</a:t>
            </a:r>
          </a:p>
          <a:p>
            <a:r>
              <a:rPr lang="en-US" altLang="ko-KR" smtClean="0"/>
              <a:t>‘A1 -&gt; A2 -&gt; A1+B1’</a:t>
            </a:r>
            <a:r>
              <a:rPr lang="ko-KR" altLang="en-US" smtClean="0"/>
              <a:t>과 같이 여러 유형을 섞어서 써보기도 하자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부하 몬스터가 보스 몬스터의 </a:t>
            </a:r>
            <a:r>
              <a:rPr lang="en-US" altLang="ko-KR" smtClean="0"/>
              <a:t>(</a:t>
            </a:r>
            <a:r>
              <a:rPr lang="ko-KR" altLang="en-US" smtClean="0"/>
              <a:t>기본</a:t>
            </a:r>
            <a:r>
              <a:rPr lang="en-US" altLang="ko-KR" smtClean="0"/>
              <a:t>)</a:t>
            </a:r>
            <a:r>
              <a:rPr lang="ko-KR" altLang="en-US" smtClean="0"/>
              <a:t>스킬을 가지고 있으면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보스 공략을 플레이어가 미리 연습할 수 있다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63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86" y="131747"/>
            <a:ext cx="9274628" cy="659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4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smtClean="0">
                <a:solidFill>
                  <a:schemeClr val="accent4"/>
                </a:solidFill>
              </a:rPr>
              <a:t>(</a:t>
            </a:r>
            <a:r>
              <a:rPr lang="ko-KR" altLang="en-US" b="1" smtClean="0">
                <a:solidFill>
                  <a:schemeClr val="accent4"/>
                </a:solidFill>
              </a:rPr>
              <a:t>중요</a:t>
            </a:r>
            <a:r>
              <a:rPr lang="en-US" altLang="ko-KR" b="1" smtClean="0">
                <a:solidFill>
                  <a:schemeClr val="accent4"/>
                </a:solidFill>
              </a:rPr>
              <a:t>)</a:t>
            </a:r>
            <a:r>
              <a:rPr lang="en-US" altLang="ko-KR" smtClean="0"/>
              <a:t> </a:t>
            </a:r>
            <a:r>
              <a:rPr lang="ko-KR" altLang="en-US" smtClean="0"/>
              <a:t>재미의 흐름 곡선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5</a:t>
            </a:r>
            <a:r>
              <a:rPr lang="ko-KR" altLang="en-US" smtClean="0"/>
              <a:t>단 구성</a:t>
            </a:r>
            <a:endParaRPr lang="en-US" altLang="ko-KR" smtClean="0"/>
          </a:p>
          <a:p>
            <a:r>
              <a:rPr lang="ko-KR" altLang="en-US" smtClean="0"/>
              <a:t>콘텐츠의 이해도와 조작 숙련도를 어디까지 학습시킬 지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내가 설계한 콘텐츠들을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맵의 어디에서 각각 경험할 수 있는지를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설계하는 게 아주 중요하다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32635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30" y="153726"/>
            <a:ext cx="9492340" cy="655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7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대도시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길드</a:t>
            </a:r>
            <a:r>
              <a:rPr lang="en-US" altLang="ko-KR" smtClean="0"/>
              <a:t>, </a:t>
            </a:r>
            <a:r>
              <a:rPr lang="ko-KR" altLang="en-US" smtClean="0"/>
              <a:t>은행 등의 시스템을 집중시키는 이유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초보자가 고인물을 보고 부러워해서 게임을 더 하게 유도하고</a:t>
            </a:r>
            <a:endParaRPr lang="en-US" altLang="ko-KR" smtClean="0"/>
          </a:p>
          <a:p>
            <a:r>
              <a:rPr lang="ko-KR" altLang="en-US" smtClean="0"/>
              <a:t>고인물은 반대로 상대적 우월감을 느끼게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이렇게 커뮤니티의 장을 만들어서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게임을 활발하게 만드는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539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3]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두 캐릭터 중 하나를 플레이어가 선택하면</a:t>
            </a:r>
            <a:endParaRPr lang="en-US" altLang="ko-KR" smtClean="0"/>
          </a:p>
          <a:p>
            <a:r>
              <a:rPr lang="ko-KR" altLang="en-US" smtClean="0"/>
              <a:t>남은 캐릭터는 </a:t>
            </a:r>
            <a:r>
              <a:rPr lang="en-US" altLang="ko-KR" smtClean="0"/>
              <a:t>AI(NPC)</a:t>
            </a:r>
            <a:r>
              <a:rPr lang="ko-KR" altLang="en-US" smtClean="0"/>
              <a:t>가 된다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배경 그래픽의 흔적들이 단순한 세월의 흔적이 아니라</a:t>
            </a:r>
            <a:r>
              <a:rPr lang="en-US" altLang="ko-KR" smtClean="0"/>
              <a:t>,</a:t>
            </a:r>
            <a:r>
              <a:rPr lang="ko-KR" altLang="en-US" smtClean="0"/>
              <a:t> 퍼즐의 힌트가 되기도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플레이어가 특정 위치로 오면 까마귀가 날아가거나 까마귀의 행동 애니메이션은 </a:t>
            </a:r>
            <a:r>
              <a:rPr lang="en-US" altLang="ko-KR" b="1" smtClean="0">
                <a:solidFill>
                  <a:schemeClr val="accent6"/>
                </a:solidFill>
              </a:rPr>
              <a:t>‘</a:t>
            </a:r>
            <a:r>
              <a:rPr lang="ko-KR" altLang="en-US" b="1" smtClean="0">
                <a:solidFill>
                  <a:schemeClr val="accent6"/>
                </a:solidFill>
              </a:rPr>
              <a:t>연출</a:t>
            </a:r>
            <a:r>
              <a:rPr lang="en-US" altLang="ko-KR" b="1" smtClean="0">
                <a:solidFill>
                  <a:schemeClr val="accent6"/>
                </a:solidFill>
              </a:rPr>
              <a:t>‘</a:t>
            </a:r>
            <a:r>
              <a:rPr lang="ko-KR" altLang="en-US" smtClean="0"/>
              <a:t>의 영역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58878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2514" y="1825625"/>
            <a:ext cx="11146972" cy="4351338"/>
          </a:xfrm>
        </p:spPr>
        <p:txBody>
          <a:bodyPr/>
          <a:lstStyle/>
          <a:p>
            <a:r>
              <a:rPr lang="ko-KR" altLang="en-US" smtClean="0"/>
              <a:t>어느 정도 게임이 진행된 후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새로운 요소를 넣어주면 재미가 올라간다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여기서는 </a:t>
            </a:r>
            <a:r>
              <a:rPr lang="en-US" altLang="ko-KR" smtClean="0"/>
              <a:t>‘</a:t>
            </a:r>
            <a:r>
              <a:rPr lang="ko-KR" altLang="en-US" smtClean="0"/>
              <a:t>우산</a:t>
            </a:r>
            <a:r>
              <a:rPr lang="en-US" altLang="ko-KR" smtClean="0"/>
              <a:t>’</a:t>
            </a:r>
            <a:r>
              <a:rPr lang="ko-KR" altLang="en-US" smtClean="0"/>
              <a:t>이다</a:t>
            </a:r>
            <a:endParaRPr lang="en-US" altLang="ko-KR" smtClean="0"/>
          </a:p>
          <a:p>
            <a:r>
              <a:rPr lang="ko-KR" altLang="en-US" smtClean="0"/>
              <a:t>밧줄을 끊고</a:t>
            </a:r>
            <a:r>
              <a:rPr lang="en-US" altLang="ko-KR" smtClean="0"/>
              <a:t>, </a:t>
            </a:r>
            <a:r>
              <a:rPr lang="ko-KR" altLang="en-US" smtClean="0"/>
              <a:t>점프하고</a:t>
            </a:r>
            <a:r>
              <a:rPr lang="en-US" altLang="ko-KR" smtClean="0"/>
              <a:t>, </a:t>
            </a:r>
            <a:r>
              <a:rPr lang="ko-KR" altLang="en-US" smtClean="0"/>
              <a:t>부수는 건 많이 했으니</a:t>
            </a:r>
            <a:endParaRPr lang="en-US" altLang="ko-KR" smtClean="0"/>
          </a:p>
          <a:p>
            <a:r>
              <a:rPr lang="ko-KR" altLang="en-US" smtClean="0"/>
              <a:t>우산으로 마치 날아다닌 것처럼 바람을 타는 게 바로 </a:t>
            </a:r>
            <a:r>
              <a:rPr lang="en-US" altLang="ko-KR" smtClean="0"/>
              <a:t>‘</a:t>
            </a:r>
            <a:r>
              <a:rPr lang="ko-KR" altLang="en-US" smtClean="0"/>
              <a:t>리마커블</a:t>
            </a:r>
            <a:r>
              <a:rPr lang="en-US" altLang="ko-KR" smtClean="0"/>
              <a:t>＇</a:t>
            </a: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3]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02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퍼즐 게임에서는 어떤 상황에서 어떤 키를 눌러서 어떤 행동을 해야 하는지 고민하는 데서 유저는 재미를 느낀다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유저가 </a:t>
            </a:r>
            <a:r>
              <a:rPr lang="en-US" altLang="ko-KR" smtClean="0"/>
              <a:t>‘</a:t>
            </a:r>
            <a:r>
              <a:rPr lang="ko-KR" altLang="en-US" smtClean="0"/>
              <a:t>고민하는 재미</a:t>
            </a:r>
            <a:r>
              <a:rPr lang="en-US" altLang="ko-KR" smtClean="0"/>
              <a:t>＇</a:t>
            </a:r>
            <a:r>
              <a:rPr lang="ko-KR" altLang="en-US" smtClean="0"/>
              <a:t>를 우리나라 게임에서는</a:t>
            </a:r>
            <a:r>
              <a:rPr lang="en-US" altLang="ko-KR" smtClean="0"/>
              <a:t>…</a:t>
            </a:r>
            <a:r>
              <a:rPr lang="ko-KR" altLang="en-US" smtClean="0"/>
              <a:t> </a:t>
            </a:r>
            <a:r>
              <a:rPr lang="en-US" altLang="ko-KR" smtClean="0"/>
              <a:t>‘</a:t>
            </a:r>
            <a:r>
              <a:rPr lang="ko-KR" altLang="en-US" smtClean="0"/>
              <a:t>편의성</a:t>
            </a:r>
            <a:r>
              <a:rPr lang="en-US" altLang="ko-KR" smtClean="0"/>
              <a:t>＇</a:t>
            </a:r>
            <a:r>
              <a:rPr lang="ko-KR" altLang="en-US" smtClean="0"/>
              <a:t>이라는 이름으로 뺏어간다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3] - </a:t>
            </a:r>
            <a:r>
              <a:rPr lang="ko-KR" altLang="en-US" smtClean="0"/>
              <a:t>수탉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02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이벤트의 필요 조건을 </a:t>
            </a:r>
            <a:r>
              <a:rPr lang="ko-KR" altLang="en-US" b="1" smtClean="0"/>
              <a:t>필요 충분 조건</a:t>
            </a:r>
            <a:r>
              <a:rPr lang="ko-KR" altLang="en-US" smtClean="0"/>
              <a:t>을 명확하게 설계해야 한다</a:t>
            </a:r>
            <a:r>
              <a:rPr lang="en-US" altLang="ko-KR" smtClean="0"/>
              <a:t>. </a:t>
            </a:r>
            <a:r>
              <a:rPr lang="ko-KR" altLang="en-US" smtClean="0"/>
              <a:t>미세하게 설계해야하는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플레이어와 </a:t>
            </a:r>
            <a:r>
              <a:rPr lang="en-US" altLang="ko-KR" smtClean="0"/>
              <a:t>NPC</a:t>
            </a:r>
            <a:r>
              <a:rPr lang="ko-KR" altLang="en-US" smtClean="0"/>
              <a:t>가 </a:t>
            </a:r>
            <a:r>
              <a:rPr lang="en-US" altLang="ko-KR" smtClean="0"/>
              <a:t>0.5</a:t>
            </a:r>
            <a:r>
              <a:rPr lang="ko-KR" altLang="en-US" smtClean="0"/>
              <a:t>초 내로 거의 동시에 뛰었다가 오브젝트를 밟으면 다음 단계로 넘어갈 수 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3]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887" y="3445423"/>
            <a:ext cx="4180114" cy="341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1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잘 만든 설계 </a:t>
            </a:r>
            <a:r>
              <a:rPr lang="en-US" altLang="ko-KR" smtClean="0"/>
              <a:t>: </a:t>
            </a:r>
            <a:r>
              <a:rPr lang="ko-KR" altLang="en-US" smtClean="0"/>
              <a:t>구현은 쉬운데 효과가 좋은 설계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리틀 나이트메어 </a:t>
            </a:r>
            <a:r>
              <a:rPr lang="en-US" altLang="ko-KR" smtClean="0"/>
              <a:t>3] - </a:t>
            </a:r>
            <a:r>
              <a:rPr lang="ko-KR" altLang="en-US" smtClean="0"/>
              <a:t>수탉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14" y="2470904"/>
            <a:ext cx="4963886" cy="438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16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이야기의 곡선</a:t>
            </a:r>
            <a:endParaRPr lang="en-US" altLang="ko-KR" smtClean="0"/>
          </a:p>
          <a:p>
            <a:r>
              <a:rPr lang="ko-KR" altLang="en-US" smtClean="0"/>
              <a:t>학습의 곡선</a:t>
            </a:r>
            <a:endParaRPr lang="en-US" altLang="ko-KR" smtClean="0"/>
          </a:p>
          <a:p>
            <a:r>
              <a:rPr lang="ko-KR" altLang="en-US" smtClean="0"/>
              <a:t>난이도의 곡선</a:t>
            </a:r>
            <a:endParaRPr lang="en-US" altLang="ko-KR" smtClean="0"/>
          </a:p>
          <a:p>
            <a:r>
              <a:rPr lang="ko-KR" altLang="en-US" smtClean="0"/>
              <a:t>재미의 흐름 곡선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말풍선으로 의도 표현하기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661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내일 배울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Action</a:t>
            </a:r>
            <a:r>
              <a:rPr lang="ko-KR" altLang="en-US" smtClean="0"/>
              <a:t>과 </a:t>
            </a:r>
            <a:r>
              <a:rPr lang="en-US" altLang="ko-KR" smtClean="0"/>
              <a:t>Reaction / Result</a:t>
            </a:r>
          </a:p>
          <a:p>
            <a:r>
              <a:rPr lang="ko-KR" altLang="en-US" smtClean="0"/>
              <a:t>이들의 구성이 잘된 것은</a:t>
            </a:r>
            <a:endParaRPr lang="en-US" altLang="ko-KR" smtClean="0"/>
          </a:p>
          <a:p>
            <a:r>
              <a:rPr lang="ko-KR" altLang="en-US" smtClean="0"/>
              <a:t>재밌고 즐거운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413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325</Words>
  <Application>Microsoft Office PowerPoint</Application>
  <PresentationFormat>와이드스크린</PresentationFormat>
  <Paragraphs>59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Waypoint</vt:lpstr>
      <vt:lpstr>퍼즐</vt:lpstr>
      <vt:lpstr>PowerPoint 프레젠테이션</vt:lpstr>
      <vt:lpstr>(중요) 재미의 흐름 곡선</vt:lpstr>
      <vt:lpstr>PowerPoint 프레젠테이션</vt:lpstr>
      <vt:lpstr>대도시</vt:lpstr>
      <vt:lpstr>[리틀 나이트메어 3] - 수탉</vt:lpstr>
      <vt:lpstr>[리틀 나이트메어 3] - 수탉</vt:lpstr>
      <vt:lpstr>[리틀 나이트메어 3] - 수탉</vt:lpstr>
      <vt:lpstr>[리틀 나이트메어 3] - 수탉</vt:lpstr>
      <vt:lpstr>[리틀 나이트메어 3] - 수탉</vt:lpstr>
      <vt:lpstr>말풍선으로 의도 표현하기</vt:lpstr>
      <vt:lpstr>내일 배울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Waypoint</dc:title>
  <dc:creator>FullName</dc:creator>
  <cp:lastModifiedBy>FullName</cp:lastModifiedBy>
  <cp:revision>7</cp:revision>
  <dcterms:created xsi:type="dcterms:W3CDTF">2026-05-27T05:02:59Z</dcterms:created>
  <dcterms:modified xsi:type="dcterms:W3CDTF">2026-05-27T06:52:08Z</dcterms:modified>
</cp:coreProperties>
</file>