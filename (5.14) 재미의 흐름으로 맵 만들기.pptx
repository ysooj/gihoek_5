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7" r:id="rId4"/>
    <p:sldId id="268" r:id="rId5"/>
    <p:sldId id="269" r:id="rId6"/>
    <p:sldId id="27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06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72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25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97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672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5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015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93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315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28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73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2829D-E758-45ED-B44E-E1B97B66994C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C6F81-5B5D-4AFE-B885-3D59E306FB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72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어제 배운 내용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6101"/>
            <a:ext cx="5687219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78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엑셀로 맵 만들기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좌표값을 충분히 활용하자</a:t>
            </a:r>
            <a:r>
              <a:rPr lang="en-US" altLang="ko-KR" smtClean="0"/>
              <a:t>!</a:t>
            </a:r>
          </a:p>
          <a:p>
            <a:endParaRPr lang="en-US" altLang="ko-KR"/>
          </a:p>
          <a:p>
            <a:r>
              <a:rPr lang="en-US" altLang="ko-KR" smtClean="0"/>
              <a:t>(1) </a:t>
            </a:r>
            <a:r>
              <a:rPr lang="ko-KR" altLang="en-US" smtClean="0"/>
              <a:t>웨이 포인트 </a:t>
            </a:r>
            <a:r>
              <a:rPr lang="en-US" altLang="ko-KR" smtClean="0"/>
              <a:t>: </a:t>
            </a:r>
            <a:r>
              <a:rPr lang="ko-KR" altLang="en-US" smtClean="0"/>
              <a:t>길을 따라가다보면 보이는 풍경에서 </a:t>
            </a:r>
            <a:r>
              <a:rPr lang="en-US" altLang="ko-KR" smtClean="0"/>
              <a:t>‘</a:t>
            </a:r>
            <a:r>
              <a:rPr lang="ko-KR" altLang="en-US" smtClean="0"/>
              <a:t>테마</a:t>
            </a:r>
            <a:r>
              <a:rPr lang="en-US" altLang="ko-KR" smtClean="0"/>
              <a:t>＇</a:t>
            </a:r>
            <a:r>
              <a:rPr lang="ko-KR" altLang="en-US" smtClean="0"/>
              <a:t>를 느낄 수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(2) </a:t>
            </a:r>
            <a:r>
              <a:rPr lang="ko-KR" altLang="en-US" smtClean="0"/>
              <a:t>랜드마크 </a:t>
            </a:r>
            <a:r>
              <a:rPr lang="en-US" altLang="ko-KR" smtClean="0"/>
              <a:t>: </a:t>
            </a:r>
            <a:r>
              <a:rPr lang="ko-KR" altLang="en-US" smtClean="0"/>
              <a:t>이정표같은 역할도 함</a:t>
            </a:r>
          </a:p>
          <a:p>
            <a:r>
              <a:rPr lang="en-US" altLang="ko-KR" smtClean="0"/>
              <a:t>(3) </a:t>
            </a:r>
            <a:r>
              <a:rPr lang="ko-KR" altLang="en-US" smtClean="0"/>
              <a:t>테마 </a:t>
            </a:r>
            <a:r>
              <a:rPr lang="en-US" altLang="ko-KR" smtClean="0"/>
              <a:t>: </a:t>
            </a:r>
            <a:r>
              <a:rPr lang="ko-KR" altLang="en-US" smtClean="0"/>
              <a:t>삶</a:t>
            </a:r>
            <a:r>
              <a:rPr lang="en-US" altLang="ko-KR" smtClean="0"/>
              <a:t>, </a:t>
            </a:r>
            <a:r>
              <a:rPr lang="ko-KR" altLang="en-US" smtClean="0"/>
              <a:t>문화</a:t>
            </a:r>
            <a:r>
              <a:rPr lang="en-US" altLang="ko-KR" smtClean="0"/>
              <a:t>, </a:t>
            </a:r>
            <a:r>
              <a:rPr lang="ko-KR" altLang="en-US" smtClean="0"/>
              <a:t>사회 등을 느낄 수 있다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            </a:t>
            </a:r>
            <a:r>
              <a:rPr lang="ko-KR" altLang="en-US" smtClean="0"/>
              <a:t>일상</a:t>
            </a:r>
            <a:r>
              <a:rPr lang="en-US" altLang="ko-KR" smtClean="0"/>
              <a:t>, </a:t>
            </a:r>
            <a:r>
              <a:rPr lang="ko-KR" altLang="en-US" smtClean="0"/>
              <a:t>여유</a:t>
            </a:r>
            <a:r>
              <a:rPr lang="en-US" altLang="ko-KR" smtClean="0"/>
              <a:t>, </a:t>
            </a:r>
            <a:r>
              <a:rPr lang="ko-KR" altLang="en-US" smtClean="0"/>
              <a:t>삶의 흔적 등이 묻어난다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게임의 배경 </a:t>
            </a:r>
            <a:r>
              <a:rPr lang="en-US" altLang="ko-KR" smtClean="0"/>
              <a:t>=&gt; (1), (2), (3) </a:t>
            </a:r>
            <a:r>
              <a:rPr lang="ko-KR" altLang="en-US" smtClean="0"/>
              <a:t>이 </a:t>
            </a:r>
            <a:r>
              <a:rPr lang="en-US" altLang="ko-KR" smtClean="0"/>
              <a:t>3</a:t>
            </a:r>
            <a:r>
              <a:rPr lang="ko-KR" altLang="en-US" smtClean="0"/>
              <a:t>가지가 보여야 한다</a:t>
            </a:r>
            <a:r>
              <a:rPr lang="en-US" altLang="ko-KR" smtClean="0"/>
              <a:t>.</a:t>
            </a:r>
            <a:endParaRPr lang="ko-KR" altLang="en-US" smtClean="0"/>
          </a:p>
          <a:p>
            <a:endParaRPr lang="ko-KR" altLang="en-US" smtClean="0"/>
          </a:p>
          <a:p>
            <a:r>
              <a:rPr lang="ko-KR" altLang="en-US" smtClean="0"/>
              <a:t>느낌표 </a:t>
            </a:r>
            <a:r>
              <a:rPr lang="en-US" altLang="ko-KR" smtClean="0"/>
              <a:t>(!) =&gt; </a:t>
            </a:r>
            <a:r>
              <a:rPr lang="ko-KR" altLang="en-US" smtClean="0"/>
              <a:t>리드 컨텐츠</a:t>
            </a:r>
            <a:endParaRPr lang="en-US" altLang="ko-KR"/>
          </a:p>
          <a:p>
            <a:r>
              <a:rPr lang="ko-KR" altLang="en-US" smtClean="0"/>
              <a:t>너무 대놓고 있으면</a:t>
            </a:r>
            <a:r>
              <a:rPr lang="en-US" altLang="ko-KR" smtClean="0"/>
              <a:t>, </a:t>
            </a:r>
            <a:r>
              <a:rPr lang="ko-KR" altLang="en-US" smtClean="0"/>
              <a:t>너무 게임이 쉬워지고 재미없어질 수 있다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1485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재미의 흐름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난이도의 곡선의 흐름 </a:t>
            </a:r>
            <a:r>
              <a:rPr lang="en-US" altLang="ko-KR" smtClean="0"/>
              <a:t>: </a:t>
            </a:r>
            <a:r>
              <a:rPr lang="ko-KR" altLang="en-US" smtClean="0"/>
              <a:t>몬스터</a:t>
            </a:r>
            <a:r>
              <a:rPr lang="en-US" altLang="ko-KR" smtClean="0"/>
              <a:t>, </a:t>
            </a:r>
            <a:r>
              <a:rPr lang="ko-KR" altLang="en-US" smtClean="0"/>
              <a:t>퍼즐</a:t>
            </a:r>
            <a:r>
              <a:rPr lang="en-US" altLang="ko-KR" smtClean="0"/>
              <a:t>, </a:t>
            </a:r>
            <a:r>
              <a:rPr lang="ko-KR" altLang="en-US" smtClean="0"/>
              <a:t>길찾기 등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학습의 곡선의 흐름 </a:t>
            </a:r>
            <a:r>
              <a:rPr lang="en-US" altLang="ko-KR" smtClean="0"/>
              <a:t>: </a:t>
            </a:r>
            <a:r>
              <a:rPr lang="ko-KR" altLang="en-US" smtClean="0"/>
              <a:t>조작 숙련도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이야기의 흐름</a:t>
            </a:r>
            <a:r>
              <a:rPr lang="en-US" altLang="ko-KR" smtClean="0"/>
              <a:t>(</a:t>
            </a:r>
            <a:r>
              <a:rPr lang="ko-KR" altLang="en-US" smtClean="0"/>
              <a:t>이야기 곡선의 흐름</a:t>
            </a:r>
            <a:r>
              <a:rPr lang="en-US" altLang="ko-KR" smtClean="0"/>
              <a:t>) : </a:t>
            </a:r>
            <a:r>
              <a:rPr lang="ko-KR" altLang="en-US" smtClean="0"/>
              <a:t>타운 </a:t>
            </a:r>
            <a:r>
              <a:rPr lang="en-US" altLang="ko-KR" smtClean="0"/>
              <a:t>– </a:t>
            </a:r>
            <a:r>
              <a:rPr lang="ko-KR" altLang="en-US" smtClean="0"/>
              <a:t>필드 </a:t>
            </a:r>
            <a:r>
              <a:rPr lang="en-US" altLang="ko-KR" smtClean="0"/>
              <a:t>– </a:t>
            </a:r>
            <a:r>
              <a:rPr lang="ko-KR" altLang="en-US" smtClean="0"/>
              <a:t>던전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                                     </a:t>
            </a:r>
            <a:r>
              <a:rPr lang="ko-KR" altLang="en-US" smtClean="0"/>
              <a:t>발단 </a:t>
            </a:r>
            <a:r>
              <a:rPr lang="en-US" altLang="ko-KR" smtClean="0"/>
              <a:t>/ </a:t>
            </a:r>
            <a:r>
              <a:rPr lang="ko-KR" altLang="en-US" smtClean="0"/>
              <a:t>전개 </a:t>
            </a:r>
            <a:r>
              <a:rPr lang="en-US" altLang="ko-KR" smtClean="0"/>
              <a:t>/ </a:t>
            </a:r>
            <a:r>
              <a:rPr lang="ko-KR" altLang="en-US" smtClean="0"/>
              <a:t>위기 </a:t>
            </a:r>
            <a:r>
              <a:rPr lang="en-US" altLang="ko-KR" smtClean="0"/>
              <a:t>/ </a:t>
            </a:r>
            <a:r>
              <a:rPr lang="ko-KR" altLang="en-US" smtClean="0"/>
              <a:t>절정 </a:t>
            </a:r>
            <a:r>
              <a:rPr lang="en-US" altLang="ko-KR" smtClean="0"/>
              <a:t>/ </a:t>
            </a:r>
            <a:r>
              <a:rPr lang="ko-KR" altLang="en-US" smtClean="0"/>
              <a:t>결말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  <a:p>
            <a:r>
              <a:rPr lang="ko-KR" altLang="en-US" smtClean="0"/>
              <a:t>이 </a:t>
            </a:r>
            <a:r>
              <a:rPr lang="en-US" altLang="ko-KR" smtClean="0"/>
              <a:t>3</a:t>
            </a:r>
            <a:r>
              <a:rPr lang="ko-KR" altLang="en-US" smtClean="0"/>
              <a:t>가지</a:t>
            </a:r>
            <a:r>
              <a:rPr lang="en-US" altLang="ko-KR" smtClean="0"/>
              <a:t>, </a:t>
            </a:r>
            <a:r>
              <a:rPr lang="ko-KR" altLang="en-US" smtClean="0"/>
              <a:t>즉 재미의 흐름이 맵에 보이면 </a:t>
            </a:r>
            <a:r>
              <a:rPr lang="en-US" altLang="ko-KR" smtClean="0"/>
              <a:t>BEST!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5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298721"/>
              </p:ext>
            </p:extLst>
          </p:nvPr>
        </p:nvGraphicFramePr>
        <p:xfrm>
          <a:off x="2032000" y="719666"/>
          <a:ext cx="4165600" cy="5601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0384">
                  <a:extLst>
                    <a:ext uri="{9D8B030D-6E8A-4147-A177-3AD203B41FA5}">
                      <a16:colId xmlns:a16="http://schemas.microsoft.com/office/drawing/2014/main" val="2626445516"/>
                    </a:ext>
                  </a:extLst>
                </a:gridCol>
                <a:gridCol w="3125216">
                  <a:extLst>
                    <a:ext uri="{9D8B030D-6E8A-4147-A177-3AD203B41FA5}">
                      <a16:colId xmlns:a16="http://schemas.microsoft.com/office/drawing/2014/main" val="2802477989"/>
                    </a:ext>
                  </a:extLst>
                </a:gridCol>
              </a:tblGrid>
              <a:tr h="496486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b="1" smtClean="0"/>
                        <a:t>그림</a:t>
                      </a:r>
                      <a:endParaRPr lang="ko-KR" altLang="en-US" b="1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b="1" smtClean="0"/>
                        <a:t>설명</a:t>
                      </a:r>
                      <a:endParaRPr lang="ko-KR" altLang="en-US" b="1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83712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주인공이 가족과 함께 사는 아파트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788602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24</a:t>
                      </a:r>
                      <a:r>
                        <a:rPr lang="ko-KR" altLang="en-US" smtClean="0"/>
                        <a:t>시간 편의점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20755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동네 약국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32241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다있슈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40251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mtClean="0"/>
                        <a:t>사람을 찾는다는 전단지</a:t>
                      </a:r>
                      <a:r>
                        <a:rPr lang="en-US" altLang="ko-KR" smtClean="0"/>
                        <a:t>,</a:t>
                      </a:r>
                      <a:br>
                        <a:rPr lang="en-US" altLang="ko-KR" smtClean="0"/>
                      </a:br>
                      <a:r>
                        <a:rPr lang="ko-KR" altLang="en-US" smtClean="0"/>
                        <a:t>사람을 찾아준다는 전단지</a:t>
                      </a:r>
                      <a:endParaRPr lang="en-US" altLang="ko-KR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324055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mtClean="0"/>
                        <a:t>휴대폰 가게</a:t>
                      </a:r>
                      <a:endParaRPr lang="en-US" altLang="ko-KR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482548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943" y="1307592"/>
            <a:ext cx="676658" cy="67665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942" y="2164383"/>
            <a:ext cx="676660" cy="67665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942" y="3015463"/>
            <a:ext cx="676660" cy="67666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942" y="3863692"/>
            <a:ext cx="676660" cy="67666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943" y="4711921"/>
            <a:ext cx="676658" cy="67665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759" y="5549033"/>
            <a:ext cx="210034" cy="21003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586" r="100000">
                        <a14:foregroundMark x1="23242" y1="22070" x2="23242" y2="22070"/>
                        <a14:foregroundMark x1="28906" y1="22070" x2="6250" y2="22070"/>
                        <a14:foregroundMark x1="10352" y1="22070" x2="781" y2="41211"/>
                        <a14:foregroundMark x1="28516" y1="18945" x2="33008" y2="99414"/>
                        <a14:foregroundMark x1="36328" y1="2734" x2="65234" y2="2344"/>
                        <a14:backgroundMark x1="42969" y1="27539" x2="59180" y2="7813"/>
                        <a14:backgroundMark x1="47070" y1="11328" x2="47461" y2="25000"/>
                        <a14:backgroundMark x1="45898" y1="8203" x2="59180" y2="8203"/>
                        <a14:backgroundMark x1="60742" y1="7813" x2="59570" y2="22070"/>
                        <a14:backgroundMark x1="62305" y1="19727" x2="51172" y2="25977"/>
                        <a14:backgroundMark x1="40039" y1="19727" x2="42578" y2="27539"/>
                        <a14:backgroundMark x1="39648" y1="27539" x2="61133" y2="24609"/>
                        <a14:backgroundMark x1="40820" y1="29688" x2="58203" y2="25977"/>
                        <a14:backgroundMark x1="38086" y1="20898" x2="39648" y2="25000"/>
                        <a14:backgroundMark x1="55859" y1="7617" x2="63672" y2="13867"/>
                        <a14:backgroundMark x1="59570" y1="5273" x2="61914" y2="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738" y="5510224"/>
            <a:ext cx="787068" cy="787066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921440"/>
              </p:ext>
            </p:extLst>
          </p:nvPr>
        </p:nvGraphicFramePr>
        <p:xfrm>
          <a:off x="6479621" y="719666"/>
          <a:ext cx="4165600" cy="5601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0384">
                  <a:extLst>
                    <a:ext uri="{9D8B030D-6E8A-4147-A177-3AD203B41FA5}">
                      <a16:colId xmlns:a16="http://schemas.microsoft.com/office/drawing/2014/main" val="2626445516"/>
                    </a:ext>
                  </a:extLst>
                </a:gridCol>
                <a:gridCol w="3125216">
                  <a:extLst>
                    <a:ext uri="{9D8B030D-6E8A-4147-A177-3AD203B41FA5}">
                      <a16:colId xmlns:a16="http://schemas.microsoft.com/office/drawing/2014/main" val="2802477989"/>
                    </a:ext>
                  </a:extLst>
                </a:gridCol>
              </a:tblGrid>
              <a:tr h="496486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b="1" smtClean="0"/>
                        <a:t>그림</a:t>
                      </a:r>
                      <a:endParaRPr lang="ko-KR" altLang="en-US" b="1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b="1" smtClean="0"/>
                        <a:t>설명</a:t>
                      </a:r>
                      <a:endParaRPr lang="ko-KR" altLang="en-US" b="1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83712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대형 마트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788602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24</a:t>
                      </a:r>
                      <a:r>
                        <a:rPr lang="ko-KR" altLang="en-US" smtClean="0"/>
                        <a:t>시간 편의점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20755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동네 약국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232241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다있슈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40251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mtClean="0"/>
                        <a:t>사람을 찾는다는 전단지</a:t>
                      </a:r>
                      <a:r>
                        <a:rPr lang="en-US" altLang="ko-KR" smtClean="0"/>
                        <a:t>,</a:t>
                      </a:r>
                      <a:br>
                        <a:rPr lang="en-US" altLang="ko-KR" smtClean="0"/>
                      </a:br>
                      <a:r>
                        <a:rPr lang="ko-KR" altLang="en-US" smtClean="0"/>
                        <a:t>사람을 찾아준다는 전단지</a:t>
                      </a:r>
                      <a:endParaRPr lang="en-US" altLang="ko-KR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324055"/>
                  </a:ext>
                </a:extLst>
              </a:tr>
              <a:tr h="85086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mtClean="0"/>
                        <a:t>휴대폰 가게</a:t>
                      </a:r>
                      <a:endParaRPr lang="en-US" altLang="ko-KR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482548"/>
                  </a:ext>
                </a:extLst>
              </a:tr>
            </a:tbl>
          </a:graphicData>
        </a:graphic>
      </p:graphicFrame>
      <p:pic>
        <p:nvPicPr>
          <p:cNvPr id="14" name="그림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321" y="1138389"/>
            <a:ext cx="1015061" cy="101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8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핀터레스트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D&amp;D MAP : </a:t>
            </a:r>
            <a:r>
              <a:rPr lang="ko-KR" altLang="en-US" smtClean="0"/>
              <a:t>그리드가 포함된 맵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b="1" smtClean="0"/>
              <a:t>Inkarnate </a:t>
            </a:r>
            <a:r>
              <a:rPr lang="en-US" altLang="ko-KR" smtClean="0"/>
              <a:t>: </a:t>
            </a:r>
            <a:r>
              <a:rPr lang="ko-KR" altLang="en-US" smtClean="0"/>
              <a:t>무료 맵 제작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55986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27" y="890233"/>
            <a:ext cx="5696745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63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129</Words>
  <Application>Microsoft Office PowerPoint</Application>
  <PresentationFormat>와이드스크린</PresentationFormat>
  <Paragraphs>37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어제 배운 내용</vt:lpstr>
      <vt:lpstr>엑셀로 맵 만들기</vt:lpstr>
      <vt:lpstr>재미의 흐름</vt:lpstr>
      <vt:lpstr>PowerPoint 프레젠테이션</vt:lpstr>
      <vt:lpstr>핀터레스트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8</cp:revision>
  <dcterms:created xsi:type="dcterms:W3CDTF">2026-05-14T04:43:39Z</dcterms:created>
  <dcterms:modified xsi:type="dcterms:W3CDTF">2026-05-14T06:53:48Z</dcterms:modified>
</cp:coreProperties>
</file>