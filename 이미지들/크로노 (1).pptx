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Arimo" charset="1" panose="020B0604020202020204"/>
      <p:regular r:id="rId31"/>
    </p:embeddedFont>
    <p:embeddedFont>
      <p:font typeface="Arimo Bold" charset="1" panose="020B0704020202020204"/>
      <p:regular r:id="rId32"/>
    </p:embeddedFont>
    <p:embeddedFont>
      <p:font typeface="Mandali" charset="1" panose="020006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0.jpeg" Type="http://schemas.openxmlformats.org/officeDocument/2006/relationships/image"/><Relationship Id="rId4"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3.png" Type="http://schemas.openxmlformats.org/officeDocument/2006/relationships/image"/><Relationship Id="rId4" Target="../media/image1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0.jpe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2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171575"/>
            <a:ext cx="8761724" cy="1071881"/>
          </a:xfrm>
          <a:prstGeom prst="rect">
            <a:avLst/>
          </a:prstGeom>
        </p:spPr>
        <p:txBody>
          <a:bodyPr anchor="t" rtlCol="false" tIns="0" lIns="0" bIns="0" rIns="0">
            <a:spAutoFit/>
          </a:bodyPr>
          <a:lstStyle/>
          <a:p>
            <a:pPr algn="l" marL="0" indent="0" lvl="0">
              <a:lnSpc>
                <a:spcPts val="7760"/>
              </a:lnSpc>
            </a:pPr>
            <a:r>
              <a:rPr lang="en-US" sz="8000">
                <a:solidFill>
                  <a:srgbClr val="000000"/>
                </a:solidFill>
                <a:latin typeface="Arimo"/>
                <a:ea typeface="Arimo"/>
                <a:cs typeface="Arimo"/>
                <a:sym typeface="Arimo"/>
              </a:rPr>
              <a:t>목차</a:t>
            </a:r>
          </a:p>
        </p:txBody>
      </p:sp>
      <p:grpSp>
        <p:nvGrpSpPr>
          <p:cNvPr name="Group 3" id="3"/>
          <p:cNvGrpSpPr/>
          <p:nvPr/>
        </p:nvGrpSpPr>
        <p:grpSpPr>
          <a:xfrm rot="0">
            <a:off x="1028700" y="5775785"/>
            <a:ext cx="7167164" cy="3482516"/>
            <a:chOff x="0" y="0"/>
            <a:chExt cx="9556219" cy="4643354"/>
          </a:xfrm>
        </p:grpSpPr>
        <p:sp>
          <p:nvSpPr>
            <p:cNvPr name="AutoShape 4" id="4"/>
            <p:cNvSpPr/>
            <p:nvPr/>
          </p:nvSpPr>
          <p:spPr>
            <a:xfrm>
              <a:off x="0" y="961288"/>
              <a:ext cx="9556219" cy="0"/>
            </a:xfrm>
            <a:prstGeom prst="line">
              <a:avLst/>
            </a:prstGeom>
            <a:ln cap="rnd" w="38100">
              <a:solidFill>
                <a:srgbClr val="000000"/>
              </a:solidFill>
              <a:prstDash val="solid"/>
              <a:headEnd type="none" len="sm" w="sm"/>
              <a:tailEnd type="none" len="sm" w="sm"/>
            </a:ln>
          </p:spPr>
        </p:sp>
        <p:sp>
          <p:nvSpPr>
            <p:cNvPr name="AutoShape 5" id="5"/>
            <p:cNvSpPr/>
            <p:nvPr/>
          </p:nvSpPr>
          <p:spPr>
            <a:xfrm>
              <a:off x="0" y="2321677"/>
              <a:ext cx="9556219" cy="0"/>
            </a:xfrm>
            <a:prstGeom prst="line">
              <a:avLst/>
            </a:prstGeom>
            <a:ln cap="rnd" w="38100">
              <a:solidFill>
                <a:srgbClr val="000000"/>
              </a:solidFill>
              <a:prstDash val="solid"/>
              <a:headEnd type="none" len="sm" w="sm"/>
              <a:tailEnd type="none" len="sm" w="sm"/>
            </a:ln>
          </p:spPr>
        </p:sp>
        <p:sp>
          <p:nvSpPr>
            <p:cNvPr name="AutoShape 6" id="6"/>
            <p:cNvSpPr/>
            <p:nvPr/>
          </p:nvSpPr>
          <p:spPr>
            <a:xfrm>
              <a:off x="0" y="3682066"/>
              <a:ext cx="9556219" cy="0"/>
            </a:xfrm>
            <a:prstGeom prst="line">
              <a:avLst/>
            </a:prstGeom>
            <a:ln cap="rnd" w="38100">
              <a:solidFill>
                <a:srgbClr val="000000"/>
              </a:solidFill>
              <a:prstDash val="solid"/>
              <a:headEnd type="none" len="sm" w="sm"/>
              <a:tailEnd type="none" len="sm" w="sm"/>
            </a:ln>
          </p:spPr>
        </p:sp>
        <p:sp>
          <p:nvSpPr>
            <p:cNvPr name="TextBox 7" id="7"/>
            <p:cNvSpPr txBox="true"/>
            <p:nvPr/>
          </p:nvSpPr>
          <p:spPr>
            <a:xfrm rot="0">
              <a:off x="0" y="1312764"/>
              <a:ext cx="9556219" cy="609812"/>
            </a:xfrm>
            <a:prstGeom prst="rect">
              <a:avLst/>
            </a:prstGeom>
          </p:spPr>
          <p:txBody>
            <a:bodyPr anchor="t" rtlCol="false" tIns="0" lIns="0" bIns="0" rIns="0">
              <a:spAutoFit/>
            </a:bodyPr>
            <a:lstStyle/>
            <a:p>
              <a:pPr algn="l" marL="604519" indent="-302260" lvl="1">
                <a:lnSpc>
                  <a:spcPts val="3639"/>
                </a:lnSpc>
                <a:buAutoNum type="arabicPeriod" startAt="1"/>
              </a:pPr>
              <a:r>
                <a:rPr lang="en-US" sz="2799">
                  <a:solidFill>
                    <a:srgbClr val="000000"/>
                  </a:solidFill>
                  <a:latin typeface="Arimo"/>
                  <a:ea typeface="Arimo"/>
                  <a:cs typeface="Arimo"/>
                  <a:sym typeface="Arimo"/>
                </a:rPr>
                <a:t>기본 정보</a:t>
              </a:r>
            </a:p>
          </p:txBody>
        </p:sp>
        <p:sp>
          <p:nvSpPr>
            <p:cNvPr name="TextBox 8" id="8"/>
            <p:cNvSpPr txBox="true"/>
            <p:nvPr/>
          </p:nvSpPr>
          <p:spPr>
            <a:xfrm rot="0">
              <a:off x="0" y="-47625"/>
              <a:ext cx="9556219" cy="609812"/>
            </a:xfrm>
            <a:prstGeom prst="rect">
              <a:avLst/>
            </a:prstGeom>
          </p:spPr>
          <p:txBody>
            <a:bodyPr anchor="t" rtlCol="false" tIns="0" lIns="0" bIns="0" rIns="0">
              <a:spAutoFit/>
            </a:bodyPr>
            <a:lstStyle/>
            <a:p>
              <a:pPr algn="l" marL="604519" indent="-302260" lvl="1">
                <a:lnSpc>
                  <a:spcPts val="3639"/>
                </a:lnSpc>
                <a:buAutoNum type="arabicPeriod" startAt="1"/>
              </a:pPr>
              <a:r>
                <a:rPr lang="en-US" sz="2799">
                  <a:solidFill>
                    <a:srgbClr val="000000"/>
                  </a:solidFill>
                  <a:latin typeface="Arimo"/>
                  <a:ea typeface="Arimo"/>
                  <a:cs typeface="Arimo"/>
                  <a:sym typeface="Arimo"/>
                </a:rPr>
                <a:t>시놉시스</a:t>
              </a:r>
            </a:p>
          </p:txBody>
        </p:sp>
        <p:sp>
          <p:nvSpPr>
            <p:cNvPr name="TextBox 9" id="9"/>
            <p:cNvSpPr txBox="true"/>
            <p:nvPr/>
          </p:nvSpPr>
          <p:spPr>
            <a:xfrm rot="0">
              <a:off x="0" y="2673153"/>
              <a:ext cx="9556219" cy="609812"/>
            </a:xfrm>
            <a:prstGeom prst="rect">
              <a:avLst/>
            </a:prstGeom>
          </p:spPr>
          <p:txBody>
            <a:bodyPr anchor="t" rtlCol="false" tIns="0" lIns="0" bIns="0" rIns="0">
              <a:spAutoFit/>
            </a:bodyPr>
            <a:lstStyle/>
            <a:p>
              <a:pPr algn="l" marL="604519" indent="-302260" lvl="1">
                <a:lnSpc>
                  <a:spcPts val="3639"/>
                </a:lnSpc>
                <a:buAutoNum type="arabicPeriod" startAt="1"/>
              </a:pPr>
              <a:r>
                <a:rPr lang="en-US" sz="2799">
                  <a:solidFill>
                    <a:srgbClr val="000000"/>
                  </a:solidFill>
                  <a:latin typeface="Arimo"/>
                  <a:ea typeface="Arimo"/>
                  <a:cs typeface="Arimo"/>
                  <a:sym typeface="Arimo"/>
                </a:rPr>
                <a:t>스킬 리스트</a:t>
              </a:r>
            </a:p>
          </p:txBody>
        </p:sp>
        <p:sp>
          <p:nvSpPr>
            <p:cNvPr name="TextBox 10" id="10"/>
            <p:cNvSpPr txBox="true"/>
            <p:nvPr/>
          </p:nvSpPr>
          <p:spPr>
            <a:xfrm rot="0">
              <a:off x="0" y="4033542"/>
              <a:ext cx="9556219" cy="609812"/>
            </a:xfrm>
            <a:prstGeom prst="rect">
              <a:avLst/>
            </a:prstGeom>
          </p:spPr>
          <p:txBody>
            <a:bodyPr anchor="t" rtlCol="false" tIns="0" lIns="0" bIns="0" rIns="0">
              <a:spAutoFit/>
            </a:bodyPr>
            <a:lstStyle/>
            <a:p>
              <a:pPr algn="l" marL="604519" indent="-302260" lvl="1">
                <a:lnSpc>
                  <a:spcPts val="3639"/>
                </a:lnSpc>
                <a:buAutoNum type="arabicPeriod" startAt="1"/>
              </a:pPr>
              <a:r>
                <a:rPr lang="en-US" sz="2799">
                  <a:solidFill>
                    <a:srgbClr val="000000"/>
                  </a:solidFill>
                  <a:latin typeface="Arimo"/>
                  <a:ea typeface="Arimo"/>
                  <a:cs typeface="Arimo"/>
                  <a:sym typeface="Arimo"/>
                </a:rPr>
                <a:t>예상 전투 흐름</a:t>
              </a:r>
            </a:p>
          </p:txBody>
        </p:sp>
      </p:grpSp>
      <p:grpSp>
        <p:nvGrpSpPr>
          <p:cNvPr name="Group 11" id="11"/>
          <p:cNvGrpSpPr/>
          <p:nvPr/>
        </p:nvGrpSpPr>
        <p:grpSpPr>
          <a:xfrm rot="0">
            <a:off x="9337054" y="5775785"/>
            <a:ext cx="7167164" cy="2462224"/>
            <a:chOff x="0" y="0"/>
            <a:chExt cx="9556219" cy="3282965"/>
          </a:xfrm>
        </p:grpSpPr>
        <p:sp>
          <p:nvSpPr>
            <p:cNvPr name="TextBox 12" id="12"/>
            <p:cNvSpPr txBox="true"/>
            <p:nvPr/>
          </p:nvSpPr>
          <p:spPr>
            <a:xfrm rot="0">
              <a:off x="0" y="-47625"/>
              <a:ext cx="9556219" cy="609812"/>
            </a:xfrm>
            <a:prstGeom prst="rect">
              <a:avLst/>
            </a:prstGeom>
          </p:spPr>
          <p:txBody>
            <a:bodyPr anchor="t" rtlCol="false" tIns="0" lIns="0" bIns="0" rIns="0">
              <a:spAutoFit/>
            </a:bodyPr>
            <a:lstStyle/>
            <a:p>
              <a:pPr algn="l" marL="0" indent="0" lvl="0">
                <a:lnSpc>
                  <a:spcPts val="3639"/>
                </a:lnSpc>
              </a:pPr>
              <a:r>
                <a:rPr lang="en-US" sz="2799">
                  <a:solidFill>
                    <a:srgbClr val="000000"/>
                  </a:solidFill>
                  <a:latin typeface="Arimo"/>
                  <a:ea typeface="Arimo"/>
                  <a:cs typeface="Arimo"/>
                  <a:sym typeface="Arimo"/>
                </a:rPr>
                <a:t>    5.  </a:t>
              </a:r>
              <a:r>
                <a:rPr lang="en-US" sz="2799">
                  <a:solidFill>
                    <a:srgbClr val="000000"/>
                  </a:solidFill>
                  <a:latin typeface="Arimo"/>
                  <a:ea typeface="Arimo"/>
                  <a:cs typeface="Arimo"/>
                  <a:sym typeface="Arimo"/>
                </a:rPr>
                <a:t>에니메이션 로직 + 리스트</a:t>
              </a:r>
            </a:p>
          </p:txBody>
        </p:sp>
        <p:sp>
          <p:nvSpPr>
            <p:cNvPr name="AutoShape 13" id="13"/>
            <p:cNvSpPr/>
            <p:nvPr/>
          </p:nvSpPr>
          <p:spPr>
            <a:xfrm>
              <a:off x="604492" y="961288"/>
              <a:ext cx="8951726" cy="0"/>
            </a:xfrm>
            <a:prstGeom prst="line">
              <a:avLst/>
            </a:prstGeom>
            <a:ln cap="rnd" w="38100">
              <a:solidFill>
                <a:srgbClr val="000000"/>
              </a:solidFill>
              <a:prstDash val="solid"/>
              <a:headEnd type="none" len="sm" w="sm"/>
              <a:tailEnd type="none" len="sm" w="sm"/>
            </a:ln>
          </p:spPr>
        </p:sp>
        <p:sp>
          <p:nvSpPr>
            <p:cNvPr name="AutoShape 14" id="14"/>
            <p:cNvSpPr/>
            <p:nvPr/>
          </p:nvSpPr>
          <p:spPr>
            <a:xfrm>
              <a:off x="604492" y="2321677"/>
              <a:ext cx="8951726" cy="0"/>
            </a:xfrm>
            <a:prstGeom prst="line">
              <a:avLst/>
            </a:prstGeom>
            <a:ln cap="rnd" w="38100">
              <a:solidFill>
                <a:srgbClr val="000000"/>
              </a:solidFill>
              <a:prstDash val="solid"/>
              <a:headEnd type="none" len="sm" w="sm"/>
              <a:tailEnd type="none" len="sm" w="sm"/>
            </a:ln>
          </p:spPr>
        </p:sp>
        <p:sp>
          <p:nvSpPr>
            <p:cNvPr name="TextBox 15" id="15"/>
            <p:cNvSpPr txBox="true"/>
            <p:nvPr/>
          </p:nvSpPr>
          <p:spPr>
            <a:xfrm rot="0">
              <a:off x="0" y="1312764"/>
              <a:ext cx="9556219" cy="609812"/>
            </a:xfrm>
            <a:prstGeom prst="rect">
              <a:avLst/>
            </a:prstGeom>
          </p:spPr>
          <p:txBody>
            <a:bodyPr anchor="t" rtlCol="false" tIns="0" lIns="0" bIns="0" rIns="0">
              <a:spAutoFit/>
            </a:bodyPr>
            <a:lstStyle/>
            <a:p>
              <a:pPr algn="l" marL="0" indent="0" lvl="0">
                <a:lnSpc>
                  <a:spcPts val="3639"/>
                </a:lnSpc>
              </a:pPr>
              <a:r>
                <a:rPr lang="en-US" sz="2799">
                  <a:solidFill>
                    <a:srgbClr val="000000"/>
                  </a:solidFill>
                  <a:latin typeface="Arimo"/>
                  <a:ea typeface="Arimo"/>
                  <a:cs typeface="Arimo"/>
                  <a:sym typeface="Arimo"/>
                </a:rPr>
                <a:t>    6. </a:t>
              </a:r>
              <a:r>
                <a:rPr lang="en-US" sz="2799">
                  <a:solidFill>
                    <a:srgbClr val="000000"/>
                  </a:solidFill>
                  <a:latin typeface="Arimo"/>
                  <a:ea typeface="Arimo"/>
                  <a:cs typeface="Arimo"/>
                  <a:sym typeface="Arimo"/>
                </a:rPr>
                <a:t>상황별 위험도</a:t>
              </a:r>
            </a:p>
          </p:txBody>
        </p:sp>
        <p:sp>
          <p:nvSpPr>
            <p:cNvPr name="TextBox 16" id="16"/>
            <p:cNvSpPr txBox="true"/>
            <p:nvPr/>
          </p:nvSpPr>
          <p:spPr>
            <a:xfrm rot="0">
              <a:off x="0" y="2673153"/>
              <a:ext cx="9556219" cy="609812"/>
            </a:xfrm>
            <a:prstGeom prst="rect">
              <a:avLst/>
            </a:prstGeom>
          </p:spPr>
          <p:txBody>
            <a:bodyPr anchor="t" rtlCol="false" tIns="0" lIns="0" bIns="0" rIns="0">
              <a:spAutoFit/>
            </a:bodyPr>
            <a:lstStyle/>
            <a:p>
              <a:pPr algn="l" marL="0" indent="0" lvl="0">
                <a:lnSpc>
                  <a:spcPts val="3639"/>
                </a:lnSpc>
              </a:pPr>
              <a:r>
                <a:rPr lang="en-US" sz="2799">
                  <a:solidFill>
                    <a:srgbClr val="000000"/>
                  </a:solidFill>
                  <a:latin typeface="Arimo"/>
                  <a:ea typeface="Arimo"/>
                  <a:cs typeface="Arimo"/>
                  <a:sym typeface="Arimo"/>
                </a:rPr>
                <a:t>    7. </a:t>
              </a:r>
              <a:r>
                <a:rPr lang="en-US" sz="2799">
                  <a:solidFill>
                    <a:srgbClr val="000000"/>
                  </a:solidFill>
                  <a:latin typeface="Arimo"/>
                  <a:ea typeface="Arimo"/>
                  <a:cs typeface="Arimo"/>
                  <a:sym typeface="Arimo"/>
                </a:rPr>
                <a:t>보스 공략 보상</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FFFFF"/>
            </a:solidFill>
          </p:spPr>
        </p:sp>
      </p:grpSp>
      <p:grpSp>
        <p:nvGrpSpPr>
          <p:cNvPr name="Group 4" id="4"/>
          <p:cNvGrpSpPr/>
          <p:nvPr/>
        </p:nvGrpSpPr>
        <p:grpSpPr>
          <a:xfrm rot="0">
            <a:off x="3396193" y="2178842"/>
            <a:ext cx="12741423" cy="5929315"/>
            <a:chOff x="0" y="0"/>
            <a:chExt cx="16988563" cy="7905754"/>
          </a:xfrm>
        </p:grpSpPr>
        <p:sp>
          <p:nvSpPr>
            <p:cNvPr name="TextBox 5" id="5"/>
            <p:cNvSpPr txBox="true"/>
            <p:nvPr/>
          </p:nvSpPr>
          <p:spPr>
            <a:xfrm rot="0">
              <a:off x="0" y="2751121"/>
              <a:ext cx="16988563" cy="5154633"/>
            </a:xfrm>
            <a:prstGeom prst="rect">
              <a:avLst/>
            </a:prstGeom>
          </p:spPr>
          <p:txBody>
            <a:bodyPr anchor="t" rtlCol="false" tIns="0" lIns="0" bIns="0" rIns="0">
              <a:spAutoFit/>
            </a:bodyPr>
            <a:lstStyle/>
            <a:p>
              <a:pPr algn="l" marL="0" indent="0" lvl="0">
                <a:lnSpc>
                  <a:spcPts val="3871"/>
                </a:lnSpc>
                <a:spcBef>
                  <a:spcPct val="0"/>
                </a:spcBef>
              </a:pPr>
              <a:r>
                <a:rPr lang="en-US" sz="2765">
                  <a:solidFill>
                    <a:srgbClr val="44546A"/>
                  </a:solidFill>
                  <a:latin typeface="Arimo"/>
                  <a:ea typeface="Arimo"/>
                  <a:cs typeface="Arimo"/>
                  <a:sym typeface="Arimo"/>
                </a:rPr>
                <a:t>크로노는 시간 관리국의 소장이다. 주인공은 크로노가 가지지 못한 능력을 가지고 있었다. 크로노는 주인공의 능력을 가지게 되면 시간 여행을 할 수 있게된다. 크로노에게는 아내가 있었다. 아내는 사고를 당해 죽게된다. 이 사건으로 크로노는 뒤틀린 정의감을 가지게 된다. 크로노는 다시는 이런 일이 발생하지 않도록 시간 여행 능력을 통해 모두가 자신의 미래를 알게되는 세계를 만드려고 한다. 그래서 크로노는 주인공을 손에 넣기 위해 주인공의 부모님을 납치하게 된다.</a:t>
              </a:r>
            </a:p>
            <a:p>
              <a:pPr algn="l" marL="0" indent="0" lvl="0">
                <a:lnSpc>
                  <a:spcPts val="3871"/>
                </a:lnSpc>
                <a:spcBef>
                  <a:spcPct val="0"/>
                </a:spcBef>
              </a:pPr>
            </a:p>
            <a:p>
              <a:pPr algn="l" marL="0" indent="0" lvl="0">
                <a:lnSpc>
                  <a:spcPts val="3871"/>
                </a:lnSpc>
                <a:spcBef>
                  <a:spcPct val="0"/>
                </a:spcBef>
              </a:pPr>
              <a:r>
                <a:rPr lang="en-US" sz="2765">
                  <a:solidFill>
                    <a:srgbClr val="44546A"/>
                  </a:solidFill>
                  <a:latin typeface="Arimo"/>
                  <a:ea typeface="Arimo"/>
                  <a:cs typeface="Arimo"/>
                  <a:sym typeface="Arimo"/>
                </a:rPr>
                <a:t>주인공은 시간 관리국의 하청업체의 사장들과 여러 적들을 물리친후 크로노와 만나게 됨.</a:t>
              </a:r>
            </a:p>
          </p:txBody>
        </p:sp>
        <p:sp>
          <p:nvSpPr>
            <p:cNvPr name="TextBox 6" id="6"/>
            <p:cNvSpPr txBox="true"/>
            <p:nvPr/>
          </p:nvSpPr>
          <p:spPr>
            <a:xfrm rot="0">
              <a:off x="0" y="142875"/>
              <a:ext cx="16988563" cy="1779057"/>
            </a:xfrm>
            <a:prstGeom prst="rect">
              <a:avLst/>
            </a:prstGeom>
          </p:spPr>
          <p:txBody>
            <a:bodyPr anchor="t" rtlCol="false" tIns="0" lIns="0" bIns="0" rIns="0">
              <a:spAutoFit/>
            </a:bodyPr>
            <a:lstStyle/>
            <a:p>
              <a:pPr algn="l" marL="0" indent="0" lvl="0">
                <a:lnSpc>
                  <a:spcPts val="9499"/>
                </a:lnSpc>
              </a:pPr>
              <a:r>
                <a:rPr lang="en-US" sz="9499">
                  <a:solidFill>
                    <a:srgbClr val="44546A"/>
                  </a:solidFill>
                  <a:latin typeface="Arimo"/>
                  <a:ea typeface="Arimo"/>
                  <a:cs typeface="Arimo"/>
                  <a:sym typeface="Arimo"/>
                </a:rPr>
                <a:t>시놉시스</a:t>
              </a:r>
            </a:p>
          </p:txBody>
        </p:sp>
      </p:grpSp>
      <p:sp>
        <p:nvSpPr>
          <p:cNvPr name="Freeform 7" id="7"/>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495800"/>
            <a:ext cx="4549535" cy="1257300"/>
          </a:xfrm>
          <a:prstGeom prst="rect">
            <a:avLst/>
          </a:prstGeom>
        </p:spPr>
        <p:txBody>
          <a:bodyPr anchor="t" rtlCol="false" tIns="0" lIns="0" bIns="0" rIns="0">
            <a:spAutoFit/>
          </a:bodyPr>
          <a:lstStyle/>
          <a:p>
            <a:pPr algn="l" marL="0" indent="0" lvl="0">
              <a:lnSpc>
                <a:spcPts val="9600"/>
              </a:lnSpc>
            </a:pPr>
            <a:r>
              <a:rPr lang="en-US" sz="8000" u="none">
                <a:solidFill>
                  <a:srgbClr val="000000"/>
                </a:solidFill>
                <a:latin typeface="Arimo"/>
                <a:ea typeface="Arimo"/>
                <a:cs typeface="Arimo"/>
                <a:sym typeface="Arimo"/>
              </a:rPr>
              <a:t>기본 정보</a:t>
            </a:r>
          </a:p>
        </p:txBody>
      </p:sp>
      <p:graphicFrame>
        <p:nvGraphicFramePr>
          <p:cNvPr name="Table 3" id="3"/>
          <p:cNvGraphicFramePr>
            <a:graphicFrameLocks noGrp="true"/>
          </p:cNvGraphicFramePr>
          <p:nvPr/>
        </p:nvGraphicFramePr>
        <p:xfrm>
          <a:off x="6318853" y="1290977"/>
          <a:ext cx="8342248" cy="7014619"/>
        </p:xfrm>
        <a:graphic>
          <a:graphicData uri="http://schemas.openxmlformats.org/drawingml/2006/table">
            <a:tbl>
              <a:tblPr/>
              <a:tblGrid>
                <a:gridCol w="3950567"/>
                <a:gridCol w="4391681"/>
              </a:tblGrid>
              <a:tr h="811214">
                <a:tc>
                  <a:txBody>
                    <a:bodyPr anchor="t" rtlCol="false"/>
                    <a:lstStyle/>
                    <a:p>
                      <a:pPr algn="l">
                        <a:lnSpc>
                          <a:spcPts val="3506"/>
                        </a:lnSpc>
                        <a:defRPr/>
                      </a:pPr>
                      <a:r>
                        <a:rPr lang="en-US" b="true" sz="2922">
                          <a:solidFill>
                            <a:srgbClr val="FFFFFF"/>
                          </a:solidFill>
                          <a:latin typeface="Arimo Bold"/>
                          <a:ea typeface="Arimo Bold"/>
                          <a:cs typeface="Arimo Bold"/>
                          <a:sym typeface="Arimo Bold"/>
                        </a:rPr>
                        <a:t>             항목</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000000"/>
                    </a:solidFill>
                  </a:tcPr>
                </a:tc>
                <a:tc>
                  <a:txBody>
                    <a:bodyPr anchor="t" rtlCol="false"/>
                    <a:lstStyle/>
                    <a:p>
                      <a:pPr algn="l">
                        <a:lnSpc>
                          <a:spcPts val="3506"/>
                        </a:lnSpc>
                        <a:defRPr/>
                      </a:pPr>
                      <a:r>
                        <a:rPr lang="en-US" b="true" sz="2922">
                          <a:solidFill>
                            <a:srgbClr val="FFFFFF"/>
                          </a:solidFill>
                          <a:latin typeface="Arimo Bold"/>
                          <a:ea typeface="Arimo Bold"/>
                          <a:cs typeface="Arimo Bold"/>
                          <a:sym typeface="Arimo Bold"/>
                        </a:rPr>
                        <a:t>             내용</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000000"/>
                    </a:solidFill>
                  </a:tcPr>
                </a:tc>
              </a:tr>
              <a:tr h="811214">
                <a:tc>
                  <a:txBody>
                    <a:bodyPr anchor="t" rtlCol="false"/>
                    <a:lstStyle/>
                    <a:p>
                      <a:pPr algn="l">
                        <a:lnSpc>
                          <a:spcPts val="3506"/>
                        </a:lnSpc>
                        <a:defRPr/>
                      </a:pPr>
                      <a:r>
                        <a:rPr lang="en-US" sz="2922">
                          <a:solidFill>
                            <a:srgbClr val="000000"/>
                          </a:solidFill>
                          <a:latin typeface="Arimo"/>
                          <a:ea typeface="Arimo"/>
                          <a:cs typeface="Arimo"/>
                          <a:sym typeface="Arimo"/>
                        </a:rPr>
                        <a:t>          몬스터 명</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FFC000"/>
                    </a:solidFill>
                  </a:tcPr>
                </a:tc>
                <a:tc>
                  <a:txBody>
                    <a:bodyPr anchor="t" rtlCol="false"/>
                    <a:lstStyle/>
                    <a:p>
                      <a:pPr algn="l">
                        <a:lnSpc>
                          <a:spcPts val="3506"/>
                        </a:lnSpc>
                        <a:defRPr/>
                      </a:pPr>
                      <a:r>
                        <a:rPr lang="en-US" sz="2922">
                          <a:solidFill>
                            <a:srgbClr val="000000"/>
                          </a:solidFill>
                          <a:latin typeface="Arimo"/>
                          <a:ea typeface="Arimo"/>
                          <a:cs typeface="Arimo"/>
                          <a:sym typeface="Arimo"/>
                        </a:rPr>
                        <a:t>크로노</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ABA7A7"/>
                    </a:solidFill>
                  </a:tcPr>
                </a:tc>
              </a:tr>
              <a:tr h="811214">
                <a:tc>
                  <a:txBody>
                    <a:bodyPr anchor="t" rtlCol="false"/>
                    <a:lstStyle/>
                    <a:p>
                      <a:pPr algn="l">
                        <a:lnSpc>
                          <a:spcPts val="3506"/>
                        </a:lnSpc>
                        <a:defRPr/>
                      </a:pPr>
                      <a:r>
                        <a:rPr lang="en-US" sz="2922">
                          <a:solidFill>
                            <a:srgbClr val="000000"/>
                          </a:solidFill>
                          <a:latin typeface="Arimo"/>
                          <a:ea typeface="Arimo"/>
                          <a:cs typeface="Arimo"/>
                          <a:sym typeface="Arimo"/>
                        </a:rPr>
                        <a:t>         몬스터 등급</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FFC000"/>
                    </a:solidFill>
                  </a:tcPr>
                </a:tc>
                <a:tc>
                  <a:txBody>
                    <a:bodyPr anchor="t" rtlCol="false"/>
                    <a:lstStyle/>
                    <a:p>
                      <a:pPr algn="l">
                        <a:lnSpc>
                          <a:spcPts val="3506"/>
                        </a:lnSpc>
                        <a:defRPr/>
                      </a:pPr>
                      <a:r>
                        <a:rPr lang="en-US" sz="2922">
                          <a:solidFill>
                            <a:srgbClr val="000000"/>
                          </a:solidFill>
                          <a:latin typeface="Arimo"/>
                          <a:ea typeface="Arimo"/>
                          <a:cs typeface="Arimo"/>
                          <a:sym typeface="Arimo"/>
                        </a:rPr>
                        <a:t>최종 보스</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ABA7A7"/>
                    </a:solidFill>
                  </a:tcPr>
                </a:tc>
              </a:tr>
              <a:tr h="811214">
                <a:tc>
                  <a:txBody>
                    <a:bodyPr anchor="t" rtlCol="false"/>
                    <a:lstStyle/>
                    <a:p>
                      <a:pPr algn="l">
                        <a:lnSpc>
                          <a:spcPts val="3506"/>
                        </a:lnSpc>
                        <a:defRPr/>
                      </a:pPr>
                      <a:r>
                        <a:rPr lang="en-US" sz="2922">
                          <a:solidFill>
                            <a:srgbClr val="000000"/>
                          </a:solidFill>
                          <a:latin typeface="Arimo"/>
                          <a:ea typeface="Arimo"/>
                          <a:cs typeface="Arimo"/>
                          <a:sym typeface="Arimo"/>
                        </a:rPr>
                        <a:t>   몬스터(히트박스) 크기</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FFC000"/>
                    </a:solidFill>
                  </a:tcPr>
                </a:tc>
                <a:tc>
                  <a:txBody>
                    <a:bodyPr anchor="t" rtlCol="false"/>
                    <a:lstStyle/>
                    <a:p>
                      <a:pPr algn="l">
                        <a:lnSpc>
                          <a:spcPts val="3506"/>
                        </a:lnSpc>
                        <a:defRPr/>
                      </a:pPr>
                      <a:r>
                        <a:rPr lang="en-US" sz="2922">
                          <a:solidFill>
                            <a:srgbClr val="000000"/>
                          </a:solidFill>
                          <a:latin typeface="Arimo"/>
                          <a:ea typeface="Arimo"/>
                          <a:cs typeface="Arimo"/>
                          <a:sym typeface="Arimo"/>
                        </a:rPr>
                        <a:t>중형</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ABA7A7"/>
                    </a:solidFill>
                  </a:tcPr>
                </a:tc>
              </a:tr>
              <a:tr h="811214">
                <a:tc>
                  <a:txBody>
                    <a:bodyPr anchor="t" rtlCol="false"/>
                    <a:lstStyle/>
                    <a:p>
                      <a:pPr algn="l">
                        <a:lnSpc>
                          <a:spcPts val="3506"/>
                        </a:lnSpc>
                        <a:defRPr/>
                      </a:pPr>
                      <a:r>
                        <a:rPr lang="en-US" sz="2922">
                          <a:solidFill>
                            <a:srgbClr val="000000"/>
                          </a:solidFill>
                          <a:latin typeface="Arimo"/>
                          <a:ea typeface="Arimo"/>
                          <a:cs typeface="Arimo"/>
                          <a:sym typeface="Arimo"/>
                        </a:rPr>
                        <a:t>             종족</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FFC000"/>
                    </a:solidFill>
                  </a:tcPr>
                </a:tc>
                <a:tc>
                  <a:txBody>
                    <a:bodyPr anchor="t" rtlCol="false"/>
                    <a:lstStyle/>
                    <a:p>
                      <a:pPr algn="l">
                        <a:lnSpc>
                          <a:spcPts val="3506"/>
                        </a:lnSpc>
                        <a:defRPr/>
                      </a:pPr>
                      <a:r>
                        <a:rPr lang="en-US" sz="2922">
                          <a:solidFill>
                            <a:srgbClr val="000000"/>
                          </a:solidFill>
                          <a:latin typeface="Arimo"/>
                          <a:ea typeface="Arimo"/>
                          <a:cs typeface="Arimo"/>
                          <a:sym typeface="Arimo"/>
                        </a:rPr>
                        <a:t>기계인</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ABA7A7"/>
                    </a:solidFill>
                  </a:tcPr>
                </a:tc>
              </a:tr>
              <a:tr h="2147332">
                <a:tc>
                  <a:txBody>
                    <a:bodyPr anchor="t" rtlCol="false"/>
                    <a:lstStyle/>
                    <a:p>
                      <a:pPr algn="l">
                        <a:lnSpc>
                          <a:spcPts val="3506"/>
                        </a:lnSpc>
                        <a:defRPr/>
                      </a:pPr>
                      <a:r>
                        <a:rPr lang="en-US" sz="2922">
                          <a:solidFill>
                            <a:srgbClr val="000000"/>
                          </a:solidFill>
                          <a:latin typeface="Arimo"/>
                          <a:ea typeface="Arimo"/>
                          <a:cs typeface="Arimo"/>
                          <a:sym typeface="Arimo"/>
                        </a:rPr>
                        <a:t>         </a:t>
                      </a:r>
                      <a:endParaRPr lang="en-US" sz="1100"/>
                    </a:p>
                    <a:p>
                      <a:pPr algn="l">
                        <a:lnSpc>
                          <a:spcPts val="3506"/>
                        </a:lnSpc>
                      </a:pPr>
                      <a:r>
                        <a:rPr lang="en-US" sz="2922">
                          <a:solidFill>
                            <a:srgbClr val="000000"/>
                          </a:solidFill>
                          <a:latin typeface="Arimo"/>
                          <a:ea typeface="Arimo"/>
                          <a:cs typeface="Arimo"/>
                          <a:sym typeface="Arimo"/>
                        </a:rPr>
                        <a:t>          사용 스킬</a:t>
                      </a:r>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FFC000"/>
                    </a:solidFill>
                  </a:tcPr>
                </a:tc>
                <a:tc>
                  <a:txBody>
                    <a:bodyPr anchor="t" rtlCol="false"/>
                    <a:lstStyle/>
                    <a:p>
                      <a:pPr algn="l">
                        <a:lnSpc>
                          <a:spcPts val="3506"/>
                        </a:lnSpc>
                        <a:defRPr/>
                      </a:pPr>
                      <a:r>
                        <a:rPr lang="en-US" sz="2922">
                          <a:solidFill>
                            <a:srgbClr val="000000"/>
                          </a:solidFill>
                          <a:latin typeface="Arimo"/>
                          <a:ea typeface="Arimo"/>
                          <a:cs typeface="Arimo"/>
                          <a:sym typeface="Arimo"/>
                        </a:rPr>
                        <a:t>텔레포트, 시간 되감기, 시간 정지, 시간 가속, 부하 소환, 비상 탈출, 회피 텔레포트</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ABA7A7"/>
                    </a:solidFill>
                  </a:tcPr>
                </a:tc>
              </a:tr>
              <a:tr h="811214">
                <a:tc>
                  <a:txBody>
                    <a:bodyPr anchor="t" rtlCol="false"/>
                    <a:lstStyle/>
                    <a:p>
                      <a:pPr algn="l">
                        <a:lnSpc>
                          <a:spcPts val="3506"/>
                        </a:lnSpc>
                        <a:defRPr/>
                      </a:pPr>
                      <a:r>
                        <a:rPr lang="en-US" sz="2922">
                          <a:solidFill>
                            <a:srgbClr val="000000"/>
                          </a:solidFill>
                          <a:latin typeface="Arimo"/>
                          <a:ea typeface="Arimo"/>
                          <a:cs typeface="Arimo"/>
                          <a:sym typeface="Arimo"/>
                        </a:rPr>
                        <a:t>            페이즈</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FFC000"/>
                    </a:solidFill>
                  </a:tcPr>
                </a:tc>
                <a:tc>
                  <a:txBody>
                    <a:bodyPr anchor="t" rtlCol="false"/>
                    <a:lstStyle/>
                    <a:p>
                      <a:pPr algn="l">
                        <a:lnSpc>
                          <a:spcPts val="3506"/>
                        </a:lnSpc>
                        <a:defRPr/>
                      </a:pPr>
                      <a:r>
                        <a:rPr lang="en-US" sz="2922">
                          <a:solidFill>
                            <a:srgbClr val="000000"/>
                          </a:solidFill>
                          <a:latin typeface="Arimo"/>
                          <a:ea typeface="Arimo"/>
                          <a:cs typeface="Arimo"/>
                          <a:sym typeface="Arimo"/>
                        </a:rPr>
                        <a:t>3</a:t>
                      </a:r>
                      <a:endParaRPr lang="en-US" sz="1100"/>
                    </a:p>
                  </a:txBody>
                  <a:tcPr marL="98959" marR="98959" marT="98959" marB="98959" anchor="t">
                    <a:lnL cmpd="sng" algn="ctr" cap="flat" w="13744">
                      <a:solidFill>
                        <a:srgbClr val="000000"/>
                      </a:solidFill>
                      <a:prstDash val="solid"/>
                      <a:round/>
                      <a:headEnd type="none" w="med" len="med"/>
                      <a:tailEnd type="none" w="med" len="med"/>
                    </a:lnL>
                    <a:lnR cmpd="sng" algn="ctr" cap="flat" w="13744">
                      <a:solidFill>
                        <a:srgbClr val="000000"/>
                      </a:solidFill>
                      <a:prstDash val="solid"/>
                      <a:round/>
                      <a:headEnd type="none" w="med" len="med"/>
                      <a:tailEnd type="none" w="med" len="med"/>
                    </a:lnR>
                    <a:lnT cmpd="sng" algn="ctr" cap="flat" w="13744">
                      <a:solidFill>
                        <a:srgbClr val="000000"/>
                      </a:solidFill>
                      <a:prstDash val="solid"/>
                      <a:round/>
                      <a:headEnd type="none" w="med" len="med"/>
                      <a:tailEnd type="none" w="med" len="med"/>
                    </a:lnT>
                    <a:lnB cmpd="sng" algn="ctr" cap="flat" w="13744">
                      <a:solidFill>
                        <a:srgbClr val="000000"/>
                      </a:solidFill>
                      <a:prstDash val="solid"/>
                      <a:round/>
                      <a:headEnd type="none" w="med" len="med"/>
                      <a:tailEnd type="none" w="med" len="med"/>
                    </a:lnB>
                    <a:solidFill>
                      <a:srgbClr val="ABA7A7"/>
                    </a:solidFill>
                  </a:tcPr>
                </a:tc>
              </a:tr>
            </a:tbl>
          </a:graphicData>
        </a:graphic>
      </p:graphicFrame>
      <p:grpSp>
        <p:nvGrpSpPr>
          <p:cNvPr name="Group 4" id="4"/>
          <p:cNvGrpSpPr/>
          <p:nvPr/>
        </p:nvGrpSpPr>
        <p:grpSpPr>
          <a:xfrm rot="0">
            <a:off x="14661101" y="1290977"/>
            <a:ext cx="2967029" cy="7014619"/>
            <a:chOff x="0" y="0"/>
            <a:chExt cx="2922270" cy="6908800"/>
          </a:xfrm>
        </p:grpSpPr>
        <p:sp>
          <p:nvSpPr>
            <p:cNvPr name="Freeform 5" id="5" descr="만화 영화, 의류이(가) 표시된 사진  AI 생성 콘텐츠는 정확하지 않을 수 있습니다."/>
            <p:cNvSpPr/>
            <p:nvPr/>
          </p:nvSpPr>
          <p:spPr>
            <a:xfrm flipH="false" flipV="false" rot="0">
              <a:off x="0" y="0"/>
              <a:ext cx="2922270" cy="6908800"/>
            </a:xfrm>
            <a:custGeom>
              <a:avLst/>
              <a:gdLst/>
              <a:ahLst/>
              <a:cxnLst/>
              <a:rect r="r" b="b" t="t" l="l"/>
              <a:pathLst>
                <a:path h="6908800" w="2922270">
                  <a:moveTo>
                    <a:pt x="0" y="0"/>
                  </a:moveTo>
                  <a:lnTo>
                    <a:pt x="2922270" y="0"/>
                  </a:lnTo>
                  <a:lnTo>
                    <a:pt x="2922270" y="6908800"/>
                  </a:lnTo>
                  <a:lnTo>
                    <a:pt x="0" y="6908800"/>
                  </a:lnTo>
                  <a:lnTo>
                    <a:pt x="0" y="0"/>
                  </a:lnTo>
                  <a:close/>
                </a:path>
              </a:pathLst>
            </a:custGeom>
            <a:blipFill>
              <a:blip r:embed="rId2"/>
              <a:stretch>
                <a:fillRect l="0" t="-1164" r="0" b="-1164"/>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87875" y="859155"/>
            <a:ext cx="4453290" cy="3317310"/>
            <a:chOff x="0" y="0"/>
            <a:chExt cx="5937720" cy="4423080"/>
          </a:xfrm>
        </p:grpSpPr>
        <p:sp>
          <p:nvSpPr>
            <p:cNvPr name="Freeform 3" id="3"/>
            <p:cNvSpPr/>
            <p:nvPr/>
          </p:nvSpPr>
          <p:spPr>
            <a:xfrm flipH="false" flipV="false" rot="0">
              <a:off x="0" y="0"/>
              <a:ext cx="5937758" cy="4423029"/>
            </a:xfrm>
            <a:custGeom>
              <a:avLst/>
              <a:gdLst/>
              <a:ahLst/>
              <a:cxnLst/>
              <a:rect r="r" b="b" t="t" l="l"/>
              <a:pathLst>
                <a:path h="4423029" w="5937758">
                  <a:moveTo>
                    <a:pt x="0" y="0"/>
                  </a:moveTo>
                  <a:lnTo>
                    <a:pt x="5937758" y="0"/>
                  </a:lnTo>
                  <a:lnTo>
                    <a:pt x="5937758" y="4423029"/>
                  </a:lnTo>
                  <a:lnTo>
                    <a:pt x="0" y="4423029"/>
                  </a:lnTo>
                  <a:close/>
                </a:path>
              </a:pathLst>
            </a:custGeom>
            <a:solidFill>
              <a:srgbClr val="A5A5A5"/>
            </a:solidFill>
            <a:ln w="19050" cap="sq">
              <a:solidFill>
                <a:srgbClr val="223F59"/>
              </a:solidFill>
              <a:prstDash val="solid"/>
              <a:miter/>
            </a:ln>
          </p:spPr>
        </p:sp>
      </p:grpSp>
      <p:grpSp>
        <p:nvGrpSpPr>
          <p:cNvPr name="Group 4" id="4"/>
          <p:cNvGrpSpPr/>
          <p:nvPr/>
        </p:nvGrpSpPr>
        <p:grpSpPr>
          <a:xfrm rot="0">
            <a:off x="7004209" y="-4534"/>
            <a:ext cx="4279582" cy="10287000"/>
            <a:chOff x="0" y="0"/>
            <a:chExt cx="5706110" cy="13716000"/>
          </a:xfrm>
        </p:grpSpPr>
        <p:sp>
          <p:nvSpPr>
            <p:cNvPr name="Freeform 5" id="5" descr="만화 영화, 의류이(가) 표시된 사진  AI 생성 콘텐츠는 정확하지 않을 수 있습니다."/>
            <p:cNvSpPr/>
            <p:nvPr/>
          </p:nvSpPr>
          <p:spPr>
            <a:xfrm flipH="false" flipV="false" rot="0">
              <a:off x="0" y="0"/>
              <a:ext cx="5706110" cy="13716000"/>
            </a:xfrm>
            <a:custGeom>
              <a:avLst/>
              <a:gdLst/>
              <a:ahLst/>
              <a:cxnLst/>
              <a:rect r="r" b="b" t="t" l="l"/>
              <a:pathLst>
                <a:path h="13716000" w="5706110">
                  <a:moveTo>
                    <a:pt x="0" y="0"/>
                  </a:moveTo>
                  <a:lnTo>
                    <a:pt x="5706110" y="0"/>
                  </a:lnTo>
                  <a:lnTo>
                    <a:pt x="5706110" y="13716000"/>
                  </a:lnTo>
                  <a:lnTo>
                    <a:pt x="0" y="13716000"/>
                  </a:lnTo>
                  <a:lnTo>
                    <a:pt x="0" y="0"/>
                  </a:lnTo>
                  <a:close/>
                </a:path>
              </a:pathLst>
            </a:custGeom>
            <a:blipFill>
              <a:blip r:embed="rId2"/>
              <a:stretch>
                <a:fillRect l="0" t="-322" r="0" b="-322"/>
              </a:stretch>
            </a:blipFill>
          </p:spPr>
        </p:sp>
      </p:grpSp>
      <p:sp>
        <p:nvSpPr>
          <p:cNvPr name="TextBox 6" id="6"/>
          <p:cNvSpPr txBox="true"/>
          <p:nvPr/>
        </p:nvSpPr>
        <p:spPr>
          <a:xfrm rot="0">
            <a:off x="12588840" y="895350"/>
            <a:ext cx="4373280" cy="2974600"/>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 얼굴</a:t>
            </a:r>
          </a:p>
          <a:p>
            <a:pPr algn="l">
              <a:lnSpc>
                <a:spcPts val="3240"/>
              </a:lnSpc>
            </a:pPr>
          </a:p>
          <a:p>
            <a:pPr algn="l">
              <a:lnSpc>
                <a:spcPts val="3240"/>
              </a:lnSpc>
            </a:pPr>
            <a:r>
              <a:rPr lang="en-US" sz="2700">
                <a:solidFill>
                  <a:srgbClr val="000000"/>
                </a:solidFill>
                <a:latin typeface="Arimo"/>
                <a:ea typeface="Arimo"/>
                <a:cs typeface="Arimo"/>
                <a:sym typeface="Arimo"/>
              </a:rPr>
              <a:t>평범한 얼굴 대신 시계를 사용</a:t>
            </a:r>
          </a:p>
          <a:p>
            <a:pPr algn="l">
              <a:lnSpc>
                <a:spcPts val="3240"/>
              </a:lnSpc>
            </a:pPr>
          </a:p>
          <a:p>
            <a:pPr algn="l">
              <a:lnSpc>
                <a:spcPts val="3240"/>
              </a:lnSpc>
            </a:pPr>
            <a:r>
              <a:rPr lang="en-US" sz="2700">
                <a:solidFill>
                  <a:srgbClr val="000000"/>
                </a:solidFill>
                <a:latin typeface="Arimo"/>
                <a:ea typeface="Arimo"/>
                <a:cs typeface="Arimo"/>
                <a:sym typeface="Arimo"/>
              </a:rPr>
              <a:t>얼굴의 시계는 감정에 따라 회전 속도가 바뀜</a:t>
            </a:r>
          </a:p>
        </p:txBody>
      </p:sp>
      <p:sp>
        <p:nvSpPr>
          <p:cNvPr name="AutoShape 7" id="7"/>
          <p:cNvSpPr/>
          <p:nvPr/>
        </p:nvSpPr>
        <p:spPr>
          <a:xfrm rot="-1000919">
            <a:off x="9503816" y="1755458"/>
            <a:ext cx="2953207" cy="0"/>
          </a:xfrm>
          <a:prstGeom prst="line">
            <a:avLst/>
          </a:prstGeom>
          <a:ln cap="rnd" w="9525">
            <a:solidFill>
              <a:srgbClr val="A5A5A5"/>
            </a:solidFill>
            <a:prstDash val="solid"/>
            <a:headEnd type="none" len="sm" w="sm"/>
            <a:tailEnd type="triangle" len="med" w="lg"/>
          </a:ln>
        </p:spPr>
      </p:sp>
      <p:grpSp>
        <p:nvGrpSpPr>
          <p:cNvPr name="Group 8" id="8"/>
          <p:cNvGrpSpPr/>
          <p:nvPr/>
        </p:nvGrpSpPr>
        <p:grpSpPr>
          <a:xfrm rot="0">
            <a:off x="889635" y="3632835"/>
            <a:ext cx="4423410" cy="2305050"/>
            <a:chOff x="0" y="0"/>
            <a:chExt cx="5897880" cy="3073400"/>
          </a:xfrm>
        </p:grpSpPr>
        <p:sp>
          <p:nvSpPr>
            <p:cNvPr name="Freeform 9" id="9"/>
            <p:cNvSpPr/>
            <p:nvPr/>
          </p:nvSpPr>
          <p:spPr>
            <a:xfrm flipH="false" flipV="false" rot="0">
              <a:off x="0" y="0"/>
              <a:ext cx="5897880" cy="3073400"/>
            </a:xfrm>
            <a:custGeom>
              <a:avLst/>
              <a:gdLst/>
              <a:ahLst/>
              <a:cxnLst/>
              <a:rect r="r" b="b" t="t" l="l"/>
              <a:pathLst>
                <a:path h="3073400" w="5897880">
                  <a:moveTo>
                    <a:pt x="0" y="0"/>
                  </a:moveTo>
                  <a:lnTo>
                    <a:pt x="5897880" y="0"/>
                  </a:lnTo>
                  <a:lnTo>
                    <a:pt x="5897880" y="3073400"/>
                  </a:lnTo>
                  <a:lnTo>
                    <a:pt x="0" y="3073400"/>
                  </a:lnTo>
                  <a:close/>
                </a:path>
              </a:pathLst>
            </a:custGeom>
            <a:solidFill>
              <a:srgbClr val="A5A5A5"/>
            </a:solidFill>
            <a:ln w="19050" cap="sq">
              <a:solidFill>
                <a:srgbClr val="000000"/>
              </a:solidFill>
              <a:prstDash val="solid"/>
              <a:miter/>
            </a:ln>
          </p:spPr>
        </p:sp>
      </p:grpSp>
      <p:sp>
        <p:nvSpPr>
          <p:cNvPr name="TextBox 10" id="10"/>
          <p:cNvSpPr txBox="true"/>
          <p:nvPr/>
        </p:nvSpPr>
        <p:spPr>
          <a:xfrm rot="0">
            <a:off x="975360" y="3669030"/>
            <a:ext cx="3947160" cy="2143601"/>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  옷</a:t>
            </a:r>
          </a:p>
          <a:p>
            <a:pPr algn="l">
              <a:lnSpc>
                <a:spcPts val="3240"/>
              </a:lnSpc>
            </a:pPr>
          </a:p>
          <a:p>
            <a:pPr algn="l">
              <a:lnSpc>
                <a:spcPts val="3240"/>
              </a:lnSpc>
            </a:pPr>
            <a:r>
              <a:rPr lang="en-US" sz="2700">
                <a:solidFill>
                  <a:srgbClr val="000000"/>
                </a:solidFill>
                <a:latin typeface="Arimo"/>
                <a:ea typeface="Arimo"/>
                <a:cs typeface="Arimo"/>
                <a:sym typeface="Arimo"/>
              </a:rPr>
              <a:t>깔끔한 갈색 정장 </a:t>
            </a:r>
          </a:p>
          <a:p>
            <a:pPr algn="l">
              <a:lnSpc>
                <a:spcPts val="3240"/>
              </a:lnSpc>
            </a:pPr>
          </a:p>
          <a:p>
            <a:pPr algn="l">
              <a:lnSpc>
                <a:spcPts val="3240"/>
              </a:lnSpc>
            </a:pPr>
            <a:r>
              <a:rPr lang="en-US" sz="2700">
                <a:solidFill>
                  <a:srgbClr val="000000"/>
                </a:solidFill>
                <a:latin typeface="Arimo"/>
                <a:ea typeface="Arimo"/>
                <a:cs typeface="Arimo"/>
                <a:sym typeface="Arimo"/>
              </a:rPr>
              <a:t>신사적인 분위기 강조함</a:t>
            </a:r>
          </a:p>
        </p:txBody>
      </p:sp>
      <p:sp>
        <p:nvSpPr>
          <p:cNvPr name="AutoShape 11" id="11"/>
          <p:cNvSpPr/>
          <p:nvPr/>
        </p:nvSpPr>
        <p:spPr>
          <a:xfrm rot="10461900">
            <a:off x="5368347" y="4163378"/>
            <a:ext cx="2735466" cy="0"/>
          </a:xfrm>
          <a:prstGeom prst="line">
            <a:avLst/>
          </a:prstGeom>
          <a:ln cap="rnd" w="9525">
            <a:solidFill>
              <a:srgbClr val="A5A5A5"/>
            </a:solidFill>
            <a:prstDash val="solid"/>
            <a:headEnd type="none" len="sm" w="sm"/>
            <a:tailEnd type="triangle" len="med" w="lg"/>
          </a:ln>
        </p:spPr>
      </p:sp>
      <p:grpSp>
        <p:nvGrpSpPr>
          <p:cNvPr name="Group 12" id="12"/>
          <p:cNvGrpSpPr/>
          <p:nvPr/>
        </p:nvGrpSpPr>
        <p:grpSpPr>
          <a:xfrm rot="0">
            <a:off x="12485075" y="5136785"/>
            <a:ext cx="4573800" cy="3899230"/>
            <a:chOff x="0" y="0"/>
            <a:chExt cx="6098400" cy="5198974"/>
          </a:xfrm>
        </p:grpSpPr>
        <p:sp>
          <p:nvSpPr>
            <p:cNvPr name="Freeform 13" id="13"/>
            <p:cNvSpPr/>
            <p:nvPr/>
          </p:nvSpPr>
          <p:spPr>
            <a:xfrm flipH="false" flipV="false" rot="0">
              <a:off x="0" y="0"/>
              <a:ext cx="6098413" cy="5198999"/>
            </a:xfrm>
            <a:custGeom>
              <a:avLst/>
              <a:gdLst/>
              <a:ahLst/>
              <a:cxnLst/>
              <a:rect r="r" b="b" t="t" l="l"/>
              <a:pathLst>
                <a:path h="5198999" w="6098413">
                  <a:moveTo>
                    <a:pt x="0" y="0"/>
                  </a:moveTo>
                  <a:lnTo>
                    <a:pt x="6098413" y="0"/>
                  </a:lnTo>
                  <a:lnTo>
                    <a:pt x="6098413" y="5198999"/>
                  </a:lnTo>
                  <a:lnTo>
                    <a:pt x="0" y="5198999"/>
                  </a:lnTo>
                  <a:close/>
                </a:path>
              </a:pathLst>
            </a:custGeom>
            <a:solidFill>
              <a:srgbClr val="A5A5A5"/>
            </a:solidFill>
            <a:ln w="19050" cap="sq">
              <a:solidFill>
                <a:srgbClr val="000000"/>
              </a:solidFill>
              <a:prstDash val="solid"/>
              <a:miter/>
            </a:ln>
          </p:spPr>
        </p:sp>
      </p:grpSp>
      <p:sp>
        <p:nvSpPr>
          <p:cNvPr name="AutoShape 14" id="14"/>
          <p:cNvSpPr/>
          <p:nvPr/>
        </p:nvSpPr>
        <p:spPr>
          <a:xfrm rot="-598560">
            <a:off x="10816561" y="5718362"/>
            <a:ext cx="1681267" cy="0"/>
          </a:xfrm>
          <a:prstGeom prst="line">
            <a:avLst/>
          </a:prstGeom>
          <a:ln cap="rnd" w="9525">
            <a:solidFill>
              <a:srgbClr val="A5A5A5"/>
            </a:solidFill>
            <a:prstDash val="solid"/>
            <a:headEnd type="none" len="sm" w="sm"/>
            <a:tailEnd type="triangle" len="med" w="lg"/>
          </a:ln>
        </p:spPr>
      </p:sp>
      <p:sp>
        <p:nvSpPr>
          <p:cNvPr name="TextBox 15" id="15"/>
          <p:cNvSpPr txBox="true"/>
          <p:nvPr/>
        </p:nvSpPr>
        <p:spPr>
          <a:xfrm rot="0">
            <a:off x="12799790" y="5170170"/>
            <a:ext cx="4043210" cy="3805590"/>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지팡이</a:t>
            </a:r>
          </a:p>
          <a:p>
            <a:pPr algn="l">
              <a:lnSpc>
                <a:spcPts val="3240"/>
              </a:lnSpc>
            </a:pPr>
          </a:p>
          <a:p>
            <a:pPr algn="l">
              <a:lnSpc>
                <a:spcPts val="3240"/>
              </a:lnSpc>
            </a:pPr>
            <a:r>
              <a:rPr lang="en-US" sz="2700">
                <a:solidFill>
                  <a:srgbClr val="000000"/>
                </a:solidFill>
                <a:latin typeface="Arimo"/>
                <a:ea typeface="Arimo"/>
                <a:cs typeface="Arimo"/>
                <a:sym typeface="Arimo"/>
              </a:rPr>
              <a:t>평소에 가지고 다니는 지팡이</a:t>
            </a:r>
          </a:p>
          <a:p>
            <a:pPr algn="l">
              <a:lnSpc>
                <a:spcPts val="3240"/>
              </a:lnSpc>
            </a:pPr>
          </a:p>
          <a:p>
            <a:pPr algn="l">
              <a:lnSpc>
                <a:spcPts val="3240"/>
              </a:lnSpc>
            </a:pPr>
            <a:r>
              <a:rPr lang="en-US" sz="2700">
                <a:solidFill>
                  <a:srgbClr val="000000"/>
                </a:solidFill>
                <a:latin typeface="Arimo"/>
                <a:ea typeface="Arimo"/>
                <a:cs typeface="Arimo"/>
                <a:sym typeface="Arimo"/>
              </a:rPr>
              <a:t>전투시에는 사용하지 않음</a:t>
            </a:r>
          </a:p>
          <a:p>
            <a:pPr algn="l">
              <a:lnSpc>
                <a:spcPts val="3240"/>
              </a:lnSpc>
            </a:pPr>
          </a:p>
          <a:p>
            <a:pPr algn="l">
              <a:lnSpc>
                <a:spcPts val="3240"/>
              </a:lnSpc>
            </a:pPr>
            <a:r>
              <a:rPr lang="en-US" sz="2700">
                <a:solidFill>
                  <a:srgbClr val="000000"/>
                </a:solidFill>
                <a:latin typeface="Arimo"/>
                <a:ea typeface="Arimo"/>
                <a:cs typeface="Arimo"/>
                <a:sym typeface="Arimo"/>
              </a:rPr>
              <a:t>아내의 유품</a:t>
            </a:r>
          </a:p>
        </p:txBody>
      </p:sp>
      <p:sp>
        <p:nvSpPr>
          <p:cNvPr name="TextBox 16" id="16"/>
          <p:cNvSpPr txBox="true"/>
          <p:nvPr/>
        </p:nvSpPr>
        <p:spPr>
          <a:xfrm rot="0">
            <a:off x="693020" y="488880"/>
            <a:ext cx="5366680" cy="1516323"/>
          </a:xfrm>
          <a:prstGeom prst="rect">
            <a:avLst/>
          </a:prstGeom>
        </p:spPr>
        <p:txBody>
          <a:bodyPr anchor="t" rtlCol="false" tIns="0" lIns="0" bIns="0" rIns="0">
            <a:spAutoFit/>
          </a:bodyPr>
          <a:lstStyle/>
          <a:p>
            <a:pPr algn="l">
              <a:lnSpc>
                <a:spcPts val="7920"/>
              </a:lnSpc>
            </a:pPr>
            <a:r>
              <a:rPr lang="en-US" sz="6600">
                <a:solidFill>
                  <a:srgbClr val="000000"/>
                </a:solidFill>
                <a:latin typeface="Arimo"/>
                <a:ea typeface="Arimo"/>
                <a:cs typeface="Arimo"/>
                <a:sym typeface="Arimo"/>
              </a:rPr>
              <a:t>캐릭터 설정</a:t>
            </a:r>
          </a:p>
          <a:p>
            <a:pPr algn="l">
              <a:lnSpc>
                <a:spcPts val="79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144000" y="1129940"/>
          <a:ext cx="8629650" cy="8027120"/>
        </p:xfrm>
        <a:graphic>
          <a:graphicData uri="http://schemas.openxmlformats.org/drawingml/2006/table">
            <a:tbl>
              <a:tblPr/>
              <a:tblGrid>
                <a:gridCol w="2546483"/>
                <a:gridCol w="6083167"/>
              </a:tblGrid>
              <a:tr h="824788">
                <a:tc>
                  <a:txBody>
                    <a:bodyPr anchor="t" rtlCol="false"/>
                    <a:lstStyle/>
                    <a:p>
                      <a:pPr algn="l">
                        <a:lnSpc>
                          <a:spcPts val="3545"/>
                        </a:lnSpc>
                        <a:defRPr/>
                      </a:pPr>
                      <a:r>
                        <a:rPr lang="en-US" b="true" sz="2954">
                          <a:solidFill>
                            <a:srgbClr val="FFFFFF"/>
                          </a:solidFill>
                          <a:latin typeface="Arimo Bold"/>
                          <a:ea typeface="Arimo Bold"/>
                          <a:cs typeface="Arimo Bold"/>
                          <a:sym typeface="Arimo Bold"/>
                        </a:rPr>
                        <a:t>     항목</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070A18"/>
                    </a:solidFill>
                  </a:tcPr>
                </a:tc>
                <a:tc>
                  <a:txBody>
                    <a:bodyPr anchor="t" rtlCol="false"/>
                    <a:lstStyle/>
                    <a:p>
                      <a:pPr algn="l">
                        <a:lnSpc>
                          <a:spcPts val="3545"/>
                        </a:lnSpc>
                        <a:defRPr/>
                      </a:pPr>
                      <a:r>
                        <a:rPr lang="en-US" b="true" sz="2954">
                          <a:solidFill>
                            <a:srgbClr val="FFFFFF"/>
                          </a:solidFill>
                          <a:latin typeface="Arimo Bold"/>
                          <a:ea typeface="Arimo Bold"/>
                          <a:cs typeface="Arimo Bold"/>
                          <a:sym typeface="Arimo Bold"/>
                        </a:rPr>
                        <a:t>                  내용</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070A18"/>
                    </a:solidFill>
                  </a:tcPr>
                </a:tc>
              </a:tr>
              <a:tr h="1273724">
                <a:tc>
                  <a:txBody>
                    <a:bodyPr anchor="t" rtlCol="false"/>
                    <a:lstStyle/>
                    <a:p>
                      <a:pPr algn="l">
                        <a:lnSpc>
                          <a:spcPts val="3545"/>
                        </a:lnSpc>
                        <a:defRPr/>
                      </a:pPr>
                      <a:r>
                        <a:rPr lang="en-US" sz="2954">
                          <a:solidFill>
                            <a:srgbClr val="000000"/>
                          </a:solidFill>
                          <a:latin typeface="Arimo"/>
                          <a:ea typeface="Arimo"/>
                          <a:cs typeface="Arimo"/>
                          <a:sym typeface="Arimo"/>
                        </a:rPr>
                        <a:t>  시전 조건</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텔레포트 사용 후 사거리 내 PC 존재시</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824788">
                <a:tc>
                  <a:txBody>
                    <a:bodyPr anchor="t" rtlCol="false"/>
                    <a:lstStyle/>
                    <a:p>
                      <a:pPr algn="l">
                        <a:lnSpc>
                          <a:spcPts val="3545"/>
                        </a:lnSpc>
                        <a:defRPr/>
                      </a:pPr>
                      <a:r>
                        <a:rPr lang="en-US" sz="2954">
                          <a:solidFill>
                            <a:srgbClr val="000000"/>
                          </a:solidFill>
                          <a:latin typeface="Arimo"/>
                          <a:ea typeface="Arimo"/>
                          <a:cs typeface="Arimo"/>
                          <a:sym typeface="Arimo"/>
                        </a:rPr>
                        <a:t>  시전 대상</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PC</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824788">
                <a:tc>
                  <a:txBody>
                    <a:bodyPr anchor="t" rtlCol="false"/>
                    <a:lstStyle/>
                    <a:p>
                      <a:pPr algn="l">
                        <a:lnSpc>
                          <a:spcPts val="3545"/>
                        </a:lnSpc>
                        <a:defRPr/>
                      </a:pPr>
                      <a:r>
                        <a:rPr lang="en-US" sz="2954">
                          <a:solidFill>
                            <a:srgbClr val="000000"/>
                          </a:solidFill>
                          <a:latin typeface="Arimo"/>
                          <a:ea typeface="Arimo"/>
                          <a:cs typeface="Arimo"/>
                          <a:sym typeface="Arimo"/>
                        </a:rPr>
                        <a:t>    피해</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크로노 공격력 * 1</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824788">
                <a:tc>
                  <a:txBody>
                    <a:bodyPr anchor="t" rtlCol="false"/>
                    <a:lstStyle/>
                    <a:p>
                      <a:pPr algn="l">
                        <a:lnSpc>
                          <a:spcPts val="3545"/>
                        </a:lnSpc>
                        <a:defRPr/>
                      </a:pPr>
                      <a:r>
                        <a:rPr lang="en-US" sz="2954">
                          <a:solidFill>
                            <a:srgbClr val="000000"/>
                          </a:solidFill>
                          <a:latin typeface="Arimo"/>
                          <a:ea typeface="Arimo"/>
                          <a:cs typeface="Arimo"/>
                          <a:sym typeface="Arimo"/>
                        </a:rPr>
                        <a:t>  개수(개)</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2 + (PHASE 2) 1 + (PHASE 3) 1</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1273724">
                <a:tc>
                  <a:txBody>
                    <a:bodyPr anchor="t" rtlCol="false"/>
                    <a:lstStyle/>
                    <a:p>
                      <a:pPr algn="l">
                        <a:lnSpc>
                          <a:spcPts val="3545"/>
                        </a:lnSpc>
                        <a:defRPr/>
                      </a:pPr>
                      <a:r>
                        <a:rPr lang="en-US" sz="2954">
                          <a:solidFill>
                            <a:srgbClr val="000000"/>
                          </a:solidFill>
                          <a:latin typeface="Arimo"/>
                          <a:ea typeface="Arimo"/>
                          <a:cs typeface="Arimo"/>
                          <a:sym typeface="Arimo"/>
                        </a:rPr>
                        <a:t> 투사체 속도</a:t>
                      </a:r>
                      <a:endParaRPr lang="en-US" sz="1100"/>
                    </a:p>
                    <a:p>
                      <a:pPr algn="l">
                        <a:lnSpc>
                          <a:spcPts val="3545"/>
                        </a:lnSpc>
                      </a:pPr>
                      <a:r>
                        <a:rPr lang="en-US" sz="2954">
                          <a:solidFill>
                            <a:srgbClr val="000000"/>
                          </a:solidFill>
                          <a:latin typeface="Arimo"/>
                          <a:ea typeface="Arimo"/>
                          <a:cs typeface="Arimo"/>
                          <a:sym typeface="Arimo"/>
                        </a:rPr>
                        <a:t>    (m/s)</a:t>
                      </a:r>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15</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1273724">
                <a:tc>
                  <a:txBody>
                    <a:bodyPr anchor="t" rtlCol="false"/>
                    <a:lstStyle/>
                    <a:p>
                      <a:pPr algn="l">
                        <a:lnSpc>
                          <a:spcPts val="3545"/>
                        </a:lnSpc>
                        <a:defRPr/>
                      </a:pPr>
                      <a:r>
                        <a:rPr lang="en-US" sz="2954">
                          <a:solidFill>
                            <a:srgbClr val="000000"/>
                          </a:solidFill>
                          <a:latin typeface="Arimo"/>
                          <a:ea typeface="Arimo"/>
                          <a:cs typeface="Arimo"/>
                          <a:sym typeface="Arimo"/>
                        </a:rPr>
                        <a:t>  쿨타임(s)</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3 - (PHASE 2) 1 - (PHASE 3) 1</a:t>
                      </a:r>
                      <a:endParaRPr lang="en-US" sz="1100"/>
                    </a:p>
                    <a:p>
                      <a:pPr algn="l">
                        <a:lnSpc>
                          <a:spcPts val="3545"/>
                        </a:lnSpc>
                      </a:pPr>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906797">
                <a:tc>
                  <a:txBody>
                    <a:bodyPr anchor="t" rtlCol="false"/>
                    <a:lstStyle/>
                    <a:p>
                      <a:pPr algn="l">
                        <a:lnSpc>
                          <a:spcPts val="3545"/>
                        </a:lnSpc>
                        <a:defRPr/>
                      </a:pPr>
                      <a:r>
                        <a:rPr lang="en-US" sz="2954">
                          <a:solidFill>
                            <a:srgbClr val="000000"/>
                          </a:solidFill>
                          <a:latin typeface="Arimo"/>
                          <a:ea typeface="Arimo"/>
                          <a:cs typeface="Arimo"/>
                          <a:sym typeface="Arimo"/>
                        </a:rPr>
                        <a:t>  사거리(m)</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12~16</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bl>
          </a:graphicData>
        </a:graphic>
      </p:graphicFrame>
      <p:grpSp>
        <p:nvGrpSpPr>
          <p:cNvPr name="Group 3" id="3"/>
          <p:cNvGrpSpPr/>
          <p:nvPr/>
        </p:nvGrpSpPr>
        <p:grpSpPr>
          <a:xfrm rot="0">
            <a:off x="1776303" y="3860900"/>
            <a:ext cx="5442698" cy="5397400"/>
            <a:chOff x="0" y="0"/>
            <a:chExt cx="1271975" cy="1261389"/>
          </a:xfrm>
        </p:grpSpPr>
        <p:sp>
          <p:nvSpPr>
            <p:cNvPr name="Freeform 4" id="4" descr="우주, 천체, 스크린샷, 천문학이(가) 표시된 사진  AI 생성 콘텐츠는 정확하지 않을 수 있습니다."/>
            <p:cNvSpPr/>
            <p:nvPr/>
          </p:nvSpPr>
          <p:spPr>
            <a:xfrm flipH="false" flipV="false" rot="0">
              <a:off x="0" y="0"/>
              <a:ext cx="1271975" cy="1261389"/>
            </a:xfrm>
            <a:custGeom>
              <a:avLst/>
              <a:gdLst/>
              <a:ahLst/>
              <a:cxnLst/>
              <a:rect r="r" b="b" t="t" l="l"/>
              <a:pathLst>
                <a:path h="1261389" w="1271975">
                  <a:moveTo>
                    <a:pt x="0" y="0"/>
                  </a:moveTo>
                  <a:lnTo>
                    <a:pt x="1271975" y="0"/>
                  </a:lnTo>
                  <a:lnTo>
                    <a:pt x="1271975" y="1261389"/>
                  </a:lnTo>
                  <a:lnTo>
                    <a:pt x="0" y="1261389"/>
                  </a:lnTo>
                  <a:close/>
                </a:path>
              </a:pathLst>
            </a:custGeom>
            <a:blipFill>
              <a:blip r:embed="rId2"/>
              <a:stretch>
                <a:fillRect l="0" t="-1181" r="0" b="-1181"/>
              </a:stretch>
            </a:blipFill>
          </p:spPr>
        </p:sp>
      </p:grpSp>
      <p:sp>
        <p:nvSpPr>
          <p:cNvPr name="TextBox 5" id="5"/>
          <p:cNvSpPr txBox="true"/>
          <p:nvPr/>
        </p:nvSpPr>
        <p:spPr>
          <a:xfrm rot="0">
            <a:off x="1028700" y="990600"/>
            <a:ext cx="6394855" cy="1209675"/>
          </a:xfrm>
          <a:prstGeom prst="rect">
            <a:avLst/>
          </a:prstGeom>
        </p:spPr>
        <p:txBody>
          <a:bodyPr anchor="t" rtlCol="false" tIns="0" lIns="0" bIns="0" rIns="0">
            <a:spAutoFit/>
          </a:bodyPr>
          <a:lstStyle/>
          <a:p>
            <a:pPr algn="l" marL="0" indent="0" lvl="0">
              <a:lnSpc>
                <a:spcPts val="9240"/>
              </a:lnSpc>
              <a:spcBef>
                <a:spcPct val="0"/>
              </a:spcBef>
            </a:pPr>
            <a:r>
              <a:rPr lang="en-US" sz="7700">
                <a:solidFill>
                  <a:srgbClr val="000000"/>
                </a:solidFill>
                <a:latin typeface="Arimo"/>
                <a:ea typeface="Arimo"/>
                <a:cs typeface="Arimo"/>
                <a:sym typeface="Arimo"/>
              </a:rPr>
              <a:t>기본공격</a:t>
            </a:r>
          </a:p>
        </p:txBody>
      </p:sp>
      <p:sp>
        <p:nvSpPr>
          <p:cNvPr name="TextBox 6" id="6"/>
          <p:cNvSpPr txBox="true"/>
          <p:nvPr/>
        </p:nvSpPr>
        <p:spPr>
          <a:xfrm rot="0">
            <a:off x="1028700" y="2544625"/>
            <a:ext cx="6394855" cy="1000125"/>
          </a:xfrm>
          <a:prstGeom prst="rect">
            <a:avLst/>
          </a:prstGeom>
        </p:spPr>
        <p:txBody>
          <a:bodyPr anchor="t" rtlCol="false" tIns="0" lIns="0" bIns="0" rIns="0">
            <a:spAutoFit/>
          </a:bodyPr>
          <a:lstStyle/>
          <a:p>
            <a:pPr algn="l" marL="0" indent="0" lvl="0">
              <a:lnSpc>
                <a:spcPts val="3900"/>
              </a:lnSpc>
            </a:pPr>
            <a:r>
              <a:rPr lang="en-US" sz="3000">
                <a:solidFill>
                  <a:srgbClr val="000000"/>
                </a:solidFill>
                <a:latin typeface="Arimo"/>
                <a:ea typeface="Arimo"/>
                <a:cs typeface="Arimo"/>
                <a:sym typeface="Arimo"/>
              </a:rPr>
              <a:t>컨셉: 마력 구체를 발사해 공격한다. 근거리 원거리에서 모두 사용 할 수 있다.</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144000" y="1358474"/>
          <a:ext cx="8629650" cy="7570051"/>
        </p:xfrm>
        <a:graphic>
          <a:graphicData uri="http://schemas.openxmlformats.org/drawingml/2006/table">
            <a:tbl>
              <a:tblPr/>
              <a:tblGrid>
                <a:gridCol w="3471068"/>
                <a:gridCol w="5158582"/>
              </a:tblGrid>
              <a:tr h="824875">
                <a:tc>
                  <a:txBody>
                    <a:bodyPr anchor="t" rtlCol="false"/>
                    <a:lstStyle/>
                    <a:p>
                      <a:pPr algn="l">
                        <a:lnSpc>
                          <a:spcPts val="3545"/>
                        </a:lnSpc>
                        <a:defRPr/>
                      </a:pPr>
                      <a:r>
                        <a:rPr lang="en-US" b="true" sz="2954">
                          <a:solidFill>
                            <a:srgbClr val="FFFFFF"/>
                          </a:solidFill>
                          <a:latin typeface="Arimo Bold"/>
                          <a:ea typeface="Arimo Bold"/>
                          <a:cs typeface="Arimo Bold"/>
                          <a:sym typeface="Arimo Bold"/>
                        </a:rPr>
                        <a:t>        항목</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262626"/>
                    </a:solidFill>
                  </a:tcPr>
                </a:tc>
                <a:tc>
                  <a:txBody>
                    <a:bodyPr anchor="t" rtlCol="false"/>
                    <a:lstStyle/>
                    <a:p>
                      <a:pPr algn="l">
                        <a:lnSpc>
                          <a:spcPts val="3545"/>
                        </a:lnSpc>
                        <a:defRPr/>
                      </a:pPr>
                      <a:r>
                        <a:rPr lang="en-US" b="true" sz="2954">
                          <a:solidFill>
                            <a:srgbClr val="FFFFFF"/>
                          </a:solidFill>
                          <a:latin typeface="Arimo Bold"/>
                          <a:ea typeface="Arimo Bold"/>
                          <a:cs typeface="Arimo Bold"/>
                          <a:sym typeface="Arimo Bold"/>
                        </a:rPr>
                        <a:t>               내용</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262626"/>
                    </a:solidFill>
                  </a:tcPr>
                </a:tc>
              </a:tr>
              <a:tr h="824875">
                <a:tc>
                  <a:txBody>
                    <a:bodyPr anchor="t" rtlCol="false"/>
                    <a:lstStyle/>
                    <a:p>
                      <a:pPr algn="l">
                        <a:lnSpc>
                          <a:spcPts val="3545"/>
                        </a:lnSpc>
                        <a:defRPr/>
                      </a:pPr>
                      <a:r>
                        <a:rPr lang="en-US" sz="2954">
                          <a:solidFill>
                            <a:srgbClr val="000000"/>
                          </a:solidFill>
                          <a:latin typeface="Arimo"/>
                          <a:ea typeface="Arimo"/>
                          <a:cs typeface="Arimo"/>
                          <a:sym typeface="Arimo"/>
                        </a:rPr>
                        <a:t>     스킬 타입</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액티브</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824875">
                <a:tc>
                  <a:txBody>
                    <a:bodyPr anchor="t" rtlCol="false"/>
                    <a:lstStyle/>
                    <a:p>
                      <a:pPr algn="l">
                        <a:lnSpc>
                          <a:spcPts val="3545"/>
                        </a:lnSpc>
                        <a:defRPr/>
                      </a:pPr>
                      <a:r>
                        <a:rPr lang="en-US" sz="2954">
                          <a:solidFill>
                            <a:srgbClr val="000000"/>
                          </a:solidFill>
                          <a:latin typeface="Arimo"/>
                          <a:ea typeface="Arimo"/>
                          <a:cs typeface="Arimo"/>
                          <a:sym typeface="Arimo"/>
                        </a:rPr>
                        <a:t>     시전 조건</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쿨타임 종료시</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824875">
                <a:tc>
                  <a:txBody>
                    <a:bodyPr anchor="t" rtlCol="false"/>
                    <a:lstStyle/>
                    <a:p>
                      <a:pPr algn="l">
                        <a:lnSpc>
                          <a:spcPts val="3545"/>
                        </a:lnSpc>
                        <a:defRPr/>
                      </a:pPr>
                      <a:r>
                        <a:rPr lang="en-US" sz="2954">
                          <a:solidFill>
                            <a:srgbClr val="000000"/>
                          </a:solidFill>
                          <a:latin typeface="Arimo"/>
                          <a:ea typeface="Arimo"/>
                          <a:cs typeface="Arimo"/>
                          <a:sym typeface="Arimo"/>
                        </a:rPr>
                        <a:t>     시전 대상</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자신(크로노)</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1722839">
                <a:tc>
                  <a:txBody>
                    <a:bodyPr anchor="t" rtlCol="false"/>
                    <a:lstStyle/>
                    <a:p>
                      <a:pPr algn="l">
                        <a:lnSpc>
                          <a:spcPts val="3545"/>
                        </a:lnSpc>
                        <a:defRPr/>
                      </a:pPr>
                      <a:r>
                        <a:rPr lang="en-US" sz="2954">
                          <a:solidFill>
                            <a:srgbClr val="000000"/>
                          </a:solidFill>
                          <a:latin typeface="Arimo"/>
                          <a:ea typeface="Arimo"/>
                          <a:cs typeface="Arimo"/>
                          <a:sym typeface="Arimo"/>
                        </a:rPr>
                        <a:t>     쿨타임(s)</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텔레포트 다음 스킬 또는 기본 공격 사용 후 3 – (PHASE 2) 1 – (PHASE 3) 1</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1273857">
                <a:tc>
                  <a:txBody>
                    <a:bodyPr anchor="t" rtlCol="false"/>
                    <a:lstStyle/>
                    <a:p>
                      <a:pPr algn="l">
                        <a:lnSpc>
                          <a:spcPts val="3545"/>
                        </a:lnSpc>
                        <a:defRPr/>
                      </a:pPr>
                      <a:r>
                        <a:rPr lang="en-US" sz="2954">
                          <a:solidFill>
                            <a:srgbClr val="000000"/>
                          </a:solidFill>
                          <a:latin typeface="Arimo"/>
                          <a:ea typeface="Arimo"/>
                          <a:cs typeface="Arimo"/>
                          <a:sym typeface="Arimo"/>
                        </a:rPr>
                        <a:t>텔레포트 사용 후 연속 사용 횟수(회)</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0~2 (랜덤)</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r h="1273857">
                <a:tc>
                  <a:txBody>
                    <a:bodyPr anchor="t" rtlCol="false"/>
                    <a:lstStyle/>
                    <a:p>
                      <a:pPr algn="l">
                        <a:lnSpc>
                          <a:spcPts val="3545"/>
                        </a:lnSpc>
                        <a:defRPr/>
                      </a:pPr>
                      <a:r>
                        <a:rPr lang="en-US" sz="2954">
                          <a:solidFill>
                            <a:srgbClr val="000000"/>
                          </a:solidFill>
                          <a:latin typeface="Arimo"/>
                          <a:ea typeface="Arimo"/>
                          <a:cs typeface="Arimo"/>
                          <a:sym typeface="Arimo"/>
                        </a:rPr>
                        <a:t>   이동 거리(m)</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최소 4m ~ 최대 10m (자신 기준 2칸~5칸 내 무작위)</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FABAB"/>
                    </a:solidFill>
                  </a:tcPr>
                </a:tc>
              </a:tr>
            </a:tbl>
          </a:graphicData>
        </a:graphic>
      </p:graphicFrame>
      <p:grpSp>
        <p:nvGrpSpPr>
          <p:cNvPr name="Group 3" id="3"/>
          <p:cNvGrpSpPr/>
          <p:nvPr/>
        </p:nvGrpSpPr>
        <p:grpSpPr>
          <a:xfrm rot="0">
            <a:off x="1495982" y="3668074"/>
            <a:ext cx="5460291" cy="5590226"/>
            <a:chOff x="0" y="0"/>
            <a:chExt cx="1271975" cy="1302243"/>
          </a:xfrm>
        </p:grpSpPr>
        <p:sp>
          <p:nvSpPr>
            <p:cNvPr name="Freeform 4" id="4" descr="원, 스크린샷, 천체, 우주이(가) 표시된 사진  AI 생성 콘텐츠는 정확하지 않을 수 있습니다."/>
            <p:cNvSpPr/>
            <p:nvPr/>
          </p:nvSpPr>
          <p:spPr>
            <a:xfrm flipH="false" flipV="false" rot="0">
              <a:off x="0" y="0"/>
              <a:ext cx="1271975" cy="1302243"/>
            </a:xfrm>
            <a:custGeom>
              <a:avLst/>
              <a:gdLst/>
              <a:ahLst/>
              <a:cxnLst/>
              <a:rect r="r" b="b" t="t" l="l"/>
              <a:pathLst>
                <a:path h="1302243" w="1271975">
                  <a:moveTo>
                    <a:pt x="0" y="0"/>
                  </a:moveTo>
                  <a:lnTo>
                    <a:pt x="1271975" y="0"/>
                  </a:lnTo>
                  <a:lnTo>
                    <a:pt x="1271975" y="1302243"/>
                  </a:lnTo>
                  <a:lnTo>
                    <a:pt x="0" y="1302243"/>
                  </a:lnTo>
                  <a:close/>
                </a:path>
              </a:pathLst>
            </a:custGeom>
            <a:blipFill>
              <a:blip r:embed="rId2"/>
              <a:stretch>
                <a:fillRect l="-1189" t="0" r="-1189" b="0"/>
              </a:stretch>
            </a:blipFill>
          </p:spPr>
        </p:sp>
      </p:grpSp>
      <p:sp>
        <p:nvSpPr>
          <p:cNvPr name="TextBox 5" id="5"/>
          <p:cNvSpPr txBox="true"/>
          <p:nvPr/>
        </p:nvSpPr>
        <p:spPr>
          <a:xfrm rot="0">
            <a:off x="1028700" y="1009650"/>
            <a:ext cx="6394855" cy="962025"/>
          </a:xfrm>
          <a:prstGeom prst="rect">
            <a:avLst/>
          </a:prstGeom>
        </p:spPr>
        <p:txBody>
          <a:bodyPr anchor="t" rtlCol="false" tIns="0" lIns="0" bIns="0" rIns="0">
            <a:spAutoFit/>
          </a:bodyPr>
          <a:lstStyle/>
          <a:p>
            <a:pPr algn="l" marL="0" indent="0" lvl="0">
              <a:lnSpc>
                <a:spcPts val="7450"/>
              </a:lnSpc>
              <a:spcBef>
                <a:spcPct val="0"/>
              </a:spcBef>
            </a:pPr>
            <a:r>
              <a:rPr lang="en-US" sz="6208">
                <a:solidFill>
                  <a:srgbClr val="000000"/>
                </a:solidFill>
                <a:latin typeface="Arimo"/>
                <a:ea typeface="Arimo"/>
                <a:cs typeface="Arimo"/>
                <a:sym typeface="Arimo"/>
              </a:rPr>
              <a:t>텔레포트(기본이동)</a:t>
            </a:r>
          </a:p>
        </p:txBody>
      </p:sp>
      <p:sp>
        <p:nvSpPr>
          <p:cNvPr name="TextBox 6" id="6"/>
          <p:cNvSpPr txBox="true"/>
          <p:nvPr/>
        </p:nvSpPr>
        <p:spPr>
          <a:xfrm rot="0">
            <a:off x="1028700" y="2335075"/>
            <a:ext cx="6394855" cy="1170099"/>
          </a:xfrm>
          <a:prstGeom prst="rect">
            <a:avLst/>
          </a:prstGeom>
        </p:spPr>
        <p:txBody>
          <a:bodyPr anchor="t" rtlCol="false" tIns="0" lIns="0" bIns="0" rIns="0">
            <a:spAutoFit/>
          </a:bodyPr>
          <a:lstStyle/>
          <a:p>
            <a:pPr algn="l" marL="0" indent="0" lvl="0">
              <a:lnSpc>
                <a:spcPts val="3076"/>
              </a:lnSpc>
            </a:pPr>
            <a:r>
              <a:rPr lang="en-US" sz="2366">
                <a:solidFill>
                  <a:srgbClr val="000000"/>
                </a:solidFill>
                <a:latin typeface="Arimo"/>
                <a:ea typeface="Arimo"/>
                <a:cs typeface="Arimo"/>
                <a:sym typeface="Arimo"/>
              </a:rPr>
              <a:t>컨셉: 텔레포트후 쿨타임이 공략 타이밍이다. 하지만 페이즈 증가시 쿨타임이 줄어들어 공략타이밍이 없어진다.</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144000" y="3448738"/>
          <a:ext cx="8629650" cy="5061237"/>
        </p:xfrm>
        <a:graphic>
          <a:graphicData uri="http://schemas.openxmlformats.org/drawingml/2006/table">
            <a:tbl>
              <a:tblPr/>
              <a:tblGrid>
                <a:gridCol w="2129599"/>
                <a:gridCol w="6500051"/>
              </a:tblGrid>
              <a:tr h="773510">
                <a:tc>
                  <a:txBody>
                    <a:bodyPr anchor="t" rtlCol="false"/>
                    <a:lstStyle/>
                    <a:p>
                      <a:pPr algn="l">
                        <a:lnSpc>
                          <a:spcPts val="3313"/>
                        </a:lnSpc>
                        <a:defRPr/>
                      </a:pPr>
                      <a:r>
                        <a:rPr lang="en-US" b="true" sz="2760">
                          <a:solidFill>
                            <a:srgbClr val="FFFFFF"/>
                          </a:solidFill>
                          <a:latin typeface="Arimo Bold"/>
                          <a:ea typeface="Arimo Bold"/>
                          <a:cs typeface="Arimo Bold"/>
                          <a:sym typeface="Arimo Bold"/>
                        </a:rPr>
                        <a:t>     항목</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262626"/>
                    </a:solidFill>
                  </a:tcPr>
                </a:tc>
                <a:tc>
                  <a:txBody>
                    <a:bodyPr anchor="t" rtlCol="false"/>
                    <a:lstStyle/>
                    <a:p>
                      <a:pPr algn="l">
                        <a:lnSpc>
                          <a:spcPts val="3313"/>
                        </a:lnSpc>
                        <a:defRPr/>
                      </a:pPr>
                      <a:r>
                        <a:rPr lang="en-US" b="true" sz="2760">
                          <a:solidFill>
                            <a:srgbClr val="FFFFFF"/>
                          </a:solidFill>
                          <a:latin typeface="Arimo Bold"/>
                          <a:ea typeface="Arimo Bold"/>
                          <a:cs typeface="Arimo Bold"/>
                          <a:sym typeface="Arimo Bold"/>
                        </a:rPr>
                        <a:t>                           내용</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262626"/>
                    </a:solidFill>
                  </a:tcPr>
                </a:tc>
              </a:tr>
              <a:tr h="773510">
                <a:tc>
                  <a:txBody>
                    <a:bodyPr anchor="t" rtlCol="false"/>
                    <a:lstStyle/>
                    <a:p>
                      <a:pPr algn="l">
                        <a:lnSpc>
                          <a:spcPts val="3313"/>
                        </a:lnSpc>
                        <a:defRPr/>
                      </a:pPr>
                      <a:r>
                        <a:rPr lang="en-US" sz="2760">
                          <a:solidFill>
                            <a:srgbClr val="000000"/>
                          </a:solidFill>
                          <a:latin typeface="Arimo"/>
                          <a:ea typeface="Arimo"/>
                          <a:cs typeface="Arimo"/>
                          <a:sym typeface="Arimo"/>
                        </a:rPr>
                        <a:t> 스킬 타입</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FFC000"/>
                    </a:solidFill>
                  </a:tcPr>
                </a:tc>
                <a:tc>
                  <a:txBody>
                    <a:bodyPr anchor="t" rtlCol="false"/>
                    <a:lstStyle/>
                    <a:p>
                      <a:pPr algn="l">
                        <a:lnSpc>
                          <a:spcPts val="3313"/>
                        </a:lnSpc>
                        <a:defRPr/>
                      </a:pPr>
                      <a:r>
                        <a:rPr lang="en-US" sz="2760">
                          <a:solidFill>
                            <a:srgbClr val="000000"/>
                          </a:solidFill>
                          <a:latin typeface="Arimo"/>
                          <a:ea typeface="Arimo"/>
                          <a:cs typeface="Arimo"/>
                          <a:sym typeface="Arimo"/>
                        </a:rPr>
                        <a:t>액티브</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A5A5A5"/>
                    </a:solidFill>
                  </a:tcPr>
                </a:tc>
              </a:tr>
              <a:tr h="1193688">
                <a:tc>
                  <a:txBody>
                    <a:bodyPr anchor="t" rtlCol="false"/>
                    <a:lstStyle/>
                    <a:p>
                      <a:pPr algn="l">
                        <a:lnSpc>
                          <a:spcPts val="3313"/>
                        </a:lnSpc>
                        <a:defRPr/>
                      </a:pPr>
                      <a:r>
                        <a:rPr lang="en-US" sz="2760">
                          <a:solidFill>
                            <a:srgbClr val="000000"/>
                          </a:solidFill>
                          <a:latin typeface="Arimo"/>
                          <a:ea typeface="Arimo"/>
                          <a:cs typeface="Arimo"/>
                          <a:sym typeface="Arimo"/>
                        </a:rPr>
                        <a:t> 시전 조건</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FFC000"/>
                    </a:solidFill>
                  </a:tcPr>
                </a:tc>
                <a:tc>
                  <a:txBody>
                    <a:bodyPr anchor="t" rtlCol="false"/>
                    <a:lstStyle/>
                    <a:p>
                      <a:pPr algn="l">
                        <a:lnSpc>
                          <a:spcPts val="3313"/>
                        </a:lnSpc>
                        <a:defRPr/>
                      </a:pPr>
                      <a:r>
                        <a:rPr lang="en-US" sz="2760">
                          <a:solidFill>
                            <a:srgbClr val="000000"/>
                          </a:solidFill>
                          <a:latin typeface="Arimo"/>
                          <a:ea typeface="Arimo"/>
                          <a:cs typeface="Arimo"/>
                          <a:sym typeface="Arimo"/>
                        </a:rPr>
                        <a:t>PC에게 6 - (PHASE 2) 1 - (PHASE 3) 1회 연속 타격시</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A5A5A5"/>
                    </a:solidFill>
                  </a:tcPr>
                </a:tc>
              </a:tr>
              <a:tr h="773510">
                <a:tc>
                  <a:txBody>
                    <a:bodyPr anchor="t" rtlCol="false"/>
                    <a:lstStyle/>
                    <a:p>
                      <a:pPr algn="l">
                        <a:lnSpc>
                          <a:spcPts val="3313"/>
                        </a:lnSpc>
                        <a:defRPr/>
                      </a:pPr>
                      <a:r>
                        <a:rPr lang="en-US" sz="2760">
                          <a:solidFill>
                            <a:srgbClr val="000000"/>
                          </a:solidFill>
                          <a:latin typeface="Arimo"/>
                          <a:ea typeface="Arimo"/>
                          <a:cs typeface="Arimo"/>
                          <a:sym typeface="Arimo"/>
                        </a:rPr>
                        <a:t> 시전 대상</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FFC000"/>
                    </a:solidFill>
                  </a:tcPr>
                </a:tc>
                <a:tc>
                  <a:txBody>
                    <a:bodyPr anchor="t" rtlCol="false"/>
                    <a:lstStyle/>
                    <a:p>
                      <a:pPr algn="l">
                        <a:lnSpc>
                          <a:spcPts val="3313"/>
                        </a:lnSpc>
                        <a:defRPr/>
                      </a:pPr>
                      <a:r>
                        <a:rPr lang="en-US" sz="2760">
                          <a:solidFill>
                            <a:srgbClr val="000000"/>
                          </a:solidFill>
                          <a:latin typeface="Arimo"/>
                          <a:ea typeface="Arimo"/>
                          <a:cs typeface="Arimo"/>
                          <a:sym typeface="Arimo"/>
                        </a:rPr>
                        <a:t>자신</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A5A5A5"/>
                    </a:solidFill>
                  </a:tcPr>
                </a:tc>
              </a:tr>
              <a:tr h="773510">
                <a:tc>
                  <a:txBody>
                    <a:bodyPr anchor="t" rtlCol="false"/>
                    <a:lstStyle/>
                    <a:p>
                      <a:pPr algn="l">
                        <a:lnSpc>
                          <a:spcPts val="3313"/>
                        </a:lnSpc>
                        <a:defRPr/>
                      </a:pPr>
                      <a:r>
                        <a:rPr lang="en-US" sz="2760">
                          <a:solidFill>
                            <a:srgbClr val="000000"/>
                          </a:solidFill>
                          <a:latin typeface="Arimo"/>
                          <a:ea typeface="Arimo"/>
                          <a:cs typeface="Arimo"/>
                          <a:sym typeface="Arimo"/>
                        </a:rPr>
                        <a:t> 쿨타임(s)</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FFC000"/>
                    </a:solidFill>
                  </a:tcPr>
                </a:tc>
                <a:tc>
                  <a:txBody>
                    <a:bodyPr anchor="t" rtlCol="false"/>
                    <a:lstStyle/>
                    <a:p>
                      <a:pPr algn="l">
                        <a:lnSpc>
                          <a:spcPts val="3313"/>
                        </a:lnSpc>
                        <a:defRPr/>
                      </a:pPr>
                      <a:r>
                        <a:rPr lang="en-US" sz="2760">
                          <a:solidFill>
                            <a:srgbClr val="000000"/>
                          </a:solidFill>
                          <a:latin typeface="Arimo"/>
                          <a:ea typeface="Arimo"/>
                          <a:cs typeface="Arimo"/>
                          <a:sym typeface="Arimo"/>
                        </a:rPr>
                        <a:t>15</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A5A5A5"/>
                    </a:solidFill>
                  </a:tcPr>
                </a:tc>
              </a:tr>
              <a:tr h="773510">
                <a:tc>
                  <a:txBody>
                    <a:bodyPr anchor="t" rtlCol="false"/>
                    <a:lstStyle/>
                    <a:p>
                      <a:pPr algn="l">
                        <a:lnSpc>
                          <a:spcPts val="3313"/>
                        </a:lnSpc>
                        <a:defRPr/>
                      </a:pPr>
                      <a:r>
                        <a:rPr lang="en-US" sz="2760">
                          <a:solidFill>
                            <a:srgbClr val="000000"/>
                          </a:solidFill>
                          <a:latin typeface="Arimo"/>
                          <a:ea typeface="Arimo"/>
                          <a:cs typeface="Arimo"/>
                          <a:sym typeface="Arimo"/>
                        </a:rPr>
                        <a:t> 사거리(m)</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FFC000"/>
                    </a:solidFill>
                  </a:tcPr>
                </a:tc>
                <a:tc>
                  <a:txBody>
                    <a:bodyPr anchor="t" rtlCol="false"/>
                    <a:lstStyle/>
                    <a:p>
                      <a:pPr algn="l">
                        <a:lnSpc>
                          <a:spcPts val="3313"/>
                        </a:lnSpc>
                        <a:defRPr/>
                      </a:pPr>
                      <a:r>
                        <a:rPr lang="en-US" sz="2760">
                          <a:solidFill>
                            <a:srgbClr val="000000"/>
                          </a:solidFill>
                          <a:latin typeface="Arimo"/>
                          <a:ea typeface="Arimo"/>
                          <a:cs typeface="Arimo"/>
                          <a:sym typeface="Arimo"/>
                        </a:rPr>
                        <a:t>10</a:t>
                      </a:r>
                      <a:endParaRPr lang="en-US" sz="1100"/>
                    </a:p>
                  </a:txBody>
                  <a:tcPr marL="93504" marR="93504" marT="93504" marB="93504" anchor="t">
                    <a:lnL cmpd="sng" algn="ctr" cap="flat" w="12987">
                      <a:solidFill>
                        <a:srgbClr val="000000"/>
                      </a:solidFill>
                      <a:prstDash val="solid"/>
                      <a:round/>
                      <a:headEnd type="none" w="med" len="med"/>
                      <a:tailEnd type="none" w="med" len="med"/>
                    </a:lnL>
                    <a:lnR cmpd="sng" algn="ctr" cap="flat" w="12987">
                      <a:solidFill>
                        <a:srgbClr val="000000"/>
                      </a:solidFill>
                      <a:prstDash val="solid"/>
                      <a:round/>
                      <a:headEnd type="none" w="med" len="med"/>
                      <a:tailEnd type="none" w="med" len="med"/>
                    </a:lnR>
                    <a:lnT cmpd="sng" algn="ctr" cap="flat" w="12987">
                      <a:solidFill>
                        <a:srgbClr val="000000"/>
                      </a:solidFill>
                      <a:prstDash val="solid"/>
                      <a:round/>
                      <a:headEnd type="none" w="med" len="med"/>
                      <a:tailEnd type="none" w="med" len="med"/>
                    </a:lnT>
                    <a:lnB cmpd="sng" algn="ctr" cap="flat" w="12987">
                      <a:solidFill>
                        <a:srgbClr val="000000"/>
                      </a:solidFill>
                      <a:prstDash val="solid"/>
                      <a:round/>
                      <a:headEnd type="none" w="med" len="med"/>
                      <a:tailEnd type="none" w="med" len="med"/>
                    </a:lnB>
                    <a:solidFill>
                      <a:srgbClr val="A5A5A5"/>
                    </a:solidFill>
                  </a:tcPr>
                </a:tc>
              </a:tr>
            </a:tbl>
          </a:graphicData>
        </a:graphic>
      </p:graphicFrame>
      <p:grpSp>
        <p:nvGrpSpPr>
          <p:cNvPr name="Group 3" id="3"/>
          <p:cNvGrpSpPr/>
          <p:nvPr/>
        </p:nvGrpSpPr>
        <p:grpSpPr>
          <a:xfrm rot="0">
            <a:off x="2308403" y="4710326"/>
            <a:ext cx="4557855" cy="4547974"/>
            <a:chOff x="0" y="0"/>
            <a:chExt cx="8787435" cy="8768385"/>
          </a:xfrm>
        </p:grpSpPr>
        <p:sp>
          <p:nvSpPr>
            <p:cNvPr name="Freeform 4" id="4" descr="스크린샷이(가) 표시된 사진  AI 생성 콘텐츠는 정확하지 않을 수 있습니다."/>
            <p:cNvSpPr/>
            <p:nvPr/>
          </p:nvSpPr>
          <p:spPr>
            <a:xfrm flipH="false" flipV="false" rot="0">
              <a:off x="0" y="0"/>
              <a:ext cx="8787384" cy="8768334"/>
            </a:xfrm>
            <a:custGeom>
              <a:avLst/>
              <a:gdLst/>
              <a:ahLst/>
              <a:cxnLst/>
              <a:rect r="r" b="b" t="t" l="l"/>
              <a:pathLst>
                <a:path h="8768334" w="8787384">
                  <a:moveTo>
                    <a:pt x="0" y="0"/>
                  </a:moveTo>
                  <a:lnTo>
                    <a:pt x="8787384" y="0"/>
                  </a:lnTo>
                  <a:lnTo>
                    <a:pt x="8787384" y="8768334"/>
                  </a:lnTo>
                  <a:lnTo>
                    <a:pt x="0" y="8768334"/>
                  </a:lnTo>
                  <a:lnTo>
                    <a:pt x="0" y="0"/>
                  </a:lnTo>
                  <a:close/>
                </a:path>
              </a:pathLst>
            </a:custGeom>
            <a:blipFill>
              <a:blip r:embed="rId2"/>
              <a:stretch>
                <a:fillRect l="-40" t="0" r="-41" b="0"/>
              </a:stretch>
            </a:blipFill>
          </p:spPr>
        </p:sp>
      </p:grpSp>
      <p:sp>
        <p:nvSpPr>
          <p:cNvPr name="TextBox 5" id="5"/>
          <p:cNvSpPr txBox="true"/>
          <p:nvPr/>
        </p:nvSpPr>
        <p:spPr>
          <a:xfrm rot="0">
            <a:off x="1028700" y="990600"/>
            <a:ext cx="6394855" cy="1209675"/>
          </a:xfrm>
          <a:prstGeom prst="rect">
            <a:avLst/>
          </a:prstGeom>
        </p:spPr>
        <p:txBody>
          <a:bodyPr anchor="t" rtlCol="false" tIns="0" lIns="0" bIns="0" rIns="0">
            <a:spAutoFit/>
          </a:bodyPr>
          <a:lstStyle/>
          <a:p>
            <a:pPr algn="l" marL="0" indent="0" lvl="0">
              <a:lnSpc>
                <a:spcPts val="9240"/>
              </a:lnSpc>
              <a:spcBef>
                <a:spcPct val="0"/>
              </a:spcBef>
            </a:pPr>
            <a:r>
              <a:rPr lang="en-US" sz="7700">
                <a:solidFill>
                  <a:srgbClr val="000000"/>
                </a:solidFill>
                <a:latin typeface="Arimo"/>
                <a:ea typeface="Arimo"/>
                <a:cs typeface="Arimo"/>
                <a:sym typeface="Arimo"/>
              </a:rPr>
              <a:t>회피 텔레포트</a:t>
            </a:r>
          </a:p>
        </p:txBody>
      </p:sp>
      <p:sp>
        <p:nvSpPr>
          <p:cNvPr name="TextBox 6" id="6"/>
          <p:cNvSpPr txBox="true"/>
          <p:nvPr/>
        </p:nvSpPr>
        <p:spPr>
          <a:xfrm rot="0">
            <a:off x="1028700" y="2544625"/>
            <a:ext cx="6394855" cy="1495425"/>
          </a:xfrm>
          <a:prstGeom prst="rect">
            <a:avLst/>
          </a:prstGeom>
        </p:spPr>
        <p:txBody>
          <a:bodyPr anchor="t" rtlCol="false" tIns="0" lIns="0" bIns="0" rIns="0">
            <a:spAutoFit/>
          </a:bodyPr>
          <a:lstStyle/>
          <a:p>
            <a:pPr algn="l" marL="0" indent="0" lvl="0">
              <a:lnSpc>
                <a:spcPts val="3900"/>
              </a:lnSpc>
            </a:pPr>
            <a:r>
              <a:rPr lang="en-US" sz="3000">
                <a:solidFill>
                  <a:srgbClr val="000000"/>
                </a:solidFill>
                <a:latin typeface="Arimo"/>
                <a:ea typeface="Arimo"/>
                <a:cs typeface="Arimo"/>
                <a:sym typeface="Arimo"/>
              </a:rPr>
              <a:t>컨셉: 기본 이동에서 쓰던 텔레포트를 이용해 보스 자신의 뒤로 텔레포트해 회피한다.</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002768" y="514350"/>
          <a:ext cx="6912115" cy="9258300"/>
        </p:xfrm>
        <a:graphic>
          <a:graphicData uri="http://schemas.openxmlformats.org/drawingml/2006/table">
            <a:tbl>
              <a:tblPr/>
              <a:tblGrid>
                <a:gridCol w="2008919"/>
                <a:gridCol w="4903195"/>
              </a:tblGrid>
              <a:tr h="666733">
                <a:tc>
                  <a:txBody>
                    <a:bodyPr anchor="t" rtlCol="false"/>
                    <a:lstStyle/>
                    <a:p>
                      <a:pPr algn="l">
                        <a:lnSpc>
                          <a:spcPts val="2867"/>
                        </a:lnSpc>
                        <a:defRPr/>
                      </a:pPr>
                      <a:r>
                        <a:rPr lang="en-US" b="true" sz="2389">
                          <a:solidFill>
                            <a:srgbClr val="FFFFFF"/>
                          </a:solidFill>
                          <a:latin typeface="Arimo Bold"/>
                          <a:ea typeface="Arimo Bold"/>
                          <a:cs typeface="Arimo Bold"/>
                          <a:sym typeface="Arimo Bold"/>
                        </a:rPr>
                        <a:t>     항목</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070C16"/>
                    </a:solidFill>
                  </a:tcPr>
                </a:tc>
                <a:tc>
                  <a:txBody>
                    <a:bodyPr anchor="t" rtlCol="false"/>
                    <a:lstStyle/>
                    <a:p>
                      <a:pPr algn="l">
                        <a:lnSpc>
                          <a:spcPts val="2867"/>
                        </a:lnSpc>
                        <a:defRPr/>
                      </a:pPr>
                      <a:r>
                        <a:rPr lang="en-US" b="true" sz="2389">
                          <a:solidFill>
                            <a:srgbClr val="FFFFFF"/>
                          </a:solidFill>
                          <a:latin typeface="Arimo Bold"/>
                          <a:ea typeface="Arimo Bold"/>
                          <a:cs typeface="Arimo Bold"/>
                          <a:sym typeface="Arimo Bold"/>
                        </a:rPr>
                        <a:t>                   내용</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070C16"/>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스킬 타입</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액티브</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1029638">
                <a:tc>
                  <a:txBody>
                    <a:bodyPr anchor="t" rtlCol="false"/>
                    <a:lstStyle/>
                    <a:p>
                      <a:pPr algn="l">
                        <a:lnSpc>
                          <a:spcPts val="2867"/>
                        </a:lnSpc>
                        <a:defRPr/>
                      </a:pPr>
                      <a:r>
                        <a:rPr lang="en-US" sz="2389">
                          <a:solidFill>
                            <a:srgbClr val="000000"/>
                          </a:solidFill>
                          <a:latin typeface="Arimo"/>
                          <a:ea typeface="Arimo"/>
                          <a:cs typeface="Arimo"/>
                          <a:sym typeface="Arimo"/>
                        </a:rPr>
                        <a:t> 시전 조건</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텔레포트(기본이동) 후 쿨타임이 없을시</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피해</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크로노 공격력 * 0.7</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개수(개)</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2</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1029638">
                <a:tc>
                  <a:txBody>
                    <a:bodyPr anchor="t" rtlCol="false"/>
                    <a:lstStyle/>
                    <a:p>
                      <a:pPr algn="l">
                        <a:lnSpc>
                          <a:spcPts val="2867"/>
                        </a:lnSpc>
                        <a:defRPr/>
                      </a:pPr>
                      <a:r>
                        <a:rPr lang="en-US" sz="2389">
                          <a:solidFill>
                            <a:srgbClr val="000000"/>
                          </a:solidFill>
                          <a:latin typeface="Arimo"/>
                          <a:ea typeface="Arimo"/>
                          <a:cs typeface="Arimo"/>
                          <a:sym typeface="Arimo"/>
                        </a:rPr>
                        <a:t> 투사체 속도</a:t>
                      </a:r>
                      <a:endParaRPr lang="en-US" sz="1100"/>
                    </a:p>
                    <a:p>
                      <a:pPr algn="l">
                        <a:lnSpc>
                          <a:spcPts val="2867"/>
                        </a:lnSpc>
                      </a:pPr>
                      <a:r>
                        <a:rPr lang="en-US" sz="2389">
                          <a:solidFill>
                            <a:srgbClr val="000000"/>
                          </a:solidFill>
                          <a:latin typeface="Arimo"/>
                          <a:ea typeface="Arimo"/>
                          <a:cs typeface="Arimo"/>
                          <a:sym typeface="Arimo"/>
                        </a:rPr>
                        <a:t>    (m/s)</a:t>
                      </a:r>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12</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쿨타임(s)</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10 - (PHASE 2) 1 - (PHASE 3) 1</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사거리(m)</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8</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부하 HP</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1,500</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자폭 데미지</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PC 전체 HP의 10%</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666733">
                <a:tc>
                  <a:txBody>
                    <a:bodyPr anchor="t" rtlCol="false"/>
                    <a:lstStyle/>
                    <a:p>
                      <a:pPr algn="l">
                        <a:lnSpc>
                          <a:spcPts val="2867"/>
                        </a:lnSpc>
                        <a:defRPr/>
                      </a:pPr>
                      <a:r>
                        <a:rPr lang="en-US" sz="2389">
                          <a:solidFill>
                            <a:srgbClr val="000000"/>
                          </a:solidFill>
                          <a:latin typeface="Arimo"/>
                          <a:ea typeface="Arimo"/>
                          <a:cs typeface="Arimo"/>
                          <a:sym typeface="Arimo"/>
                        </a:rPr>
                        <a:t>  시간 감속</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a:solidFill>
                            <a:srgbClr val="000000"/>
                          </a:solidFill>
                          <a:latin typeface="Arimo"/>
                          <a:ea typeface="Arimo"/>
                          <a:cs typeface="Arimo"/>
                          <a:sym typeface="Arimo"/>
                        </a:rPr>
                        <a:t>PC 스킬 쿨타임 증가 및 속도 감소</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r h="1198431">
                <a:tc>
                  <a:txBody>
                    <a:bodyPr anchor="t" rtlCol="false"/>
                    <a:lstStyle/>
                    <a:p>
                      <a:pPr algn="l">
                        <a:lnSpc>
                          <a:spcPts val="2867"/>
                        </a:lnSpc>
                        <a:defRPr/>
                      </a:pPr>
                      <a:r>
                        <a:rPr lang="en-US" sz="2389">
                          <a:solidFill>
                            <a:srgbClr val="000000"/>
                          </a:solidFill>
                          <a:latin typeface="Arimo"/>
                          <a:ea typeface="Arimo"/>
                          <a:cs typeface="Arimo"/>
                          <a:sym typeface="Arimo"/>
                        </a:rPr>
                        <a:t>시간 감속 지속 시간(s)</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FFC000"/>
                    </a:solidFill>
                  </a:tcPr>
                </a:tc>
                <a:tc>
                  <a:txBody>
                    <a:bodyPr anchor="t" rtlCol="false"/>
                    <a:lstStyle/>
                    <a:p>
                      <a:pPr algn="l">
                        <a:lnSpc>
                          <a:spcPts val="2867"/>
                        </a:lnSpc>
                        <a:defRPr/>
                      </a:pPr>
                      <a:r>
                        <a:rPr lang="en-US" sz="2389" spc="9">
                          <a:solidFill>
                            <a:srgbClr val="000000"/>
                          </a:solidFill>
                          <a:latin typeface="Mandali"/>
                          <a:ea typeface="Mandali"/>
                          <a:cs typeface="Mandali"/>
                          <a:sym typeface="Mandali"/>
                        </a:rPr>
                        <a:t>3 (쿨타임 증가는 스킬 쿨타임 다 돌때 까지 유지)</a:t>
                      </a:r>
                      <a:endParaRPr lang="en-US" sz="1100"/>
                    </a:p>
                  </a:txBody>
                  <a:tcPr marL="80922" marR="80922" marT="80922" marB="80922" anchor="t">
                    <a:lnL cmpd="sng" algn="ctr" cap="flat" w="11239">
                      <a:solidFill>
                        <a:srgbClr val="000000"/>
                      </a:solidFill>
                      <a:prstDash val="solid"/>
                      <a:round/>
                      <a:headEnd type="none" w="med" len="med"/>
                      <a:tailEnd type="none" w="med" len="med"/>
                    </a:lnL>
                    <a:lnR cmpd="sng" algn="ctr" cap="flat" w="11239">
                      <a:solidFill>
                        <a:srgbClr val="000000"/>
                      </a:solidFill>
                      <a:prstDash val="solid"/>
                      <a:round/>
                      <a:headEnd type="none" w="med" len="med"/>
                      <a:tailEnd type="none" w="med" len="med"/>
                    </a:lnR>
                    <a:lnT cmpd="sng" algn="ctr" cap="flat" w="11239">
                      <a:solidFill>
                        <a:srgbClr val="000000"/>
                      </a:solidFill>
                      <a:prstDash val="solid"/>
                      <a:round/>
                      <a:headEnd type="none" w="med" len="med"/>
                      <a:tailEnd type="none" w="med" len="med"/>
                    </a:lnT>
                    <a:lnB cmpd="sng" algn="ctr" cap="flat" w="11239">
                      <a:solidFill>
                        <a:srgbClr val="000000"/>
                      </a:solidFill>
                      <a:prstDash val="solid"/>
                      <a:round/>
                      <a:headEnd type="none" w="med" len="med"/>
                      <a:tailEnd type="none" w="med" len="med"/>
                    </a:lnB>
                    <a:solidFill>
                      <a:srgbClr val="A5A5A5"/>
                    </a:solidFill>
                  </a:tcPr>
                </a:tc>
              </a:tr>
            </a:tbl>
          </a:graphicData>
        </a:graphic>
      </p:graphicFrame>
      <p:grpSp>
        <p:nvGrpSpPr>
          <p:cNvPr name="Group 3" id="3"/>
          <p:cNvGrpSpPr/>
          <p:nvPr/>
        </p:nvGrpSpPr>
        <p:grpSpPr>
          <a:xfrm rot="0">
            <a:off x="1559666" y="4710326"/>
            <a:ext cx="5332923" cy="4547974"/>
            <a:chOff x="0" y="0"/>
            <a:chExt cx="953084" cy="812800"/>
          </a:xfrm>
        </p:grpSpPr>
        <p:sp>
          <p:nvSpPr>
            <p:cNvPr name="Freeform 4" id="4" descr="스크린샷, 원, 천체, 우주이(가) 표시된 사진  AI 생성 콘텐츠는 정확하지 않을 수 있습니다."/>
            <p:cNvSpPr/>
            <p:nvPr/>
          </p:nvSpPr>
          <p:spPr>
            <a:xfrm flipH="false" flipV="false" rot="0">
              <a:off x="0" y="0"/>
              <a:ext cx="953084" cy="812800"/>
            </a:xfrm>
            <a:custGeom>
              <a:avLst/>
              <a:gdLst/>
              <a:ahLst/>
              <a:cxnLst/>
              <a:rect r="r" b="b" t="t" l="l"/>
              <a:pathLst>
                <a:path h="812800" w="953084">
                  <a:moveTo>
                    <a:pt x="0" y="0"/>
                  </a:moveTo>
                  <a:lnTo>
                    <a:pt x="953084" y="0"/>
                  </a:lnTo>
                  <a:lnTo>
                    <a:pt x="953084" y="812800"/>
                  </a:lnTo>
                  <a:lnTo>
                    <a:pt x="0" y="812800"/>
                  </a:lnTo>
                  <a:close/>
                </a:path>
              </a:pathLst>
            </a:custGeom>
            <a:blipFill>
              <a:blip r:embed="rId2"/>
              <a:stretch>
                <a:fillRect l="0" t="-8281" r="0" b="-8281"/>
              </a:stretch>
            </a:blipFill>
          </p:spPr>
        </p:sp>
      </p:grpSp>
      <p:sp>
        <p:nvSpPr>
          <p:cNvPr name="TextBox 5" id="5"/>
          <p:cNvSpPr txBox="true"/>
          <p:nvPr/>
        </p:nvSpPr>
        <p:spPr>
          <a:xfrm rot="0">
            <a:off x="1028700" y="990600"/>
            <a:ext cx="6394855" cy="1209675"/>
          </a:xfrm>
          <a:prstGeom prst="rect">
            <a:avLst/>
          </a:prstGeom>
        </p:spPr>
        <p:txBody>
          <a:bodyPr anchor="t" rtlCol="false" tIns="0" lIns="0" bIns="0" rIns="0">
            <a:spAutoFit/>
          </a:bodyPr>
          <a:lstStyle/>
          <a:p>
            <a:pPr algn="l" marL="0" indent="0" lvl="0">
              <a:lnSpc>
                <a:spcPts val="9240"/>
              </a:lnSpc>
              <a:spcBef>
                <a:spcPct val="0"/>
              </a:spcBef>
            </a:pPr>
            <a:r>
              <a:rPr lang="en-US" sz="7700">
                <a:solidFill>
                  <a:srgbClr val="000000"/>
                </a:solidFill>
                <a:latin typeface="Arimo"/>
                <a:ea typeface="Arimo"/>
                <a:cs typeface="Arimo"/>
                <a:sym typeface="Arimo"/>
              </a:rPr>
              <a:t>부하 소환</a:t>
            </a:r>
          </a:p>
        </p:txBody>
      </p:sp>
      <p:sp>
        <p:nvSpPr>
          <p:cNvPr name="TextBox 6" id="6"/>
          <p:cNvSpPr txBox="true"/>
          <p:nvPr/>
        </p:nvSpPr>
        <p:spPr>
          <a:xfrm rot="0">
            <a:off x="1028700" y="2544625"/>
            <a:ext cx="6394855" cy="1495425"/>
          </a:xfrm>
          <a:prstGeom prst="rect">
            <a:avLst/>
          </a:prstGeom>
        </p:spPr>
        <p:txBody>
          <a:bodyPr anchor="t" rtlCol="false" tIns="0" lIns="0" bIns="0" rIns="0">
            <a:spAutoFit/>
          </a:bodyPr>
          <a:lstStyle/>
          <a:p>
            <a:pPr algn="l" marL="0" indent="0" lvl="0">
              <a:lnSpc>
                <a:spcPts val="3900"/>
              </a:lnSpc>
            </a:pPr>
            <a:r>
              <a:rPr lang="en-US" sz="3000">
                <a:solidFill>
                  <a:srgbClr val="000000"/>
                </a:solidFill>
                <a:latin typeface="Arimo"/>
                <a:ea typeface="Arimo"/>
                <a:cs typeface="Arimo"/>
                <a:sym typeface="Arimo"/>
              </a:rPr>
              <a:t>컨셉: 품에서 구체를 던진다. 몇초뒤 구체는 자폭후 시간 감속을 부여하는 부하로 변한다.</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495800"/>
            <a:ext cx="5237330" cy="1257300"/>
          </a:xfrm>
          <a:prstGeom prst="rect">
            <a:avLst/>
          </a:prstGeom>
        </p:spPr>
        <p:txBody>
          <a:bodyPr anchor="t" rtlCol="false" tIns="0" lIns="0" bIns="0" rIns="0">
            <a:spAutoFit/>
          </a:bodyPr>
          <a:lstStyle/>
          <a:p>
            <a:pPr algn="l" marL="0" indent="0" lvl="0">
              <a:lnSpc>
                <a:spcPts val="9600"/>
              </a:lnSpc>
            </a:pPr>
            <a:r>
              <a:rPr lang="en-US" sz="8000" u="none">
                <a:solidFill>
                  <a:srgbClr val="000000"/>
                </a:solidFill>
                <a:latin typeface="Arimo"/>
                <a:ea typeface="Arimo"/>
                <a:cs typeface="Arimo"/>
                <a:sym typeface="Arimo"/>
              </a:rPr>
              <a:t>부하 몬스터</a:t>
            </a:r>
          </a:p>
        </p:txBody>
      </p:sp>
      <p:grpSp>
        <p:nvGrpSpPr>
          <p:cNvPr name="Group 3" id="3"/>
          <p:cNvGrpSpPr/>
          <p:nvPr/>
        </p:nvGrpSpPr>
        <p:grpSpPr>
          <a:xfrm rot="0">
            <a:off x="6612693" y="1992897"/>
            <a:ext cx="5162461" cy="5466139"/>
            <a:chOff x="0" y="0"/>
            <a:chExt cx="5438889" cy="5758828"/>
          </a:xfrm>
        </p:grpSpPr>
        <p:sp>
          <p:nvSpPr>
            <p:cNvPr name="Freeform 4" id="4" descr="https://i1-e.pinimg.com/736x/85/a2/f2/85a2f2e4820d0de061a4df8c9a7e2822.jpg"/>
            <p:cNvSpPr/>
            <p:nvPr/>
          </p:nvSpPr>
          <p:spPr>
            <a:xfrm flipH="false" flipV="false" rot="0">
              <a:off x="0" y="0"/>
              <a:ext cx="5438902" cy="5758815"/>
            </a:xfrm>
            <a:custGeom>
              <a:avLst/>
              <a:gdLst/>
              <a:ahLst/>
              <a:cxnLst/>
              <a:rect r="r" b="b" t="t" l="l"/>
              <a:pathLst>
                <a:path h="5758815" w="5438902">
                  <a:moveTo>
                    <a:pt x="0" y="0"/>
                  </a:moveTo>
                  <a:lnTo>
                    <a:pt x="5438902" y="0"/>
                  </a:lnTo>
                  <a:lnTo>
                    <a:pt x="5438902" y="5758815"/>
                  </a:lnTo>
                  <a:lnTo>
                    <a:pt x="0" y="5758815"/>
                  </a:lnTo>
                  <a:lnTo>
                    <a:pt x="0" y="0"/>
                  </a:lnTo>
                  <a:close/>
                </a:path>
              </a:pathLst>
            </a:custGeom>
            <a:blipFill>
              <a:blip r:embed="rId2"/>
              <a:stretch>
                <a:fillRect l="0" t="0" r="0" b="-3427"/>
              </a:stretch>
            </a:blipFill>
          </p:spPr>
        </p:sp>
      </p:grpSp>
      <p:graphicFrame>
        <p:nvGraphicFramePr>
          <p:cNvPr name="Table 5" id="5"/>
          <p:cNvGraphicFramePr>
            <a:graphicFrameLocks noGrp="true"/>
          </p:cNvGraphicFramePr>
          <p:nvPr/>
        </p:nvGraphicFramePr>
        <p:xfrm>
          <a:off x="6621305" y="7459036"/>
          <a:ext cx="5111121" cy="795599"/>
        </p:xfrm>
        <a:graphic>
          <a:graphicData uri="http://schemas.openxmlformats.org/drawingml/2006/table">
            <a:tbl>
              <a:tblPr/>
              <a:tblGrid>
                <a:gridCol w="5111121"/>
              </a:tblGrid>
              <a:tr h="795599">
                <a:tc>
                  <a:txBody>
                    <a:bodyPr anchor="t" rtlCol="false"/>
                    <a:lstStyle/>
                    <a:p>
                      <a:pPr algn="l">
                        <a:lnSpc>
                          <a:spcPts val="4100"/>
                        </a:lnSpc>
                        <a:defRPr/>
                      </a:pPr>
                      <a:r>
                        <a:rPr lang="en-US" sz="3417">
                          <a:solidFill>
                            <a:srgbClr val="000000"/>
                          </a:solidFill>
                          <a:latin typeface="Arimo"/>
                          <a:ea typeface="Arimo"/>
                          <a:cs typeface="Arimo"/>
                          <a:sym typeface="Arimo"/>
                        </a:rPr>
                        <a:t>        컨셉 이미지</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solidFill>
                      <a:srgbClr val="FFD966"/>
                    </a:solidFill>
                  </a:tcPr>
                </a:tc>
              </a:tr>
            </a:tbl>
          </a:graphicData>
        </a:graphic>
      </p:graphicFrame>
      <p:graphicFrame>
        <p:nvGraphicFramePr>
          <p:cNvPr name="Table 6" id="6"/>
          <p:cNvGraphicFramePr>
            <a:graphicFrameLocks noGrp="true"/>
          </p:cNvGraphicFramePr>
          <p:nvPr/>
        </p:nvGraphicFramePr>
        <p:xfrm>
          <a:off x="11722276" y="2016781"/>
          <a:ext cx="6051374" cy="6244247"/>
        </p:xfrm>
        <a:graphic>
          <a:graphicData uri="http://schemas.openxmlformats.org/drawingml/2006/table">
            <a:tbl>
              <a:tblPr/>
              <a:tblGrid>
                <a:gridCol w="2618222"/>
                <a:gridCol w="3433153"/>
              </a:tblGrid>
              <a:tr h="876805">
                <a:tc>
                  <a:txBody>
                    <a:bodyPr anchor="t" rtlCol="false"/>
                    <a:lstStyle/>
                    <a:p>
                      <a:pPr algn="l">
                        <a:lnSpc>
                          <a:spcPts val="4100"/>
                        </a:lnSpc>
                        <a:defRPr/>
                      </a:pPr>
                      <a:r>
                        <a:rPr lang="en-US" sz="3417">
                          <a:solidFill>
                            <a:srgbClr val="000000"/>
                          </a:solidFill>
                          <a:latin typeface="Arimo"/>
                          <a:ea typeface="Arimo"/>
                          <a:cs typeface="Arimo"/>
                          <a:sym typeface="Arimo"/>
                        </a:rPr>
                        <a:t> 몬스터 명</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solidFill>
                      <a:srgbClr val="FFD966"/>
                    </a:solidFill>
                  </a:tcPr>
                </a:tc>
                <a:tc>
                  <a:txBody>
                    <a:bodyPr anchor="t" rtlCol="false"/>
                    <a:lstStyle/>
                    <a:p>
                      <a:pPr algn="l">
                        <a:lnSpc>
                          <a:spcPts val="4100"/>
                        </a:lnSpc>
                        <a:defRPr/>
                      </a:pPr>
                      <a:r>
                        <a:rPr lang="en-US" sz="3417">
                          <a:solidFill>
                            <a:srgbClr val="000000"/>
                          </a:solidFill>
                          <a:latin typeface="Arimo"/>
                          <a:ea typeface="Arimo"/>
                          <a:cs typeface="Arimo"/>
                          <a:sym typeface="Arimo"/>
                        </a:rPr>
                        <a:t>      실패작 </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tcPr>
                </a:tc>
              </a:tr>
              <a:tr h="930986">
                <a:tc>
                  <a:txBody>
                    <a:bodyPr anchor="t" rtlCol="false"/>
                    <a:lstStyle/>
                    <a:p>
                      <a:pPr algn="l">
                        <a:lnSpc>
                          <a:spcPts val="4100"/>
                        </a:lnSpc>
                        <a:defRPr/>
                      </a:pPr>
                      <a:r>
                        <a:rPr lang="en-US" sz="3417">
                          <a:solidFill>
                            <a:srgbClr val="000000"/>
                          </a:solidFill>
                          <a:latin typeface="Arimo"/>
                          <a:ea typeface="Arimo"/>
                          <a:cs typeface="Arimo"/>
                          <a:sym typeface="Arimo"/>
                        </a:rPr>
                        <a:t>   포지션</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solidFill>
                      <a:srgbClr val="FFD966"/>
                    </a:solidFill>
                  </a:tcPr>
                </a:tc>
                <a:tc>
                  <a:txBody>
                    <a:bodyPr anchor="t" rtlCol="false"/>
                    <a:lstStyle/>
                    <a:p>
                      <a:pPr algn="l">
                        <a:lnSpc>
                          <a:spcPts val="4100"/>
                        </a:lnSpc>
                        <a:defRPr/>
                      </a:pPr>
                      <a:r>
                        <a:rPr lang="en-US" sz="3417">
                          <a:solidFill>
                            <a:srgbClr val="000000"/>
                          </a:solidFill>
                          <a:latin typeface="Arimo"/>
                          <a:ea typeface="Arimo"/>
                          <a:cs typeface="Arimo"/>
                          <a:sym typeface="Arimo"/>
                        </a:rPr>
                        <a:t>       방해</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tcPr>
                </a:tc>
              </a:tr>
              <a:tr h="894866">
                <a:tc>
                  <a:txBody>
                    <a:bodyPr anchor="t" rtlCol="false"/>
                    <a:lstStyle/>
                    <a:p>
                      <a:pPr algn="l">
                        <a:lnSpc>
                          <a:spcPts val="4100"/>
                        </a:lnSpc>
                        <a:defRPr/>
                      </a:pPr>
                      <a:r>
                        <a:rPr lang="en-US" sz="3417">
                          <a:solidFill>
                            <a:srgbClr val="000000"/>
                          </a:solidFill>
                          <a:latin typeface="Arimo"/>
                          <a:ea typeface="Arimo"/>
                          <a:cs typeface="Arimo"/>
                          <a:sym typeface="Arimo"/>
                        </a:rPr>
                        <a:t>    크기</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solidFill>
                      <a:srgbClr val="FFD966"/>
                    </a:solidFill>
                  </a:tcPr>
                </a:tc>
                <a:tc>
                  <a:txBody>
                    <a:bodyPr anchor="t" rtlCol="false"/>
                    <a:lstStyle/>
                    <a:p>
                      <a:pPr algn="l">
                        <a:lnSpc>
                          <a:spcPts val="4100"/>
                        </a:lnSpc>
                        <a:defRPr/>
                      </a:pPr>
                      <a:r>
                        <a:rPr lang="en-US" sz="3417">
                          <a:solidFill>
                            <a:srgbClr val="000000"/>
                          </a:solidFill>
                          <a:latin typeface="Arimo"/>
                          <a:ea typeface="Arimo"/>
                          <a:cs typeface="Arimo"/>
                          <a:sym typeface="Arimo"/>
                        </a:rPr>
                        <a:t>  초소형, 소형</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tcPr>
                </a:tc>
              </a:tr>
              <a:tr h="858746">
                <a:tc>
                  <a:txBody>
                    <a:bodyPr anchor="t" rtlCol="false"/>
                    <a:lstStyle/>
                    <a:p>
                      <a:pPr algn="l">
                        <a:lnSpc>
                          <a:spcPts val="4100"/>
                        </a:lnSpc>
                        <a:defRPr/>
                      </a:pPr>
                      <a:r>
                        <a:rPr lang="en-US" sz="3417">
                          <a:solidFill>
                            <a:srgbClr val="000000"/>
                          </a:solidFill>
                          <a:latin typeface="Arimo"/>
                          <a:ea typeface="Arimo"/>
                          <a:cs typeface="Arimo"/>
                          <a:sym typeface="Arimo"/>
                        </a:rPr>
                        <a:t> 사용 스킬</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solidFill>
                      <a:srgbClr val="FFD966"/>
                    </a:solidFill>
                  </a:tcPr>
                </a:tc>
                <a:tc>
                  <a:txBody>
                    <a:bodyPr anchor="t" rtlCol="false"/>
                    <a:lstStyle/>
                    <a:p>
                      <a:pPr algn="l">
                        <a:lnSpc>
                          <a:spcPts val="4100"/>
                        </a:lnSpc>
                        <a:defRPr/>
                      </a:pPr>
                      <a:r>
                        <a:rPr lang="en-US" sz="3417">
                          <a:solidFill>
                            <a:srgbClr val="000000"/>
                          </a:solidFill>
                          <a:latin typeface="Arimo"/>
                          <a:ea typeface="Arimo"/>
                          <a:cs typeface="Arimo"/>
                          <a:sym typeface="Arimo"/>
                        </a:rPr>
                        <a:t>자폭+시간 감속</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tcPr>
                </a:tc>
              </a:tr>
              <a:tr h="2682843">
                <a:tc>
                  <a:txBody>
                    <a:bodyPr anchor="t" rtlCol="false"/>
                    <a:lstStyle/>
                    <a:p>
                      <a:pPr algn="l">
                        <a:lnSpc>
                          <a:spcPts val="4100"/>
                        </a:lnSpc>
                        <a:defRPr/>
                      </a:pPr>
                      <a:r>
                        <a:rPr lang="en-US" sz="3417">
                          <a:solidFill>
                            <a:srgbClr val="000000"/>
                          </a:solidFill>
                          <a:latin typeface="Arimo"/>
                          <a:ea typeface="Arimo"/>
                          <a:cs typeface="Arimo"/>
                          <a:sym typeface="Arimo"/>
                        </a:rPr>
                        <a:t> </a:t>
                      </a:r>
                      <a:endParaRPr lang="en-US" sz="1100"/>
                    </a:p>
                    <a:p>
                      <a:pPr algn="l">
                        <a:lnSpc>
                          <a:spcPts val="4100"/>
                        </a:lnSpc>
                      </a:pPr>
                    </a:p>
                    <a:p>
                      <a:pPr algn="l">
                        <a:lnSpc>
                          <a:spcPts val="4100"/>
                        </a:lnSpc>
                      </a:pPr>
                      <a:r>
                        <a:rPr lang="en-US" sz="3417">
                          <a:solidFill>
                            <a:srgbClr val="000000"/>
                          </a:solidFill>
                          <a:latin typeface="Arimo"/>
                          <a:ea typeface="Arimo"/>
                          <a:cs typeface="Arimo"/>
                          <a:sym typeface="Arimo"/>
                        </a:rPr>
                        <a:t> 행동 패턴</a:t>
                      </a:r>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solidFill>
                      <a:srgbClr val="FFD966"/>
                    </a:solidFill>
                  </a:tcPr>
                </a:tc>
                <a:tc>
                  <a:txBody>
                    <a:bodyPr anchor="t" rtlCol="false"/>
                    <a:lstStyle/>
                    <a:p>
                      <a:pPr algn="l">
                        <a:lnSpc>
                          <a:spcPts val="4100"/>
                        </a:lnSpc>
                        <a:defRPr/>
                      </a:pPr>
                      <a:r>
                        <a:rPr lang="en-US" sz="3417">
                          <a:solidFill>
                            <a:srgbClr val="000000"/>
                          </a:solidFill>
                          <a:latin typeface="Arimo"/>
                          <a:ea typeface="Arimo"/>
                          <a:cs typeface="Arimo"/>
                          <a:sym typeface="Arimo"/>
                        </a:rPr>
                        <a:t>소환 후 PC 근처로가 자폭. 자폭 성공시 PC 에게 시간 감속 부여</a:t>
                      </a: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tcPr>
                </a:tc>
              </a:tr>
            </a:tbl>
          </a:graphicData>
        </a:graphic>
      </p:graphicFrame>
      <p:graphicFrame>
        <p:nvGraphicFramePr>
          <p:cNvPr name="Table 7" id="7"/>
          <p:cNvGraphicFramePr>
            <a:graphicFrameLocks noGrp="true"/>
          </p:cNvGraphicFramePr>
          <p:nvPr/>
        </p:nvGraphicFramePr>
        <p:xfrm>
          <a:off x="6621305" y="1997746"/>
          <a:ext cx="5111121" cy="5472757"/>
        </p:xfrm>
        <a:graphic>
          <a:graphicData uri="http://schemas.openxmlformats.org/drawingml/2006/table">
            <a:tbl>
              <a:tblPr/>
              <a:tblGrid>
                <a:gridCol w="5111121"/>
              </a:tblGrid>
              <a:tr h="5472757">
                <a:tc>
                  <a:txBody>
                    <a:bodyPr anchor="t" rtlCol="false"/>
                    <a:lstStyle/>
                    <a:p>
                      <a:pPr algn="l">
                        <a:lnSpc>
                          <a:spcPts val="2126"/>
                        </a:lnSpc>
                        <a:defRPr/>
                      </a:pPr>
                      <a:endParaRPr lang="en-US" sz="1100"/>
                    </a:p>
                  </a:txBody>
                  <a:tcPr marL="115723" marR="115723" marT="115723" marB="115723" anchor="t">
                    <a:lnL cmpd="sng" algn="ctr" cap="flat" w="16073">
                      <a:solidFill>
                        <a:srgbClr val="000000"/>
                      </a:solidFill>
                      <a:prstDash val="solid"/>
                      <a:round/>
                      <a:headEnd type="none" w="med" len="med"/>
                      <a:tailEnd type="none" w="med" len="med"/>
                    </a:lnL>
                    <a:lnR cmpd="sng" algn="ctr" cap="flat" w="16073">
                      <a:solidFill>
                        <a:srgbClr val="000000"/>
                      </a:solidFill>
                      <a:prstDash val="solid"/>
                      <a:round/>
                      <a:headEnd type="none" w="med" len="med"/>
                      <a:tailEnd type="none" w="med" len="med"/>
                    </a:lnR>
                    <a:lnT cmpd="sng" algn="ctr" cap="flat" w="16073">
                      <a:solidFill>
                        <a:srgbClr val="000000"/>
                      </a:solidFill>
                      <a:prstDash val="solid"/>
                      <a:round/>
                      <a:headEnd type="none" w="med" len="med"/>
                      <a:tailEnd type="none" w="med" len="med"/>
                    </a:lnT>
                    <a:lnB cmpd="sng" algn="ctr" cap="flat" w="16073">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144000" y="1756258"/>
          <a:ext cx="8629650" cy="7355034"/>
        </p:xfrm>
        <a:graphic>
          <a:graphicData uri="http://schemas.openxmlformats.org/drawingml/2006/table">
            <a:tbl>
              <a:tblPr/>
              <a:tblGrid>
                <a:gridCol w="4254145"/>
                <a:gridCol w="4375505"/>
              </a:tblGrid>
              <a:tr h="585220">
                <a:tc>
                  <a:txBody>
                    <a:bodyPr anchor="t" rtlCol="false"/>
                    <a:lstStyle/>
                    <a:p>
                      <a:pPr algn="l">
                        <a:lnSpc>
                          <a:spcPts val="3545"/>
                        </a:lnSpc>
                        <a:defRPr/>
                      </a:pPr>
                      <a:r>
                        <a:rPr lang="en-US" b="true" sz="2954">
                          <a:solidFill>
                            <a:srgbClr val="FFFFFF"/>
                          </a:solidFill>
                          <a:latin typeface="Arimo Bold"/>
                          <a:ea typeface="Arimo Bold"/>
                          <a:cs typeface="Arimo Bold"/>
                          <a:sym typeface="Arimo Bold"/>
                        </a:rPr>
                        <a:t>           항목</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0D0C16"/>
                    </a:solidFill>
                  </a:tcPr>
                </a:tc>
                <a:tc>
                  <a:txBody>
                    <a:bodyPr anchor="t" rtlCol="false"/>
                    <a:lstStyle/>
                    <a:p>
                      <a:pPr algn="l">
                        <a:lnSpc>
                          <a:spcPts val="3545"/>
                        </a:lnSpc>
                        <a:defRPr/>
                      </a:pPr>
                      <a:r>
                        <a:rPr lang="en-US" b="true" sz="2954">
                          <a:solidFill>
                            <a:srgbClr val="FFFFFF"/>
                          </a:solidFill>
                          <a:latin typeface="Arimo Bold"/>
                          <a:ea typeface="Arimo Bold"/>
                          <a:cs typeface="Arimo Bold"/>
                          <a:sym typeface="Arimo Bold"/>
                        </a:rPr>
                        <a:t>            내용</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0D0C16"/>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스킬 타입</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액티브</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시전 조건</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텔레포트 후 쿨타임이 끝났을시</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쿨타임(s)</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50</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구조물 소환 개수(개)</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3</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구조물 소환 범위(r)</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10</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구조물 HP</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PC 1인 딜량의 4~5초분</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시간 정지 지속시간(s)</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10</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1269223">
                <a:tc>
                  <a:txBody>
                    <a:bodyPr anchor="t" rtlCol="false"/>
                    <a:lstStyle/>
                    <a:p>
                      <a:pPr algn="l">
                        <a:lnSpc>
                          <a:spcPts val="3545"/>
                        </a:lnSpc>
                        <a:defRPr/>
                      </a:pPr>
                      <a:r>
                        <a:rPr lang="en-US" sz="2954">
                          <a:solidFill>
                            <a:srgbClr val="000000"/>
                          </a:solidFill>
                          <a:latin typeface="Arimo"/>
                          <a:ea typeface="Arimo"/>
                          <a:cs typeface="Arimo"/>
                          <a:sym typeface="Arimo"/>
                        </a:rPr>
                        <a:t>     </a:t>
                      </a:r>
                      <a:endParaRPr lang="en-US" sz="1100"/>
                    </a:p>
                    <a:p>
                      <a:pPr algn="l">
                        <a:lnSpc>
                          <a:spcPts val="3545"/>
                        </a:lnSpc>
                      </a:pPr>
                      <a:r>
                        <a:rPr lang="en-US" sz="2954">
                          <a:solidFill>
                            <a:srgbClr val="000000"/>
                          </a:solidFill>
                          <a:latin typeface="Arimo"/>
                          <a:ea typeface="Arimo"/>
                          <a:cs typeface="Arimo"/>
                          <a:sym typeface="Arimo"/>
                        </a:rPr>
                        <a:t>           특이 사항</a:t>
                      </a:r>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시전 시간 동안 보스 이동 및 스킬 사용 불가, 무적</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r h="687574">
                <a:tc>
                  <a:txBody>
                    <a:bodyPr anchor="t" rtlCol="false"/>
                    <a:lstStyle/>
                    <a:p>
                      <a:pPr algn="l">
                        <a:lnSpc>
                          <a:spcPts val="3545"/>
                        </a:lnSpc>
                        <a:defRPr/>
                      </a:pPr>
                      <a:r>
                        <a:rPr lang="en-US" sz="2954">
                          <a:solidFill>
                            <a:srgbClr val="000000"/>
                          </a:solidFill>
                          <a:latin typeface="Arimo"/>
                          <a:ea typeface="Arimo"/>
                          <a:cs typeface="Arimo"/>
                          <a:sym typeface="Arimo"/>
                        </a:rPr>
                        <a:t> 보스 스턴 지속시간(s)</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FFC000"/>
                    </a:solidFill>
                  </a:tcPr>
                </a:tc>
                <a:tc>
                  <a:txBody>
                    <a:bodyPr anchor="t" rtlCol="false"/>
                    <a:lstStyle/>
                    <a:p>
                      <a:pPr algn="l">
                        <a:lnSpc>
                          <a:spcPts val="3545"/>
                        </a:lnSpc>
                        <a:defRPr/>
                      </a:pPr>
                      <a:r>
                        <a:rPr lang="en-US" sz="2954">
                          <a:solidFill>
                            <a:srgbClr val="000000"/>
                          </a:solidFill>
                          <a:latin typeface="Arimo"/>
                          <a:ea typeface="Arimo"/>
                          <a:cs typeface="Arimo"/>
                          <a:sym typeface="Arimo"/>
                        </a:rPr>
                        <a:t>8</a:t>
                      </a:r>
                      <a:endParaRPr lang="en-US" sz="1100"/>
                    </a:p>
                  </a:txBody>
                  <a:tcPr marL="100054" marR="100054" marT="100054" marB="100054" anchor="t">
                    <a:lnL cmpd="sng" algn="ctr" cap="flat" w="13896">
                      <a:solidFill>
                        <a:srgbClr val="000000"/>
                      </a:solidFill>
                      <a:prstDash val="solid"/>
                      <a:round/>
                      <a:headEnd type="none" w="med" len="med"/>
                      <a:tailEnd type="none" w="med" len="med"/>
                    </a:lnL>
                    <a:lnR cmpd="sng" algn="ctr" cap="flat" w="13896">
                      <a:solidFill>
                        <a:srgbClr val="000000"/>
                      </a:solidFill>
                      <a:prstDash val="solid"/>
                      <a:round/>
                      <a:headEnd type="none" w="med" len="med"/>
                      <a:tailEnd type="none" w="med" len="med"/>
                    </a:lnR>
                    <a:lnT cmpd="sng" algn="ctr" cap="flat" w="13896">
                      <a:solidFill>
                        <a:srgbClr val="000000"/>
                      </a:solidFill>
                      <a:prstDash val="solid"/>
                      <a:round/>
                      <a:headEnd type="none" w="med" len="med"/>
                      <a:tailEnd type="none" w="med" len="med"/>
                    </a:lnT>
                    <a:lnB cmpd="sng" algn="ctr" cap="flat" w="13896">
                      <a:solidFill>
                        <a:srgbClr val="000000"/>
                      </a:solidFill>
                      <a:prstDash val="solid"/>
                      <a:round/>
                      <a:headEnd type="none" w="med" len="med"/>
                      <a:tailEnd type="none" w="med" len="med"/>
                    </a:lnB>
                    <a:solidFill>
                      <a:srgbClr val="A5A5A5"/>
                    </a:solidFill>
                  </a:tcPr>
                </a:tc>
              </a:tr>
            </a:tbl>
          </a:graphicData>
        </a:graphic>
      </p:graphicFrame>
      <p:grpSp>
        <p:nvGrpSpPr>
          <p:cNvPr name="Group 3" id="3"/>
          <p:cNvGrpSpPr/>
          <p:nvPr/>
        </p:nvGrpSpPr>
        <p:grpSpPr>
          <a:xfrm rot="0">
            <a:off x="1741350" y="4551599"/>
            <a:ext cx="4969554" cy="4892892"/>
            <a:chOff x="0" y="0"/>
            <a:chExt cx="1697865" cy="1671673"/>
          </a:xfrm>
        </p:grpSpPr>
        <p:sp>
          <p:nvSpPr>
            <p:cNvPr name="Freeform 4" id="4" descr="원, 스크린샷, 우주, 천체이(가) 표시된 사진  AI 생성 콘텐츠는 정확하지 않을 수 있습니다."/>
            <p:cNvSpPr/>
            <p:nvPr/>
          </p:nvSpPr>
          <p:spPr>
            <a:xfrm flipH="false" flipV="false" rot="0">
              <a:off x="0" y="0"/>
              <a:ext cx="1697865" cy="1671673"/>
            </a:xfrm>
            <a:custGeom>
              <a:avLst/>
              <a:gdLst/>
              <a:ahLst/>
              <a:cxnLst/>
              <a:rect r="r" b="b" t="t" l="l"/>
              <a:pathLst>
                <a:path h="1671673" w="1697865">
                  <a:moveTo>
                    <a:pt x="0" y="0"/>
                  </a:moveTo>
                  <a:lnTo>
                    <a:pt x="1697865" y="0"/>
                  </a:lnTo>
                  <a:lnTo>
                    <a:pt x="1697865" y="1671673"/>
                  </a:lnTo>
                  <a:lnTo>
                    <a:pt x="0" y="1671673"/>
                  </a:lnTo>
                  <a:close/>
                </a:path>
              </a:pathLst>
            </a:custGeom>
            <a:blipFill>
              <a:blip r:embed="rId2"/>
              <a:stretch>
                <a:fillRect l="0" t="-934" r="0" b="-934"/>
              </a:stretch>
            </a:blipFill>
          </p:spPr>
        </p:sp>
      </p:grpSp>
      <p:sp>
        <p:nvSpPr>
          <p:cNvPr name="TextBox 5" id="5"/>
          <p:cNvSpPr txBox="true"/>
          <p:nvPr/>
        </p:nvSpPr>
        <p:spPr>
          <a:xfrm rot="0">
            <a:off x="1028700" y="990600"/>
            <a:ext cx="6394855" cy="1209675"/>
          </a:xfrm>
          <a:prstGeom prst="rect">
            <a:avLst/>
          </a:prstGeom>
        </p:spPr>
        <p:txBody>
          <a:bodyPr anchor="t" rtlCol="false" tIns="0" lIns="0" bIns="0" rIns="0">
            <a:spAutoFit/>
          </a:bodyPr>
          <a:lstStyle/>
          <a:p>
            <a:pPr algn="l" marL="0" indent="0" lvl="0">
              <a:lnSpc>
                <a:spcPts val="9240"/>
              </a:lnSpc>
              <a:spcBef>
                <a:spcPct val="0"/>
              </a:spcBef>
            </a:pPr>
            <a:r>
              <a:rPr lang="en-US" sz="7700">
                <a:solidFill>
                  <a:srgbClr val="000000"/>
                </a:solidFill>
                <a:latin typeface="Arimo"/>
                <a:ea typeface="Arimo"/>
                <a:cs typeface="Arimo"/>
                <a:sym typeface="Arimo"/>
              </a:rPr>
              <a:t>시간 정지</a:t>
            </a:r>
          </a:p>
        </p:txBody>
      </p:sp>
      <p:sp>
        <p:nvSpPr>
          <p:cNvPr name="TextBox 6" id="6"/>
          <p:cNvSpPr txBox="true"/>
          <p:nvPr/>
        </p:nvSpPr>
        <p:spPr>
          <a:xfrm rot="0">
            <a:off x="1028700" y="2554150"/>
            <a:ext cx="6394855" cy="1606924"/>
          </a:xfrm>
          <a:prstGeom prst="rect">
            <a:avLst/>
          </a:prstGeom>
        </p:spPr>
        <p:txBody>
          <a:bodyPr anchor="t" rtlCol="false" tIns="0" lIns="0" bIns="0" rIns="0">
            <a:spAutoFit/>
          </a:bodyPr>
          <a:lstStyle/>
          <a:p>
            <a:pPr algn="l" marL="0" indent="0" lvl="0">
              <a:lnSpc>
                <a:spcPts val="3211"/>
              </a:lnSpc>
            </a:pPr>
            <a:r>
              <a:rPr lang="en-US" sz="2470">
                <a:solidFill>
                  <a:srgbClr val="000000"/>
                </a:solidFill>
                <a:latin typeface="Arimo"/>
                <a:ea typeface="Arimo"/>
                <a:cs typeface="Arimo"/>
                <a:sym typeface="Arimo"/>
              </a:rPr>
              <a:t>컨셉: 자신 일정 반경 내에 구조물을 소환한다. 시간내에 파괴 실패시 PC 시간 정지(이동 불가, 스킬 사용 불가)를 적용한다. 시간 내에 파괴 성공시 보스가 스턴 상태가 된다.</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06715" y="3073301"/>
          <a:ext cx="7566935" cy="5842911"/>
        </p:xfrm>
        <a:graphic>
          <a:graphicData uri="http://schemas.openxmlformats.org/drawingml/2006/table">
            <a:tbl>
              <a:tblPr/>
              <a:tblGrid>
                <a:gridCol w="2088346"/>
                <a:gridCol w="5478589"/>
              </a:tblGrid>
              <a:tr h="517116">
                <a:tc>
                  <a:txBody>
                    <a:bodyPr anchor="t" rtlCol="false"/>
                    <a:lstStyle/>
                    <a:p>
                      <a:pPr algn="l">
                        <a:lnSpc>
                          <a:spcPts val="3035"/>
                        </a:lnSpc>
                        <a:defRPr/>
                      </a:pPr>
                      <a:r>
                        <a:rPr lang="en-US" b="true" sz="2529">
                          <a:solidFill>
                            <a:srgbClr val="FFFFFF"/>
                          </a:solidFill>
                          <a:latin typeface="Arimo Bold"/>
                          <a:ea typeface="Arimo Bold"/>
                          <a:cs typeface="Arimo Bold"/>
                          <a:sym typeface="Arimo Bold"/>
                        </a:rPr>
                        <a:t>     항목</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404040"/>
                    </a:solidFill>
                  </a:tcPr>
                </a:tc>
                <a:tc>
                  <a:txBody>
                    <a:bodyPr anchor="t" rtlCol="false"/>
                    <a:lstStyle/>
                    <a:p>
                      <a:pPr algn="l">
                        <a:lnSpc>
                          <a:spcPts val="3035"/>
                        </a:lnSpc>
                        <a:defRPr/>
                      </a:pPr>
                      <a:r>
                        <a:rPr lang="en-US" b="true" sz="2529">
                          <a:solidFill>
                            <a:srgbClr val="FFFFFF"/>
                          </a:solidFill>
                          <a:latin typeface="Arimo Bold"/>
                          <a:ea typeface="Arimo Bold"/>
                          <a:cs typeface="Arimo Bold"/>
                          <a:sym typeface="Arimo Bold"/>
                        </a:rPr>
                        <a:t>                    내용</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404040"/>
                    </a:solidFill>
                  </a:tcPr>
                </a:tc>
              </a:tr>
              <a:tr h="706288">
                <a:tc>
                  <a:txBody>
                    <a:bodyPr anchor="t" rtlCol="false"/>
                    <a:lstStyle/>
                    <a:p>
                      <a:pPr algn="l">
                        <a:lnSpc>
                          <a:spcPts val="3035"/>
                        </a:lnSpc>
                        <a:defRPr/>
                      </a:pPr>
                      <a:r>
                        <a:rPr lang="en-US" sz="2529">
                          <a:solidFill>
                            <a:srgbClr val="000000"/>
                          </a:solidFill>
                          <a:latin typeface="Arimo"/>
                          <a:ea typeface="Arimo"/>
                          <a:cs typeface="Arimo"/>
                          <a:sym typeface="Arimo"/>
                        </a:rPr>
                        <a:t> 스킬 타입</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FFC000"/>
                    </a:solidFill>
                  </a:tcPr>
                </a:tc>
                <a:tc>
                  <a:txBody>
                    <a:bodyPr anchor="t" rtlCol="false"/>
                    <a:lstStyle/>
                    <a:p>
                      <a:pPr algn="l">
                        <a:lnSpc>
                          <a:spcPts val="3035"/>
                        </a:lnSpc>
                        <a:defRPr/>
                      </a:pPr>
                      <a:r>
                        <a:rPr lang="en-US" sz="2529">
                          <a:solidFill>
                            <a:srgbClr val="000000"/>
                          </a:solidFill>
                          <a:latin typeface="Arimo"/>
                          <a:ea typeface="Arimo"/>
                          <a:cs typeface="Arimo"/>
                          <a:sym typeface="Arimo"/>
                        </a:rPr>
                        <a:t>액티브</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A5A5A5"/>
                    </a:solidFill>
                  </a:tcPr>
                </a:tc>
              </a:tr>
              <a:tr h="706288">
                <a:tc>
                  <a:txBody>
                    <a:bodyPr anchor="t" rtlCol="false"/>
                    <a:lstStyle/>
                    <a:p>
                      <a:pPr algn="l">
                        <a:lnSpc>
                          <a:spcPts val="3035"/>
                        </a:lnSpc>
                        <a:defRPr/>
                      </a:pPr>
                      <a:r>
                        <a:rPr lang="en-US" sz="2529">
                          <a:solidFill>
                            <a:srgbClr val="000000"/>
                          </a:solidFill>
                          <a:latin typeface="Arimo"/>
                          <a:ea typeface="Arimo"/>
                          <a:cs typeface="Arimo"/>
                          <a:sym typeface="Arimo"/>
                        </a:rPr>
                        <a:t> 시전 조건</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FFC000"/>
                    </a:solidFill>
                  </a:tcPr>
                </a:tc>
                <a:tc>
                  <a:txBody>
                    <a:bodyPr anchor="t" rtlCol="false"/>
                    <a:lstStyle/>
                    <a:p>
                      <a:pPr algn="l">
                        <a:lnSpc>
                          <a:spcPts val="3035"/>
                        </a:lnSpc>
                        <a:defRPr/>
                      </a:pPr>
                      <a:r>
                        <a:rPr lang="en-US" sz="2529">
                          <a:solidFill>
                            <a:srgbClr val="000000"/>
                          </a:solidFill>
                          <a:latin typeface="Arimo"/>
                          <a:ea typeface="Arimo"/>
                          <a:cs typeface="Arimo"/>
                          <a:sym typeface="Arimo"/>
                        </a:rPr>
                        <a:t>텔레포트(회피) 후 쿨타임이 없을 시</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A5A5A5"/>
                    </a:solidFill>
                  </a:tcPr>
                </a:tc>
              </a:tr>
              <a:tr h="706288">
                <a:tc>
                  <a:txBody>
                    <a:bodyPr anchor="t" rtlCol="false"/>
                    <a:lstStyle/>
                    <a:p>
                      <a:pPr algn="l">
                        <a:lnSpc>
                          <a:spcPts val="3035"/>
                        </a:lnSpc>
                        <a:defRPr/>
                      </a:pPr>
                      <a:r>
                        <a:rPr lang="en-US" sz="2529">
                          <a:solidFill>
                            <a:srgbClr val="000000"/>
                          </a:solidFill>
                          <a:latin typeface="Arimo"/>
                          <a:ea typeface="Arimo"/>
                          <a:cs typeface="Arimo"/>
                          <a:sym typeface="Arimo"/>
                        </a:rPr>
                        <a:t> 시전 대상</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FFC000"/>
                    </a:solidFill>
                  </a:tcPr>
                </a:tc>
                <a:tc>
                  <a:txBody>
                    <a:bodyPr anchor="t" rtlCol="false"/>
                    <a:lstStyle/>
                    <a:p>
                      <a:pPr algn="l">
                        <a:lnSpc>
                          <a:spcPts val="3035"/>
                        </a:lnSpc>
                        <a:defRPr/>
                      </a:pPr>
                      <a:r>
                        <a:rPr lang="en-US" sz="2529">
                          <a:solidFill>
                            <a:srgbClr val="000000"/>
                          </a:solidFill>
                          <a:latin typeface="Arimo"/>
                          <a:ea typeface="Arimo"/>
                          <a:cs typeface="Arimo"/>
                          <a:sym typeface="Arimo"/>
                        </a:rPr>
                        <a:t>자신</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A5A5A5"/>
                    </a:solidFill>
                  </a:tcPr>
                </a:tc>
              </a:tr>
              <a:tr h="706288">
                <a:tc>
                  <a:txBody>
                    <a:bodyPr anchor="t" rtlCol="false"/>
                    <a:lstStyle/>
                    <a:p>
                      <a:pPr algn="l">
                        <a:lnSpc>
                          <a:spcPts val="3035"/>
                        </a:lnSpc>
                        <a:defRPr/>
                      </a:pPr>
                      <a:r>
                        <a:rPr lang="en-US" sz="2529">
                          <a:solidFill>
                            <a:srgbClr val="000000"/>
                          </a:solidFill>
                          <a:latin typeface="Arimo"/>
                          <a:ea typeface="Arimo"/>
                          <a:cs typeface="Arimo"/>
                          <a:sym typeface="Arimo"/>
                        </a:rPr>
                        <a:t>지속 시간(s)</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FFC000"/>
                    </a:solidFill>
                  </a:tcPr>
                </a:tc>
                <a:tc>
                  <a:txBody>
                    <a:bodyPr anchor="t" rtlCol="false"/>
                    <a:lstStyle/>
                    <a:p>
                      <a:pPr algn="l">
                        <a:lnSpc>
                          <a:spcPts val="3035"/>
                        </a:lnSpc>
                        <a:defRPr/>
                      </a:pPr>
                      <a:r>
                        <a:rPr lang="en-US" sz="2529">
                          <a:solidFill>
                            <a:srgbClr val="000000"/>
                          </a:solidFill>
                          <a:latin typeface="Arimo"/>
                          <a:ea typeface="Arimo"/>
                          <a:cs typeface="Arimo"/>
                          <a:sym typeface="Arimo"/>
                        </a:rPr>
                        <a:t>15</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A5A5A5"/>
                    </a:solidFill>
                  </a:tcPr>
                </a:tc>
              </a:tr>
              <a:tr h="706288">
                <a:tc>
                  <a:txBody>
                    <a:bodyPr anchor="t" rtlCol="false"/>
                    <a:lstStyle/>
                    <a:p>
                      <a:pPr algn="l">
                        <a:lnSpc>
                          <a:spcPts val="3035"/>
                        </a:lnSpc>
                        <a:defRPr/>
                      </a:pPr>
                      <a:r>
                        <a:rPr lang="en-US" sz="2529">
                          <a:solidFill>
                            <a:srgbClr val="000000"/>
                          </a:solidFill>
                          <a:latin typeface="Arimo"/>
                          <a:ea typeface="Arimo"/>
                          <a:cs typeface="Arimo"/>
                          <a:sym typeface="Arimo"/>
                        </a:rPr>
                        <a:t> HP 회복량</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FFC000"/>
                    </a:solidFill>
                  </a:tcPr>
                </a:tc>
                <a:tc>
                  <a:txBody>
                    <a:bodyPr anchor="t" rtlCol="false"/>
                    <a:lstStyle/>
                    <a:p>
                      <a:pPr algn="l">
                        <a:lnSpc>
                          <a:spcPts val="3035"/>
                        </a:lnSpc>
                        <a:defRPr/>
                      </a:pPr>
                      <a:r>
                        <a:rPr lang="en-US" sz="2529">
                          <a:solidFill>
                            <a:srgbClr val="000000"/>
                          </a:solidFill>
                          <a:latin typeface="Arimo"/>
                          <a:ea typeface="Arimo"/>
                          <a:cs typeface="Arimo"/>
                          <a:sym typeface="Arimo"/>
                        </a:rPr>
                        <a:t>시간(s) * 1%</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A5A5A5"/>
                    </a:solidFill>
                  </a:tcPr>
                </a:tc>
              </a:tr>
              <a:tr h="706288">
                <a:tc>
                  <a:txBody>
                    <a:bodyPr anchor="t" rtlCol="false"/>
                    <a:lstStyle/>
                    <a:p>
                      <a:pPr algn="l">
                        <a:lnSpc>
                          <a:spcPts val="3035"/>
                        </a:lnSpc>
                        <a:defRPr/>
                      </a:pPr>
                      <a:r>
                        <a:rPr lang="en-US" sz="2529">
                          <a:solidFill>
                            <a:srgbClr val="000000"/>
                          </a:solidFill>
                          <a:latin typeface="Arimo"/>
                          <a:ea typeface="Arimo"/>
                          <a:cs typeface="Arimo"/>
                          <a:sym typeface="Arimo"/>
                        </a:rPr>
                        <a:t>  쿨타임(s)</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FFC000"/>
                    </a:solidFill>
                  </a:tcPr>
                </a:tc>
                <a:tc>
                  <a:txBody>
                    <a:bodyPr anchor="t" rtlCol="false"/>
                    <a:lstStyle/>
                    <a:p>
                      <a:pPr algn="l">
                        <a:lnSpc>
                          <a:spcPts val="3035"/>
                        </a:lnSpc>
                        <a:defRPr/>
                      </a:pPr>
                      <a:r>
                        <a:rPr lang="en-US" sz="2529">
                          <a:solidFill>
                            <a:srgbClr val="000000"/>
                          </a:solidFill>
                          <a:latin typeface="Arimo"/>
                          <a:ea typeface="Arimo"/>
                          <a:cs typeface="Arimo"/>
                          <a:sym typeface="Arimo"/>
                        </a:rPr>
                        <a:t>30</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A5A5A5"/>
                    </a:solidFill>
                  </a:tcPr>
                </a:tc>
              </a:tr>
              <a:tr h="1088066">
                <a:tc>
                  <a:txBody>
                    <a:bodyPr anchor="t" rtlCol="false"/>
                    <a:lstStyle/>
                    <a:p>
                      <a:pPr algn="l">
                        <a:lnSpc>
                          <a:spcPts val="3035"/>
                        </a:lnSpc>
                        <a:defRPr/>
                      </a:pPr>
                      <a:r>
                        <a:rPr lang="en-US" sz="2529">
                          <a:solidFill>
                            <a:srgbClr val="000000"/>
                          </a:solidFill>
                          <a:latin typeface="Arimo"/>
                          <a:ea typeface="Arimo"/>
                          <a:cs typeface="Arimo"/>
                          <a:sym typeface="Arimo"/>
                        </a:rPr>
                        <a:t> 시전 취소  </a:t>
                      </a:r>
                      <a:endParaRPr lang="en-US" sz="1100"/>
                    </a:p>
                    <a:p>
                      <a:pPr algn="l">
                        <a:lnSpc>
                          <a:spcPts val="3035"/>
                        </a:lnSpc>
                      </a:pPr>
                      <a:r>
                        <a:rPr lang="en-US" sz="2529">
                          <a:solidFill>
                            <a:srgbClr val="000000"/>
                          </a:solidFill>
                          <a:latin typeface="Arimo"/>
                          <a:ea typeface="Arimo"/>
                          <a:cs typeface="Arimo"/>
                          <a:sym typeface="Arimo"/>
                        </a:rPr>
                        <a:t>  횟수(회)</a:t>
                      </a:r>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FFC000"/>
                    </a:solidFill>
                  </a:tcPr>
                </a:tc>
                <a:tc>
                  <a:txBody>
                    <a:bodyPr anchor="t" rtlCol="false"/>
                    <a:lstStyle/>
                    <a:p>
                      <a:pPr algn="l">
                        <a:lnSpc>
                          <a:spcPts val="3035"/>
                        </a:lnSpc>
                        <a:defRPr/>
                      </a:pPr>
                      <a:r>
                        <a:rPr lang="en-US" sz="2529">
                          <a:solidFill>
                            <a:srgbClr val="000000"/>
                          </a:solidFill>
                          <a:latin typeface="Arimo"/>
                          <a:ea typeface="Arimo"/>
                          <a:cs typeface="Arimo"/>
                          <a:sym typeface="Arimo"/>
                        </a:rPr>
                        <a:t>3</a:t>
                      </a:r>
                      <a:endParaRPr lang="en-US" sz="1100"/>
                    </a:p>
                  </a:txBody>
                  <a:tcPr marL="85663" marR="85663" marT="85663" marB="85663" anchor="t">
                    <a:lnL cmpd="sng" algn="ctr" cap="flat" w="11898">
                      <a:solidFill>
                        <a:srgbClr val="000000"/>
                      </a:solidFill>
                      <a:prstDash val="solid"/>
                      <a:round/>
                      <a:headEnd type="none" w="med" len="med"/>
                      <a:tailEnd type="none" w="med" len="med"/>
                    </a:lnL>
                    <a:lnR cmpd="sng" algn="ctr" cap="flat" w="11898">
                      <a:solidFill>
                        <a:srgbClr val="000000"/>
                      </a:solidFill>
                      <a:prstDash val="solid"/>
                      <a:round/>
                      <a:headEnd type="none" w="med" len="med"/>
                      <a:tailEnd type="none" w="med" len="med"/>
                    </a:lnR>
                    <a:lnT cmpd="sng" algn="ctr" cap="flat" w="11898">
                      <a:solidFill>
                        <a:srgbClr val="000000"/>
                      </a:solidFill>
                      <a:prstDash val="solid"/>
                      <a:round/>
                      <a:headEnd type="none" w="med" len="med"/>
                      <a:tailEnd type="none" w="med" len="med"/>
                    </a:lnT>
                    <a:lnB cmpd="sng" algn="ctr" cap="flat" w="11898">
                      <a:solidFill>
                        <a:srgbClr val="000000"/>
                      </a:solidFill>
                      <a:prstDash val="solid"/>
                      <a:round/>
                      <a:headEnd type="none" w="med" len="med"/>
                      <a:tailEnd type="none" w="med" len="med"/>
                    </a:lnB>
                    <a:solidFill>
                      <a:srgbClr val="A5A5A5"/>
                    </a:solidFill>
                  </a:tcPr>
                </a:tc>
              </a:tr>
            </a:tbl>
          </a:graphicData>
        </a:graphic>
      </p:graphicFrame>
      <p:sp>
        <p:nvSpPr>
          <p:cNvPr name="TextBox 3" id="3"/>
          <p:cNvSpPr txBox="true"/>
          <p:nvPr/>
        </p:nvSpPr>
        <p:spPr>
          <a:xfrm rot="0">
            <a:off x="1028700" y="1066800"/>
            <a:ext cx="7656410" cy="1084659"/>
          </a:xfrm>
          <a:prstGeom prst="rect">
            <a:avLst/>
          </a:prstGeom>
        </p:spPr>
        <p:txBody>
          <a:bodyPr anchor="t" rtlCol="false" tIns="0" lIns="0" bIns="0" rIns="0">
            <a:spAutoFit/>
          </a:bodyPr>
          <a:lstStyle/>
          <a:p>
            <a:pPr algn="l" marL="0" indent="0" lvl="0">
              <a:lnSpc>
                <a:spcPts val="8146"/>
              </a:lnSpc>
            </a:pPr>
            <a:r>
              <a:rPr lang="en-US" sz="7406">
                <a:solidFill>
                  <a:srgbClr val="000000"/>
                </a:solidFill>
                <a:latin typeface="Arimo"/>
                <a:ea typeface="Arimo"/>
                <a:cs typeface="Arimo"/>
                <a:sym typeface="Arimo"/>
              </a:rPr>
              <a:t>시간 되감기</a:t>
            </a:r>
          </a:p>
        </p:txBody>
      </p:sp>
      <p:sp>
        <p:nvSpPr>
          <p:cNvPr name="TextBox 4" id="4"/>
          <p:cNvSpPr txBox="true"/>
          <p:nvPr/>
        </p:nvSpPr>
        <p:spPr>
          <a:xfrm rot="0">
            <a:off x="1028700" y="2681383"/>
            <a:ext cx="7656410" cy="2133600"/>
          </a:xfrm>
          <a:prstGeom prst="rect">
            <a:avLst/>
          </a:prstGeom>
        </p:spPr>
        <p:txBody>
          <a:bodyPr anchor="t" rtlCol="false" tIns="0" lIns="0" bIns="0" rIns="0">
            <a:spAutoFit/>
          </a:bodyPr>
          <a:lstStyle/>
          <a:p>
            <a:pPr algn="l" marL="0" indent="0" lvl="0">
              <a:lnSpc>
                <a:spcPts val="4200"/>
              </a:lnSpc>
            </a:pPr>
            <a:r>
              <a:rPr lang="en-US" sz="3000">
                <a:solidFill>
                  <a:srgbClr val="000000"/>
                </a:solidFill>
                <a:latin typeface="Arimo"/>
                <a:ea typeface="Arimo"/>
                <a:cs typeface="Arimo"/>
                <a:sym typeface="Arimo"/>
              </a:rPr>
              <a:t>컨셉: 시간을 되감아 자신의 HP를 회복한다. 지속 시간 동안 일정 횟수 공격 받을시 시전이 취소되고 시전 시간동안 회복된 HP만큼 데미지를 입는다.</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355613" y="1722354"/>
          <a:ext cx="8580502" cy="6797535"/>
        </p:xfrm>
        <a:graphic>
          <a:graphicData uri="http://schemas.openxmlformats.org/drawingml/2006/table">
            <a:tbl>
              <a:tblPr/>
              <a:tblGrid>
                <a:gridCol w="3544026"/>
                <a:gridCol w="5036476"/>
              </a:tblGrid>
              <a:tr h="954213">
                <a:tc>
                  <a:txBody>
                    <a:bodyPr anchor="t" rtlCol="false"/>
                    <a:lstStyle/>
                    <a:p>
                      <a:pPr algn="l">
                        <a:lnSpc>
                          <a:spcPts val="3942"/>
                        </a:lnSpc>
                        <a:defRPr/>
                      </a:pPr>
                      <a:r>
                        <a:rPr lang="en-US" b="true" sz="3504">
                          <a:solidFill>
                            <a:srgbClr val="FFFFFF"/>
                          </a:solidFill>
                          <a:latin typeface="Arimo Bold"/>
                          <a:ea typeface="Arimo Bold"/>
                          <a:cs typeface="Arimo Bold"/>
                          <a:sym typeface="Arimo Bold"/>
                        </a:rPr>
                        <a:t>       항목</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404040"/>
                    </a:solidFill>
                  </a:tcPr>
                </a:tc>
                <a:tc>
                  <a:txBody>
                    <a:bodyPr anchor="t" rtlCol="false"/>
                    <a:lstStyle/>
                    <a:p>
                      <a:pPr algn="l">
                        <a:lnSpc>
                          <a:spcPts val="3942"/>
                        </a:lnSpc>
                        <a:defRPr/>
                      </a:pPr>
                      <a:r>
                        <a:rPr lang="en-US" b="true" sz="3504">
                          <a:solidFill>
                            <a:srgbClr val="FFFFFF"/>
                          </a:solidFill>
                          <a:latin typeface="Arimo Bold"/>
                          <a:ea typeface="Arimo Bold"/>
                          <a:cs typeface="Arimo Bold"/>
                          <a:sym typeface="Arimo Bold"/>
                        </a:rPr>
                        <a:t>            내용</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404040"/>
                    </a:solidFill>
                  </a:tcPr>
                </a:tc>
              </a:tr>
              <a:tr h="1214453">
                <a:tc>
                  <a:txBody>
                    <a:bodyPr anchor="t" rtlCol="false"/>
                    <a:lstStyle/>
                    <a:p>
                      <a:pPr algn="l">
                        <a:lnSpc>
                          <a:spcPts val="3942"/>
                        </a:lnSpc>
                        <a:defRPr/>
                      </a:pPr>
                      <a:r>
                        <a:rPr lang="en-US" sz="3504" spc="13">
                          <a:solidFill>
                            <a:srgbClr val="000000"/>
                          </a:solidFill>
                          <a:latin typeface="Mandali"/>
                          <a:ea typeface="Mandali"/>
                          <a:cs typeface="Mandali"/>
                          <a:sym typeface="Mandali"/>
                        </a:rPr>
                        <a:t>    스킬 타입</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FFC000"/>
                    </a:solidFill>
                  </a:tcPr>
                </a:tc>
                <a:tc>
                  <a:txBody>
                    <a:bodyPr anchor="t" rtlCol="false"/>
                    <a:lstStyle/>
                    <a:p>
                      <a:pPr algn="l">
                        <a:lnSpc>
                          <a:spcPts val="3942"/>
                        </a:lnSpc>
                        <a:defRPr/>
                      </a:pPr>
                      <a:r>
                        <a:rPr lang="en-US" sz="3504" spc="13">
                          <a:solidFill>
                            <a:srgbClr val="000000"/>
                          </a:solidFill>
                          <a:latin typeface="Mandali"/>
                          <a:ea typeface="Mandali"/>
                          <a:cs typeface="Mandali"/>
                          <a:sym typeface="Mandali"/>
                        </a:rPr>
                        <a:t>액티브</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A5A5A5"/>
                    </a:solidFill>
                  </a:tcPr>
                </a:tc>
              </a:tr>
              <a:tr h="1214453">
                <a:tc>
                  <a:txBody>
                    <a:bodyPr anchor="t" rtlCol="false"/>
                    <a:lstStyle/>
                    <a:p>
                      <a:pPr algn="l">
                        <a:lnSpc>
                          <a:spcPts val="3942"/>
                        </a:lnSpc>
                        <a:defRPr/>
                      </a:pPr>
                      <a:r>
                        <a:rPr lang="en-US" sz="3504" spc="13">
                          <a:solidFill>
                            <a:srgbClr val="000000"/>
                          </a:solidFill>
                          <a:latin typeface="Mandali"/>
                          <a:ea typeface="Mandali"/>
                          <a:cs typeface="Mandali"/>
                          <a:sym typeface="Mandali"/>
                        </a:rPr>
                        <a:t>    시전 조건</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FFC000"/>
                    </a:solidFill>
                  </a:tcPr>
                </a:tc>
                <a:tc>
                  <a:txBody>
                    <a:bodyPr anchor="t" rtlCol="false"/>
                    <a:lstStyle/>
                    <a:p>
                      <a:pPr algn="l">
                        <a:lnSpc>
                          <a:spcPts val="3942"/>
                        </a:lnSpc>
                        <a:defRPr/>
                      </a:pPr>
                      <a:r>
                        <a:rPr lang="en-US" sz="3504">
                          <a:solidFill>
                            <a:srgbClr val="000000"/>
                          </a:solidFill>
                          <a:latin typeface="Arimo"/>
                          <a:ea typeface="Arimo"/>
                          <a:cs typeface="Arimo"/>
                          <a:sym typeface="Arimo"/>
                        </a:rPr>
                        <a:t>HP 1% 도달시</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A5A5A5"/>
                    </a:solidFill>
                  </a:tcPr>
                </a:tc>
              </a:tr>
              <a:tr h="1010296">
                <a:tc>
                  <a:txBody>
                    <a:bodyPr anchor="t" rtlCol="false"/>
                    <a:lstStyle/>
                    <a:p>
                      <a:pPr algn="l">
                        <a:lnSpc>
                          <a:spcPts val="3942"/>
                        </a:lnSpc>
                        <a:defRPr/>
                      </a:pPr>
                      <a:r>
                        <a:rPr lang="en-US" sz="3504">
                          <a:solidFill>
                            <a:srgbClr val="000000"/>
                          </a:solidFill>
                          <a:latin typeface="Arimo"/>
                          <a:ea typeface="Arimo"/>
                          <a:cs typeface="Arimo"/>
                          <a:sym typeface="Arimo"/>
                        </a:rPr>
                        <a:t>  실패 시간(s)</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FFC000"/>
                    </a:solidFill>
                  </a:tcPr>
                </a:tc>
                <a:tc>
                  <a:txBody>
                    <a:bodyPr anchor="t" rtlCol="false"/>
                    <a:lstStyle/>
                    <a:p>
                      <a:pPr algn="l">
                        <a:lnSpc>
                          <a:spcPts val="3942"/>
                        </a:lnSpc>
                        <a:defRPr/>
                      </a:pPr>
                      <a:r>
                        <a:rPr lang="en-US" sz="3504">
                          <a:solidFill>
                            <a:srgbClr val="000000"/>
                          </a:solidFill>
                          <a:latin typeface="Arimo"/>
                          <a:ea typeface="Arimo"/>
                          <a:cs typeface="Arimo"/>
                          <a:sym typeface="Arimo"/>
                        </a:rPr>
                        <a:t>30</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A5A5A5"/>
                    </a:solidFill>
                  </a:tcPr>
                </a:tc>
              </a:tr>
              <a:tr h="954213">
                <a:tc>
                  <a:txBody>
                    <a:bodyPr anchor="t" rtlCol="false"/>
                    <a:lstStyle/>
                    <a:p>
                      <a:pPr algn="l">
                        <a:lnSpc>
                          <a:spcPts val="3942"/>
                        </a:lnSpc>
                        <a:defRPr/>
                      </a:pPr>
                      <a:r>
                        <a:rPr lang="en-US" sz="3504">
                          <a:solidFill>
                            <a:srgbClr val="000000"/>
                          </a:solidFill>
                          <a:latin typeface="Arimo"/>
                          <a:ea typeface="Arimo"/>
                          <a:cs typeface="Arimo"/>
                          <a:sym typeface="Arimo"/>
                        </a:rPr>
                        <a:t> 이동 속도(m/s)</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FFC000"/>
                    </a:solidFill>
                  </a:tcPr>
                </a:tc>
                <a:tc>
                  <a:txBody>
                    <a:bodyPr anchor="t" rtlCol="false"/>
                    <a:lstStyle/>
                    <a:p>
                      <a:pPr algn="l">
                        <a:lnSpc>
                          <a:spcPts val="3942"/>
                        </a:lnSpc>
                        <a:defRPr/>
                      </a:pPr>
                      <a:r>
                        <a:rPr lang="en-US" sz="3504">
                          <a:solidFill>
                            <a:srgbClr val="000000"/>
                          </a:solidFill>
                          <a:latin typeface="Arimo"/>
                          <a:ea typeface="Arimo"/>
                          <a:cs typeface="Arimo"/>
                          <a:sym typeface="Arimo"/>
                        </a:rPr>
                        <a:t>9~10</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A5A5A5"/>
                    </a:solidFill>
                  </a:tcPr>
                </a:tc>
              </a:tr>
              <a:tr h="1449908">
                <a:tc>
                  <a:txBody>
                    <a:bodyPr anchor="t" rtlCol="false"/>
                    <a:lstStyle/>
                    <a:p>
                      <a:pPr algn="l">
                        <a:lnSpc>
                          <a:spcPts val="3942"/>
                        </a:lnSpc>
                        <a:defRPr/>
                      </a:pPr>
                      <a:r>
                        <a:rPr lang="en-US" sz="3504">
                          <a:solidFill>
                            <a:srgbClr val="000000"/>
                          </a:solidFill>
                          <a:latin typeface="Arimo"/>
                          <a:ea typeface="Arimo"/>
                          <a:cs typeface="Arimo"/>
                          <a:sym typeface="Arimo"/>
                        </a:rPr>
                        <a:t>  부활 성공시</a:t>
                      </a:r>
                      <a:endParaRPr lang="en-US" sz="1100"/>
                    </a:p>
                    <a:p>
                      <a:pPr algn="l">
                        <a:lnSpc>
                          <a:spcPts val="3942"/>
                        </a:lnSpc>
                      </a:pPr>
                      <a:r>
                        <a:rPr lang="en-US" sz="3504">
                          <a:solidFill>
                            <a:srgbClr val="000000"/>
                          </a:solidFill>
                          <a:latin typeface="Arimo"/>
                          <a:ea typeface="Arimo"/>
                          <a:cs typeface="Arimo"/>
                          <a:sym typeface="Arimo"/>
                        </a:rPr>
                        <a:t>      HP(%)        </a:t>
                      </a:r>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FFC000"/>
                    </a:solidFill>
                  </a:tcPr>
                </a:tc>
                <a:tc>
                  <a:txBody>
                    <a:bodyPr anchor="t" rtlCol="false"/>
                    <a:lstStyle/>
                    <a:p>
                      <a:pPr algn="l">
                        <a:lnSpc>
                          <a:spcPts val="4205"/>
                        </a:lnSpc>
                        <a:defRPr/>
                      </a:pPr>
                      <a:r>
                        <a:rPr lang="en-US" sz="3504">
                          <a:solidFill>
                            <a:srgbClr val="000000"/>
                          </a:solidFill>
                          <a:latin typeface="Arimo"/>
                          <a:ea typeface="Arimo"/>
                          <a:cs typeface="Arimo"/>
                          <a:sym typeface="Arimo"/>
                        </a:rPr>
                        <a:t>10</a:t>
                      </a:r>
                      <a:endParaRPr lang="en-US" sz="1100"/>
                    </a:p>
                  </a:txBody>
                  <a:tcPr marL="112758" marR="112758" marT="112758" marB="112758" anchor="t">
                    <a:lnL cmpd="sng" algn="ctr" cap="flat" w="15653">
                      <a:solidFill>
                        <a:srgbClr val="000000"/>
                      </a:solidFill>
                      <a:prstDash val="solid"/>
                      <a:round/>
                      <a:headEnd type="none" w="med" len="med"/>
                      <a:tailEnd type="none" w="med" len="med"/>
                    </a:lnL>
                    <a:lnR cmpd="sng" algn="ctr" cap="flat" w="15653">
                      <a:solidFill>
                        <a:srgbClr val="000000"/>
                      </a:solidFill>
                      <a:prstDash val="solid"/>
                      <a:round/>
                      <a:headEnd type="none" w="med" len="med"/>
                      <a:tailEnd type="none" w="med" len="med"/>
                    </a:lnR>
                    <a:lnT cmpd="sng" algn="ctr" cap="flat" w="15653">
                      <a:solidFill>
                        <a:srgbClr val="000000"/>
                      </a:solidFill>
                      <a:prstDash val="solid"/>
                      <a:round/>
                      <a:headEnd type="none" w="med" len="med"/>
                      <a:tailEnd type="none" w="med" len="med"/>
                    </a:lnT>
                    <a:lnB cmpd="sng" algn="ctr" cap="flat" w="15653">
                      <a:solidFill>
                        <a:srgbClr val="000000"/>
                      </a:solidFill>
                      <a:prstDash val="solid"/>
                      <a:round/>
                      <a:headEnd type="none" w="med" len="med"/>
                      <a:tailEnd type="none" w="med" len="med"/>
                    </a:lnB>
                    <a:solidFill>
                      <a:srgbClr val="A5A5A5"/>
                    </a:solidFill>
                  </a:tcPr>
                </a:tc>
              </a:tr>
            </a:tbl>
          </a:graphicData>
        </a:graphic>
      </p:graphicFrame>
      <p:sp>
        <p:nvSpPr>
          <p:cNvPr name="TextBox 3" id="3"/>
          <p:cNvSpPr txBox="true"/>
          <p:nvPr/>
        </p:nvSpPr>
        <p:spPr>
          <a:xfrm rot="0">
            <a:off x="1028700" y="1104900"/>
            <a:ext cx="6212906" cy="1371600"/>
          </a:xfrm>
          <a:prstGeom prst="rect">
            <a:avLst/>
          </a:prstGeom>
        </p:spPr>
        <p:txBody>
          <a:bodyPr anchor="t" rtlCol="false" tIns="0" lIns="0" bIns="0" rIns="0">
            <a:spAutoFit/>
          </a:bodyPr>
          <a:lstStyle/>
          <a:p>
            <a:pPr algn="l" marL="0" indent="0" lvl="0">
              <a:lnSpc>
                <a:spcPts val="10559"/>
              </a:lnSpc>
            </a:pPr>
            <a:r>
              <a:rPr lang="en-US" sz="8799">
                <a:solidFill>
                  <a:srgbClr val="000000"/>
                </a:solidFill>
                <a:latin typeface="Arimo"/>
                <a:ea typeface="Arimo"/>
                <a:cs typeface="Arimo"/>
                <a:sym typeface="Arimo"/>
              </a:rPr>
              <a:t>비상 탈출</a:t>
            </a:r>
          </a:p>
        </p:txBody>
      </p:sp>
      <p:sp>
        <p:nvSpPr>
          <p:cNvPr name="TextBox 4" id="4"/>
          <p:cNvSpPr txBox="true"/>
          <p:nvPr/>
        </p:nvSpPr>
        <p:spPr>
          <a:xfrm rot="0">
            <a:off x="1028700" y="2850849"/>
            <a:ext cx="5370269" cy="2400300"/>
          </a:xfrm>
          <a:prstGeom prst="rect">
            <a:avLst/>
          </a:prstGeom>
        </p:spPr>
        <p:txBody>
          <a:bodyPr anchor="t" rtlCol="false" tIns="0" lIns="0" bIns="0" rIns="0">
            <a:spAutoFit/>
          </a:bodyPr>
          <a:lstStyle/>
          <a:p>
            <a:pPr algn="l" marL="0" indent="0" lvl="0">
              <a:lnSpc>
                <a:spcPts val="3792"/>
              </a:lnSpc>
            </a:pPr>
            <a:r>
              <a:rPr lang="en-US" sz="3160">
                <a:solidFill>
                  <a:srgbClr val="000000"/>
                </a:solidFill>
                <a:latin typeface="Arimo"/>
                <a:ea typeface="Arimo"/>
                <a:cs typeface="Arimo"/>
                <a:sym typeface="Arimo"/>
              </a:rPr>
              <a:t>컨셉: 더 이상가면 위험하겠다고 판단해 몸을 버리고 머리만 탈출한다.(시간벌기). 일정 시간뒤 살아있다면 새로운 몸이 완성되면 부활한다. 스킬은 사용 불가이다.</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62225" y="8141865"/>
            <a:ext cx="2605840" cy="695830"/>
            <a:chOff x="0" y="0"/>
            <a:chExt cx="3474453" cy="927773"/>
          </a:xfrm>
        </p:grpSpPr>
        <p:sp>
          <p:nvSpPr>
            <p:cNvPr name="Freeform 3" id="3"/>
            <p:cNvSpPr/>
            <p:nvPr/>
          </p:nvSpPr>
          <p:spPr>
            <a:xfrm flipH="false" flipV="false" rot="0">
              <a:off x="0" y="0"/>
              <a:ext cx="3474466" cy="927735"/>
            </a:xfrm>
            <a:custGeom>
              <a:avLst/>
              <a:gdLst/>
              <a:ahLst/>
              <a:cxnLst/>
              <a:rect r="r" b="b" t="t" l="l"/>
              <a:pathLst>
                <a:path h="927735" w="3474466">
                  <a:moveTo>
                    <a:pt x="0" y="0"/>
                  </a:moveTo>
                  <a:lnTo>
                    <a:pt x="3474466" y="0"/>
                  </a:lnTo>
                  <a:lnTo>
                    <a:pt x="3474466" y="927735"/>
                  </a:lnTo>
                  <a:lnTo>
                    <a:pt x="0" y="927735"/>
                  </a:lnTo>
                  <a:close/>
                </a:path>
              </a:pathLst>
            </a:custGeom>
            <a:solidFill>
              <a:srgbClr val="5B9BD5"/>
            </a:solidFill>
            <a:ln w="19050" cap="sq">
              <a:solidFill>
                <a:srgbClr val="223F59"/>
              </a:solidFill>
              <a:prstDash val="solid"/>
              <a:miter/>
            </a:ln>
          </p:spPr>
        </p:sp>
      </p:grpSp>
      <p:sp>
        <p:nvSpPr>
          <p:cNvPr name="AutoShape 4" id="4"/>
          <p:cNvSpPr/>
          <p:nvPr/>
        </p:nvSpPr>
        <p:spPr>
          <a:xfrm rot="7320">
            <a:off x="3469348" y="6086227"/>
            <a:ext cx="4491295" cy="0"/>
          </a:xfrm>
          <a:prstGeom prst="line">
            <a:avLst/>
          </a:prstGeom>
          <a:ln cap="rnd" w="9525">
            <a:solidFill>
              <a:srgbClr val="A5A5A5"/>
            </a:solidFill>
            <a:prstDash val="solid"/>
            <a:headEnd type="none" len="sm" w="sm"/>
            <a:tailEnd type="none" len="sm" w="sm"/>
          </a:ln>
        </p:spPr>
      </p:sp>
      <p:grpSp>
        <p:nvGrpSpPr>
          <p:cNvPr name="Group 5" id="5"/>
          <p:cNvGrpSpPr/>
          <p:nvPr/>
        </p:nvGrpSpPr>
        <p:grpSpPr>
          <a:xfrm rot="0">
            <a:off x="2517105" y="6863515"/>
            <a:ext cx="3026940" cy="635670"/>
            <a:chOff x="0" y="0"/>
            <a:chExt cx="4035920" cy="847560"/>
          </a:xfrm>
        </p:grpSpPr>
        <p:sp>
          <p:nvSpPr>
            <p:cNvPr name="Freeform 6" id="6"/>
            <p:cNvSpPr/>
            <p:nvPr/>
          </p:nvSpPr>
          <p:spPr>
            <a:xfrm flipH="false" flipV="false" rot="0">
              <a:off x="0" y="0"/>
              <a:ext cx="4035933" cy="847598"/>
            </a:xfrm>
            <a:custGeom>
              <a:avLst/>
              <a:gdLst/>
              <a:ahLst/>
              <a:cxnLst/>
              <a:rect r="r" b="b" t="t" l="l"/>
              <a:pathLst>
                <a:path h="847598" w="4035933">
                  <a:moveTo>
                    <a:pt x="0" y="0"/>
                  </a:moveTo>
                  <a:lnTo>
                    <a:pt x="4035933" y="0"/>
                  </a:lnTo>
                  <a:lnTo>
                    <a:pt x="4035933" y="847598"/>
                  </a:lnTo>
                  <a:lnTo>
                    <a:pt x="0" y="847598"/>
                  </a:lnTo>
                  <a:close/>
                </a:path>
              </a:pathLst>
            </a:custGeom>
            <a:solidFill>
              <a:srgbClr val="A5A5A5"/>
            </a:solidFill>
            <a:ln w="19050" cap="sq">
              <a:solidFill>
                <a:srgbClr val="223F59"/>
              </a:solidFill>
              <a:prstDash val="solid"/>
              <a:miter/>
            </a:ln>
          </p:spPr>
        </p:sp>
      </p:grpSp>
      <p:grpSp>
        <p:nvGrpSpPr>
          <p:cNvPr name="Group 7" id="7"/>
          <p:cNvGrpSpPr/>
          <p:nvPr/>
        </p:nvGrpSpPr>
        <p:grpSpPr>
          <a:xfrm rot="0">
            <a:off x="11585905" y="2351675"/>
            <a:ext cx="2936710" cy="936460"/>
            <a:chOff x="0" y="0"/>
            <a:chExt cx="3915613" cy="1248613"/>
          </a:xfrm>
        </p:grpSpPr>
        <p:sp>
          <p:nvSpPr>
            <p:cNvPr name="Freeform 8" id="8"/>
            <p:cNvSpPr/>
            <p:nvPr/>
          </p:nvSpPr>
          <p:spPr>
            <a:xfrm flipH="false" flipV="false" rot="0">
              <a:off x="0" y="0"/>
              <a:ext cx="3915664" cy="1248664"/>
            </a:xfrm>
            <a:custGeom>
              <a:avLst/>
              <a:gdLst/>
              <a:ahLst/>
              <a:cxnLst/>
              <a:rect r="r" b="b" t="t" l="l"/>
              <a:pathLst>
                <a:path h="1248664" w="3915664">
                  <a:moveTo>
                    <a:pt x="0" y="0"/>
                  </a:moveTo>
                  <a:lnTo>
                    <a:pt x="3915664" y="0"/>
                  </a:lnTo>
                  <a:lnTo>
                    <a:pt x="3915664" y="1248664"/>
                  </a:lnTo>
                  <a:lnTo>
                    <a:pt x="0" y="1248664"/>
                  </a:lnTo>
                  <a:close/>
                </a:path>
              </a:pathLst>
            </a:custGeom>
            <a:solidFill>
              <a:srgbClr val="5B9BD5"/>
            </a:solidFill>
            <a:ln w="19050" cap="sq">
              <a:solidFill>
                <a:srgbClr val="223F59"/>
              </a:solidFill>
              <a:prstDash val="solid"/>
              <a:miter/>
            </a:ln>
          </p:spPr>
        </p:sp>
      </p:grpSp>
      <p:grpSp>
        <p:nvGrpSpPr>
          <p:cNvPr name="Group 9" id="9"/>
          <p:cNvGrpSpPr/>
          <p:nvPr/>
        </p:nvGrpSpPr>
        <p:grpSpPr>
          <a:xfrm rot="0">
            <a:off x="6893595" y="4878305"/>
            <a:ext cx="1914020" cy="740940"/>
            <a:chOff x="0" y="0"/>
            <a:chExt cx="2552027" cy="987920"/>
          </a:xfrm>
        </p:grpSpPr>
        <p:sp>
          <p:nvSpPr>
            <p:cNvPr name="Freeform 10" id="10"/>
            <p:cNvSpPr/>
            <p:nvPr/>
          </p:nvSpPr>
          <p:spPr>
            <a:xfrm flipH="false" flipV="false" rot="0">
              <a:off x="0" y="0"/>
              <a:ext cx="2552065" cy="987933"/>
            </a:xfrm>
            <a:custGeom>
              <a:avLst/>
              <a:gdLst/>
              <a:ahLst/>
              <a:cxnLst/>
              <a:rect r="r" b="b" t="t" l="l"/>
              <a:pathLst>
                <a:path h="987933" w="2552065">
                  <a:moveTo>
                    <a:pt x="0" y="0"/>
                  </a:moveTo>
                  <a:lnTo>
                    <a:pt x="2552065" y="0"/>
                  </a:lnTo>
                  <a:lnTo>
                    <a:pt x="2552065" y="987933"/>
                  </a:lnTo>
                  <a:lnTo>
                    <a:pt x="0" y="987933"/>
                  </a:lnTo>
                  <a:close/>
                </a:path>
              </a:pathLst>
            </a:custGeom>
            <a:solidFill>
              <a:srgbClr val="5B9BD5"/>
            </a:solidFill>
            <a:ln w="19050" cap="sq">
              <a:solidFill>
                <a:srgbClr val="223F59"/>
              </a:solidFill>
              <a:prstDash val="solid"/>
              <a:miter/>
            </a:ln>
          </p:spPr>
        </p:sp>
      </p:grpSp>
      <p:grpSp>
        <p:nvGrpSpPr>
          <p:cNvPr name="Group 11" id="11"/>
          <p:cNvGrpSpPr/>
          <p:nvPr/>
        </p:nvGrpSpPr>
        <p:grpSpPr>
          <a:xfrm rot="0">
            <a:off x="4742945" y="4863265"/>
            <a:ext cx="1778670" cy="740940"/>
            <a:chOff x="0" y="0"/>
            <a:chExt cx="2371560" cy="987920"/>
          </a:xfrm>
        </p:grpSpPr>
        <p:sp>
          <p:nvSpPr>
            <p:cNvPr name="Freeform 12" id="12"/>
            <p:cNvSpPr/>
            <p:nvPr/>
          </p:nvSpPr>
          <p:spPr>
            <a:xfrm flipH="false" flipV="false" rot="0">
              <a:off x="0" y="0"/>
              <a:ext cx="2371598" cy="987933"/>
            </a:xfrm>
            <a:custGeom>
              <a:avLst/>
              <a:gdLst/>
              <a:ahLst/>
              <a:cxnLst/>
              <a:rect r="r" b="b" t="t" l="l"/>
              <a:pathLst>
                <a:path h="987933" w="2371598">
                  <a:moveTo>
                    <a:pt x="0" y="0"/>
                  </a:moveTo>
                  <a:lnTo>
                    <a:pt x="2371598" y="0"/>
                  </a:lnTo>
                  <a:lnTo>
                    <a:pt x="2371598" y="987933"/>
                  </a:lnTo>
                  <a:lnTo>
                    <a:pt x="0" y="987933"/>
                  </a:lnTo>
                  <a:close/>
                </a:path>
              </a:pathLst>
            </a:custGeom>
            <a:solidFill>
              <a:srgbClr val="5B9BD5"/>
            </a:solidFill>
            <a:ln w="19050" cap="sq">
              <a:solidFill>
                <a:srgbClr val="4472C4"/>
              </a:solidFill>
              <a:prstDash val="solid"/>
              <a:miter/>
            </a:ln>
          </p:spPr>
        </p:sp>
      </p:grpSp>
      <p:grpSp>
        <p:nvGrpSpPr>
          <p:cNvPr name="Group 13" id="13"/>
          <p:cNvGrpSpPr/>
          <p:nvPr/>
        </p:nvGrpSpPr>
        <p:grpSpPr>
          <a:xfrm rot="0">
            <a:off x="2577265" y="4863265"/>
            <a:ext cx="1778670" cy="740940"/>
            <a:chOff x="0" y="0"/>
            <a:chExt cx="2371560" cy="987920"/>
          </a:xfrm>
        </p:grpSpPr>
        <p:sp>
          <p:nvSpPr>
            <p:cNvPr name="Freeform 14" id="14"/>
            <p:cNvSpPr/>
            <p:nvPr/>
          </p:nvSpPr>
          <p:spPr>
            <a:xfrm flipH="false" flipV="false" rot="0">
              <a:off x="0" y="0"/>
              <a:ext cx="2371598" cy="987933"/>
            </a:xfrm>
            <a:custGeom>
              <a:avLst/>
              <a:gdLst/>
              <a:ahLst/>
              <a:cxnLst/>
              <a:rect r="r" b="b" t="t" l="l"/>
              <a:pathLst>
                <a:path h="987933" w="2371598">
                  <a:moveTo>
                    <a:pt x="0" y="0"/>
                  </a:moveTo>
                  <a:lnTo>
                    <a:pt x="2371598" y="0"/>
                  </a:lnTo>
                  <a:lnTo>
                    <a:pt x="2371598" y="987933"/>
                  </a:lnTo>
                  <a:lnTo>
                    <a:pt x="0" y="987933"/>
                  </a:lnTo>
                  <a:close/>
                </a:path>
              </a:pathLst>
            </a:custGeom>
            <a:solidFill>
              <a:srgbClr val="5B9BD5"/>
            </a:solidFill>
            <a:ln w="19050" cap="sq">
              <a:solidFill>
                <a:srgbClr val="223F59"/>
              </a:solidFill>
              <a:prstDash val="solid"/>
              <a:miter/>
            </a:ln>
          </p:spPr>
        </p:sp>
      </p:grpSp>
      <p:grpSp>
        <p:nvGrpSpPr>
          <p:cNvPr name="Group 15" id="15"/>
          <p:cNvGrpSpPr/>
          <p:nvPr/>
        </p:nvGrpSpPr>
        <p:grpSpPr>
          <a:xfrm rot="0">
            <a:off x="7735805" y="2291515"/>
            <a:ext cx="2560720" cy="981580"/>
            <a:chOff x="0" y="0"/>
            <a:chExt cx="3414293" cy="1308773"/>
          </a:xfrm>
        </p:grpSpPr>
        <p:sp>
          <p:nvSpPr>
            <p:cNvPr name="Freeform 16" id="16"/>
            <p:cNvSpPr/>
            <p:nvPr/>
          </p:nvSpPr>
          <p:spPr>
            <a:xfrm flipH="false" flipV="false" rot="0">
              <a:off x="0" y="0"/>
              <a:ext cx="3414268" cy="1308735"/>
            </a:xfrm>
            <a:custGeom>
              <a:avLst/>
              <a:gdLst/>
              <a:ahLst/>
              <a:cxnLst/>
              <a:rect r="r" b="b" t="t" l="l"/>
              <a:pathLst>
                <a:path h="1308735" w="3414268">
                  <a:moveTo>
                    <a:pt x="0" y="0"/>
                  </a:moveTo>
                  <a:lnTo>
                    <a:pt x="3414268" y="0"/>
                  </a:lnTo>
                  <a:lnTo>
                    <a:pt x="3414268" y="1308735"/>
                  </a:lnTo>
                  <a:lnTo>
                    <a:pt x="0" y="1308735"/>
                  </a:lnTo>
                  <a:close/>
                </a:path>
              </a:pathLst>
            </a:custGeom>
            <a:solidFill>
              <a:srgbClr val="A5A5A5"/>
            </a:solidFill>
            <a:ln w="19050" cap="sq">
              <a:solidFill>
                <a:srgbClr val="223F59"/>
              </a:solidFill>
              <a:prstDash val="solid"/>
              <a:miter/>
            </a:ln>
          </p:spPr>
        </p:sp>
      </p:grpSp>
      <p:grpSp>
        <p:nvGrpSpPr>
          <p:cNvPr name="Group 17" id="17"/>
          <p:cNvGrpSpPr/>
          <p:nvPr/>
        </p:nvGrpSpPr>
        <p:grpSpPr>
          <a:xfrm rot="0">
            <a:off x="4773025" y="2291515"/>
            <a:ext cx="1748590" cy="981580"/>
            <a:chOff x="0" y="0"/>
            <a:chExt cx="2331453" cy="1308773"/>
          </a:xfrm>
        </p:grpSpPr>
        <p:sp>
          <p:nvSpPr>
            <p:cNvPr name="Freeform 18" id="18"/>
            <p:cNvSpPr/>
            <p:nvPr/>
          </p:nvSpPr>
          <p:spPr>
            <a:xfrm flipH="false" flipV="false" rot="0">
              <a:off x="0" y="0"/>
              <a:ext cx="2331466" cy="1308735"/>
            </a:xfrm>
            <a:custGeom>
              <a:avLst/>
              <a:gdLst/>
              <a:ahLst/>
              <a:cxnLst/>
              <a:rect r="r" b="b" t="t" l="l"/>
              <a:pathLst>
                <a:path h="1308735" w="2331466">
                  <a:moveTo>
                    <a:pt x="0" y="0"/>
                  </a:moveTo>
                  <a:lnTo>
                    <a:pt x="2331466" y="0"/>
                  </a:lnTo>
                  <a:lnTo>
                    <a:pt x="2331466" y="1308735"/>
                  </a:lnTo>
                  <a:lnTo>
                    <a:pt x="0" y="1308735"/>
                  </a:lnTo>
                  <a:close/>
                </a:path>
              </a:pathLst>
            </a:custGeom>
            <a:solidFill>
              <a:srgbClr val="5B9BD5"/>
            </a:solidFill>
            <a:ln w="19050" cap="sq">
              <a:solidFill>
                <a:srgbClr val="223F59"/>
              </a:solidFill>
              <a:prstDash val="solid"/>
              <a:miter/>
            </a:ln>
          </p:spPr>
        </p:sp>
      </p:grpSp>
      <p:grpSp>
        <p:nvGrpSpPr>
          <p:cNvPr name="Group 19" id="19"/>
          <p:cNvGrpSpPr/>
          <p:nvPr/>
        </p:nvGrpSpPr>
        <p:grpSpPr>
          <a:xfrm rot="0">
            <a:off x="1118435" y="2291515"/>
            <a:ext cx="2049380" cy="981580"/>
            <a:chOff x="0" y="0"/>
            <a:chExt cx="2732507" cy="1308773"/>
          </a:xfrm>
        </p:grpSpPr>
        <p:sp>
          <p:nvSpPr>
            <p:cNvPr name="Freeform 20" id="20"/>
            <p:cNvSpPr/>
            <p:nvPr/>
          </p:nvSpPr>
          <p:spPr>
            <a:xfrm flipH="false" flipV="false" rot="0">
              <a:off x="0" y="0"/>
              <a:ext cx="2732532" cy="1308735"/>
            </a:xfrm>
            <a:custGeom>
              <a:avLst/>
              <a:gdLst/>
              <a:ahLst/>
              <a:cxnLst/>
              <a:rect r="r" b="b" t="t" l="l"/>
              <a:pathLst>
                <a:path h="1308735" w="2732532">
                  <a:moveTo>
                    <a:pt x="0" y="0"/>
                  </a:moveTo>
                  <a:lnTo>
                    <a:pt x="2732532" y="0"/>
                  </a:lnTo>
                  <a:lnTo>
                    <a:pt x="2732532" y="1308735"/>
                  </a:lnTo>
                  <a:lnTo>
                    <a:pt x="0" y="1308735"/>
                  </a:lnTo>
                  <a:close/>
                </a:path>
              </a:pathLst>
            </a:custGeom>
            <a:solidFill>
              <a:srgbClr val="5B9BD5"/>
            </a:solidFill>
            <a:ln w="19050" cap="sq">
              <a:solidFill>
                <a:srgbClr val="223F59"/>
              </a:solidFill>
              <a:prstDash val="solid"/>
              <a:miter/>
            </a:ln>
          </p:spPr>
        </p:sp>
      </p:grpSp>
      <p:grpSp>
        <p:nvGrpSpPr>
          <p:cNvPr name="Group 21" id="21"/>
          <p:cNvGrpSpPr/>
          <p:nvPr/>
        </p:nvGrpSpPr>
        <p:grpSpPr>
          <a:xfrm rot="0">
            <a:off x="1257300" y="547688"/>
            <a:ext cx="15773400" cy="1988344"/>
            <a:chOff x="0" y="0"/>
            <a:chExt cx="21031200" cy="2651125"/>
          </a:xfrm>
        </p:grpSpPr>
        <p:sp>
          <p:nvSpPr>
            <p:cNvPr name="Freeform 22" id="22"/>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23" id="23"/>
            <p:cNvSpPr txBox="true"/>
            <p:nvPr/>
          </p:nvSpPr>
          <p:spPr>
            <a:xfrm>
              <a:off x="0" y="38100"/>
              <a:ext cx="21031200" cy="2613025"/>
            </a:xfrm>
            <a:prstGeom prst="rect">
              <a:avLst/>
            </a:prstGeom>
          </p:spPr>
          <p:txBody>
            <a:bodyPr anchor="ctr" rtlCol="false" tIns="0" lIns="0" bIns="0" rIns="0"/>
            <a:lstStyle/>
            <a:p>
              <a:pPr algn="l">
                <a:lnSpc>
                  <a:spcPts val="7128"/>
                </a:lnSpc>
              </a:pPr>
              <a:r>
                <a:rPr lang="en-US" sz="6600">
                  <a:solidFill>
                    <a:srgbClr val="000000"/>
                  </a:solidFill>
                  <a:latin typeface="Arimo"/>
                  <a:ea typeface="Arimo"/>
                  <a:cs typeface="Arimo"/>
                  <a:sym typeface="Arimo"/>
                </a:rPr>
                <a:t>전투 예상 흐름 (페이즈 1)</a:t>
              </a:r>
            </a:p>
          </p:txBody>
        </p:sp>
      </p:grpSp>
      <p:sp>
        <p:nvSpPr>
          <p:cNvPr name="TextBox 24" id="24"/>
          <p:cNvSpPr txBox="true"/>
          <p:nvPr/>
        </p:nvSpPr>
        <p:spPr>
          <a:xfrm rot="0">
            <a:off x="1348740" y="2591276"/>
            <a:ext cx="2471423" cy="741997"/>
          </a:xfrm>
          <a:prstGeom prst="rect">
            <a:avLst/>
          </a:prstGeom>
        </p:spPr>
        <p:txBody>
          <a:bodyPr anchor="t" rtlCol="false" tIns="0" lIns="0" bIns="0" rIns="0">
            <a:spAutoFit/>
          </a:bodyPr>
          <a:lstStyle/>
          <a:p>
            <a:pPr algn="l">
              <a:lnSpc>
                <a:spcPts val="2916"/>
              </a:lnSpc>
            </a:pPr>
            <a:r>
              <a:rPr lang="en-US" sz="2700">
                <a:solidFill>
                  <a:srgbClr val="000000"/>
                </a:solidFill>
                <a:latin typeface="Arimo"/>
                <a:ea typeface="Arimo"/>
                <a:cs typeface="Arimo"/>
                <a:sym typeface="Arimo"/>
              </a:rPr>
              <a:t>전투 시작</a:t>
            </a:r>
          </a:p>
        </p:txBody>
      </p:sp>
      <p:sp>
        <p:nvSpPr>
          <p:cNvPr name="TextBox 25" id="25"/>
          <p:cNvSpPr txBox="true"/>
          <p:nvPr/>
        </p:nvSpPr>
        <p:spPr>
          <a:xfrm rot="0">
            <a:off x="4911757" y="2532316"/>
            <a:ext cx="1559804"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텔레포트</a:t>
            </a:r>
          </a:p>
        </p:txBody>
      </p:sp>
      <p:sp>
        <p:nvSpPr>
          <p:cNvPr name="TextBox 26" id="26"/>
          <p:cNvSpPr txBox="true"/>
          <p:nvPr/>
        </p:nvSpPr>
        <p:spPr>
          <a:xfrm rot="0">
            <a:off x="4859036" y="4998672"/>
            <a:ext cx="1799987"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기본 공격</a:t>
            </a:r>
          </a:p>
        </p:txBody>
      </p:sp>
      <p:sp>
        <p:nvSpPr>
          <p:cNvPr name="TextBox 27" id="27"/>
          <p:cNvSpPr txBox="true"/>
          <p:nvPr/>
        </p:nvSpPr>
        <p:spPr>
          <a:xfrm rot="0">
            <a:off x="7101392" y="5001625"/>
            <a:ext cx="1709499"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부하 소환</a:t>
            </a:r>
          </a:p>
        </p:txBody>
      </p:sp>
      <p:sp>
        <p:nvSpPr>
          <p:cNvPr name="TextBox 28" id="28"/>
          <p:cNvSpPr txBox="true"/>
          <p:nvPr/>
        </p:nvSpPr>
        <p:spPr>
          <a:xfrm rot="0">
            <a:off x="2678821" y="4984347"/>
            <a:ext cx="1651606"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시간 정지</a:t>
            </a:r>
          </a:p>
        </p:txBody>
      </p:sp>
      <p:sp>
        <p:nvSpPr>
          <p:cNvPr name="AutoShape 29" id="29"/>
          <p:cNvSpPr/>
          <p:nvPr/>
        </p:nvSpPr>
        <p:spPr>
          <a:xfrm rot="21840">
            <a:off x="3154851" y="2847832"/>
            <a:ext cx="1610096" cy="0"/>
          </a:xfrm>
          <a:prstGeom prst="line">
            <a:avLst/>
          </a:prstGeom>
          <a:ln cap="rnd" w="9525">
            <a:solidFill>
              <a:srgbClr val="5B9BD5"/>
            </a:solidFill>
            <a:prstDash val="solid"/>
            <a:headEnd type="none" len="sm" w="sm"/>
            <a:tailEnd type="triangle" len="med" w="lg"/>
          </a:ln>
        </p:spPr>
      </p:sp>
      <p:graphicFrame>
        <p:nvGraphicFramePr>
          <p:cNvPr name="Table 30" id="30"/>
          <p:cNvGraphicFramePr>
            <a:graphicFrameLocks noGrp="true"/>
          </p:cNvGraphicFramePr>
          <p:nvPr/>
        </p:nvGraphicFramePr>
        <p:xfrm>
          <a:off x="12675741" y="5941748"/>
          <a:ext cx="5612259" cy="4400234"/>
        </p:xfrm>
        <a:graphic>
          <a:graphicData uri="http://schemas.openxmlformats.org/drawingml/2006/table">
            <a:tbl>
              <a:tblPr/>
              <a:tblGrid>
                <a:gridCol w="1773222"/>
                <a:gridCol w="1045127"/>
                <a:gridCol w="2793910"/>
              </a:tblGrid>
              <a:tr h="732937">
                <a:tc>
                  <a:txBody>
                    <a:bodyPr anchor="t" rtlCol="false"/>
                    <a:lstStyle/>
                    <a:p>
                      <a:pPr algn="l">
                        <a:lnSpc>
                          <a:spcPts val="1800"/>
                        </a:lnSpc>
                        <a:defRPr/>
                      </a:pPr>
                      <a:r>
                        <a:rPr lang="en-US" sz="1500" b="true">
                          <a:solidFill>
                            <a:srgbClr val="FFFFFF"/>
                          </a:solidFill>
                          <a:latin typeface="Arimo Bold"/>
                          <a:ea typeface="Arimo Bold"/>
                          <a:cs typeface="Arimo Bold"/>
                          <a:sym typeface="Arimo Bold"/>
                        </a:rPr>
                        <a:t>        스킬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262626"/>
                    </a:solidFill>
                  </a:tcPr>
                </a:tc>
                <a:tc>
                  <a:txBody>
                    <a:bodyPr anchor="t" rtlCol="false"/>
                    <a:lstStyle/>
                    <a:p>
                      <a:pPr algn="l">
                        <a:lnSpc>
                          <a:spcPts val="1800"/>
                        </a:lnSpc>
                        <a:defRPr/>
                      </a:pPr>
                      <a:r>
                        <a:rPr lang="en-US" sz="1500" b="true">
                          <a:solidFill>
                            <a:srgbClr val="FFFFFF"/>
                          </a:solidFill>
                          <a:latin typeface="Arimo Bold"/>
                          <a:ea typeface="Arimo Bold"/>
                          <a:cs typeface="Arimo Bold"/>
                          <a:sym typeface="Arimo Bold"/>
                        </a:rPr>
                        <a:t>  확률</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262626"/>
                    </a:solidFill>
                  </a:tcPr>
                </a:tc>
                <a:tc>
                  <a:txBody>
                    <a:bodyPr anchor="t" rtlCol="false"/>
                    <a:lstStyle/>
                    <a:p>
                      <a:pPr algn="l">
                        <a:lnSpc>
                          <a:spcPts val="1800"/>
                        </a:lnSpc>
                        <a:defRPr/>
                      </a:pPr>
                      <a:r>
                        <a:rPr lang="en-US" sz="1500" b="true">
                          <a:solidFill>
                            <a:srgbClr val="FFFFFF"/>
                          </a:solidFill>
                          <a:latin typeface="Arimo Bold"/>
                          <a:ea typeface="Arimo Bold"/>
                          <a:cs typeface="Arimo Bold"/>
                          <a:sym typeface="Arimo Bold"/>
                        </a:rPr>
                        <a:t>                    공략</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262626"/>
                    </a:solidFill>
                  </a:tcPr>
                </a:tc>
              </a:tr>
              <a:tr h="732937">
                <a:tc>
                  <a:txBody>
                    <a:bodyPr anchor="t" rtlCol="false"/>
                    <a:lstStyle/>
                    <a:p>
                      <a:pPr algn="l">
                        <a:lnSpc>
                          <a:spcPts val="1800"/>
                        </a:lnSpc>
                        <a:defRPr/>
                      </a:pPr>
                      <a:r>
                        <a:rPr lang="en-US" sz="1500">
                          <a:solidFill>
                            <a:srgbClr val="000000"/>
                          </a:solidFill>
                          <a:latin typeface="Arimo"/>
                          <a:ea typeface="Arimo"/>
                          <a:cs typeface="Arimo"/>
                          <a:sym typeface="Arimo"/>
                        </a:rPr>
                        <a:t>     기본 공격</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C000"/>
                    </a:solidFill>
                  </a:tcPr>
                </a:tc>
                <a:tc>
                  <a:txBody>
                    <a:bodyPr anchor="t" rtlCol="false"/>
                    <a:lstStyle/>
                    <a:p>
                      <a:pPr algn="l">
                        <a:lnSpc>
                          <a:spcPts val="1800"/>
                        </a:lnSpc>
                        <a:defRPr/>
                      </a:pPr>
                      <a:r>
                        <a:rPr lang="en-US" sz="1500">
                          <a:solidFill>
                            <a:srgbClr val="000000"/>
                          </a:solidFill>
                          <a:latin typeface="Arimo"/>
                          <a:ea typeface="Arimo"/>
                          <a:cs typeface="Arimo"/>
                          <a:sym typeface="Arimo"/>
                        </a:rPr>
                        <a:t>   50%</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A5A5A5"/>
                    </a:solidFill>
                  </a:tcPr>
                </a:tc>
                <a:tc>
                  <a:txBody>
                    <a:bodyPr anchor="t" rtlCol="false"/>
                    <a:lstStyle/>
                    <a:p>
                      <a:pPr algn="l">
                        <a:lnSpc>
                          <a:spcPts val="1800"/>
                        </a:lnSpc>
                        <a:defRPr/>
                      </a:pPr>
                      <a:r>
                        <a:rPr lang="en-US" sz="1500">
                          <a:solidFill>
                            <a:srgbClr val="000000"/>
                          </a:solidFill>
                          <a:latin typeface="Arimo"/>
                          <a:ea typeface="Arimo"/>
                          <a:cs typeface="Arimo"/>
                          <a:sym typeface="Arimo"/>
                        </a:rPr>
                        <a:t>잘 보고 피하기</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32937">
                <a:tc>
                  <a:txBody>
                    <a:bodyPr anchor="t" rtlCol="false"/>
                    <a:lstStyle/>
                    <a:p>
                      <a:pPr algn="l">
                        <a:lnSpc>
                          <a:spcPts val="1800"/>
                        </a:lnSpc>
                        <a:defRPr/>
                      </a:pPr>
                      <a:r>
                        <a:rPr lang="en-US" sz="1500">
                          <a:solidFill>
                            <a:srgbClr val="000000"/>
                          </a:solidFill>
                          <a:latin typeface="Arimo"/>
                          <a:ea typeface="Arimo"/>
                          <a:cs typeface="Arimo"/>
                          <a:sym typeface="Arimo"/>
                        </a:rPr>
                        <a:t>    부하 소환</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C000"/>
                    </a:solidFill>
                  </a:tcPr>
                </a:tc>
                <a:tc>
                  <a:txBody>
                    <a:bodyPr anchor="t" rtlCol="false"/>
                    <a:lstStyle/>
                    <a:p>
                      <a:pPr algn="l">
                        <a:lnSpc>
                          <a:spcPts val="1800"/>
                        </a:lnSpc>
                        <a:defRPr/>
                      </a:pPr>
                      <a:r>
                        <a:rPr lang="en-US" sz="1500">
                          <a:solidFill>
                            <a:srgbClr val="000000"/>
                          </a:solidFill>
                          <a:latin typeface="Arimo"/>
                          <a:ea typeface="Arimo"/>
                          <a:cs typeface="Arimo"/>
                          <a:sym typeface="Arimo"/>
                        </a:rPr>
                        <a:t>   30%</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A5A5A5"/>
                    </a:solidFill>
                  </a:tcPr>
                </a:tc>
                <a:tc>
                  <a:txBody>
                    <a:bodyPr anchor="t" rtlCol="false"/>
                    <a:lstStyle/>
                    <a:p>
                      <a:pPr algn="l">
                        <a:lnSpc>
                          <a:spcPts val="1800"/>
                        </a:lnSpc>
                        <a:defRPr/>
                      </a:pPr>
                      <a:r>
                        <a:rPr lang="en-US" sz="1500">
                          <a:solidFill>
                            <a:srgbClr val="000000"/>
                          </a:solidFill>
                          <a:latin typeface="Arimo"/>
                          <a:ea typeface="Arimo"/>
                          <a:cs typeface="Arimo"/>
                          <a:sym typeface="Arimo"/>
                        </a:rPr>
                        <a:t>소환된 부하의 빠른 제거</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32937">
                <a:tc>
                  <a:txBody>
                    <a:bodyPr anchor="t" rtlCol="false"/>
                    <a:lstStyle/>
                    <a:p>
                      <a:pPr algn="l">
                        <a:lnSpc>
                          <a:spcPts val="1800"/>
                        </a:lnSpc>
                        <a:defRPr/>
                      </a:pPr>
                      <a:r>
                        <a:rPr lang="en-US" sz="1500">
                          <a:solidFill>
                            <a:srgbClr val="000000"/>
                          </a:solidFill>
                          <a:latin typeface="Arimo"/>
                          <a:ea typeface="Arimo"/>
                          <a:cs typeface="Arimo"/>
                          <a:sym typeface="Arimo"/>
                        </a:rPr>
                        <a:t>     시간 정지</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C000"/>
                    </a:solidFill>
                  </a:tcPr>
                </a:tc>
                <a:tc>
                  <a:txBody>
                    <a:bodyPr anchor="t" rtlCol="false"/>
                    <a:lstStyle/>
                    <a:p>
                      <a:pPr algn="l">
                        <a:lnSpc>
                          <a:spcPts val="1800"/>
                        </a:lnSpc>
                        <a:defRPr/>
                      </a:pPr>
                      <a:r>
                        <a:rPr lang="en-US" sz="1500">
                          <a:solidFill>
                            <a:srgbClr val="000000"/>
                          </a:solidFill>
                          <a:latin typeface="Arimo"/>
                          <a:ea typeface="Arimo"/>
                          <a:cs typeface="Arimo"/>
                          <a:sym typeface="Arimo"/>
                        </a:rPr>
                        <a:t>   20%</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A5A5A5"/>
                    </a:solidFill>
                  </a:tcPr>
                </a:tc>
                <a:tc>
                  <a:txBody>
                    <a:bodyPr anchor="t" rtlCol="false"/>
                    <a:lstStyle/>
                    <a:p>
                      <a:pPr algn="l">
                        <a:lnSpc>
                          <a:spcPts val="1800"/>
                        </a:lnSpc>
                        <a:defRPr/>
                      </a:pPr>
                      <a:r>
                        <a:rPr lang="en-US" sz="1500">
                          <a:solidFill>
                            <a:srgbClr val="000000"/>
                          </a:solidFill>
                          <a:latin typeface="Arimo"/>
                          <a:ea typeface="Arimo"/>
                          <a:cs typeface="Arimo"/>
                          <a:sym typeface="Arimo"/>
                        </a:rPr>
                        <a:t>시간내 소환된 구조물 파괴</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35548">
                <a:tc>
                  <a:txBody>
                    <a:bodyPr anchor="t" rtlCol="false"/>
                    <a:lstStyle/>
                    <a:p>
                      <a:pPr algn="l">
                        <a:lnSpc>
                          <a:spcPts val="1800"/>
                        </a:lnSpc>
                        <a:defRPr/>
                      </a:pPr>
                      <a:r>
                        <a:rPr lang="en-US" sz="1500">
                          <a:solidFill>
                            <a:srgbClr val="000000"/>
                          </a:solidFill>
                          <a:latin typeface="Arimo"/>
                          <a:ea typeface="Arimo"/>
                          <a:cs typeface="Arimo"/>
                          <a:sym typeface="Arimo"/>
                        </a:rPr>
                        <a:t>       텔레포트</a:t>
                      </a:r>
                      <a:endParaRPr lang="en-US" sz="1100"/>
                    </a:p>
                    <a:p>
                      <a:pPr algn="l">
                        <a:lnSpc>
                          <a:spcPts val="1800"/>
                        </a:lnSpc>
                      </a:pPr>
                      <a:r>
                        <a:rPr lang="en-US" sz="1500">
                          <a:solidFill>
                            <a:srgbClr val="000000"/>
                          </a:solidFill>
                          <a:latin typeface="Arimo"/>
                          <a:ea typeface="Arimo"/>
                          <a:cs typeface="Arimo"/>
                          <a:sym typeface="Arimo"/>
                        </a:rPr>
                        <a:t>    (기본이동)</a:t>
                      </a:r>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C000"/>
                    </a:solidFill>
                  </a:tcPr>
                </a:tc>
                <a:tc>
                  <a:txBody>
                    <a:bodyPr anchor="t" rtlCol="false"/>
                    <a:lstStyle/>
                    <a:p>
                      <a:pPr algn="l">
                        <a:lnSpc>
                          <a:spcPts val="1800"/>
                        </a:lnSpc>
                        <a:defRPr/>
                      </a:pPr>
                      <a:r>
                        <a:rPr lang="en-US" sz="1500">
                          <a:solidFill>
                            <a:srgbClr val="000000"/>
                          </a:solidFill>
                          <a:latin typeface="Arimo"/>
                          <a:ea typeface="Arimo"/>
                          <a:cs typeface="Arimo"/>
                          <a:sym typeface="Arimo"/>
                        </a:rPr>
                        <a:t>    X</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A5A5A5"/>
                    </a:solidFill>
                  </a:tcPr>
                </a:tc>
                <a:tc>
                  <a:txBody>
                    <a:bodyPr anchor="t" rtlCol="false"/>
                    <a:lstStyle/>
                    <a:p>
                      <a:pPr algn="l">
                        <a:lnSpc>
                          <a:spcPts val="1800"/>
                        </a:lnSpc>
                        <a:defRPr/>
                      </a:pPr>
                      <a:r>
                        <a:rPr lang="en-US" sz="1500">
                          <a:solidFill>
                            <a:srgbClr val="000000"/>
                          </a:solidFill>
                          <a:latin typeface="Arimo"/>
                          <a:ea typeface="Arimo"/>
                          <a:cs typeface="Arimo"/>
                          <a:sym typeface="Arimo"/>
                        </a:rPr>
                        <a:t>텔레포트의 쿨타임 동안 공격(넉넉함)</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32937">
                <a:tc>
                  <a:txBody>
                    <a:bodyPr anchor="t" rtlCol="false"/>
                    <a:lstStyle/>
                    <a:p>
                      <a:pPr algn="l">
                        <a:lnSpc>
                          <a:spcPts val="1800"/>
                        </a:lnSpc>
                        <a:defRPr/>
                      </a:pPr>
                      <a:r>
                        <a:rPr lang="en-US" sz="1500">
                          <a:solidFill>
                            <a:srgbClr val="000000"/>
                          </a:solidFill>
                          <a:latin typeface="Arimo"/>
                          <a:ea typeface="Arimo"/>
                          <a:cs typeface="Arimo"/>
                          <a:sym typeface="Arimo"/>
                        </a:rPr>
                        <a:t>  회피 텔레포트</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C000"/>
                    </a:solidFill>
                  </a:tcPr>
                </a:tc>
                <a:tc>
                  <a:txBody>
                    <a:bodyPr anchor="t" rtlCol="false"/>
                    <a:lstStyle/>
                    <a:p>
                      <a:pPr algn="l">
                        <a:lnSpc>
                          <a:spcPts val="1800"/>
                        </a:lnSpc>
                        <a:defRPr/>
                      </a:pPr>
                      <a:r>
                        <a:rPr lang="en-US" sz="1500">
                          <a:solidFill>
                            <a:srgbClr val="000000"/>
                          </a:solidFill>
                          <a:latin typeface="Arimo"/>
                          <a:ea typeface="Arimo"/>
                          <a:cs typeface="Arimo"/>
                          <a:sym typeface="Arimo"/>
                        </a:rPr>
                        <a:t>    X</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A5A5A5"/>
                    </a:solidFill>
                  </a:tcPr>
                </a:tc>
                <a:tc>
                  <a:txBody>
                    <a:bodyPr anchor="t" rtlCol="false"/>
                    <a:lstStyle/>
                    <a:p>
                      <a:pPr algn="l">
                        <a:lnSpc>
                          <a:spcPts val="1800"/>
                        </a:lnSpc>
                        <a:defRPr/>
                      </a:pPr>
                      <a:r>
                        <a:rPr lang="en-US" sz="1500">
                          <a:solidFill>
                            <a:srgbClr val="000000"/>
                          </a:solidFill>
                          <a:latin typeface="Arimo"/>
                          <a:ea typeface="Arimo"/>
                          <a:cs typeface="Arimo"/>
                          <a:sym typeface="Arimo"/>
                        </a:rPr>
                        <a:t>5회 이하로 공격한다.</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bl>
          </a:graphicData>
        </a:graphic>
      </p:graphicFrame>
      <p:sp>
        <p:nvSpPr>
          <p:cNvPr name="TextBox 31" id="31"/>
          <p:cNvSpPr txBox="true"/>
          <p:nvPr/>
        </p:nvSpPr>
        <p:spPr>
          <a:xfrm rot="0">
            <a:off x="7946279" y="2524839"/>
            <a:ext cx="2137258"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HP 70% 도달</a:t>
            </a:r>
          </a:p>
        </p:txBody>
      </p:sp>
      <p:sp>
        <p:nvSpPr>
          <p:cNvPr name="TextBox 32" id="32"/>
          <p:cNvSpPr txBox="true"/>
          <p:nvPr/>
        </p:nvSpPr>
        <p:spPr>
          <a:xfrm rot="0">
            <a:off x="11785806" y="2562396"/>
            <a:ext cx="2629605"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페이즈 2로 이동</a:t>
            </a:r>
          </a:p>
        </p:txBody>
      </p:sp>
      <p:sp>
        <p:nvSpPr>
          <p:cNvPr name="AutoShape 33" id="33"/>
          <p:cNvSpPr/>
          <p:nvPr/>
        </p:nvSpPr>
        <p:spPr>
          <a:xfrm rot="41520">
            <a:off x="10185206" y="2774147"/>
            <a:ext cx="1408700" cy="0"/>
          </a:xfrm>
          <a:prstGeom prst="line">
            <a:avLst/>
          </a:prstGeom>
          <a:ln cap="rnd" w="9525">
            <a:solidFill>
              <a:srgbClr val="5B9BD5"/>
            </a:solidFill>
            <a:prstDash val="solid"/>
            <a:headEnd type="none" len="sm" w="sm"/>
            <a:tailEnd type="triangle" len="med" w="lg"/>
          </a:ln>
        </p:spPr>
      </p:sp>
      <p:sp>
        <p:nvSpPr>
          <p:cNvPr name="AutoShape 34" id="34"/>
          <p:cNvSpPr/>
          <p:nvPr/>
        </p:nvSpPr>
        <p:spPr>
          <a:xfrm rot="27360">
            <a:off x="6552428" y="2777538"/>
            <a:ext cx="1197683" cy="0"/>
          </a:xfrm>
          <a:prstGeom prst="line">
            <a:avLst/>
          </a:prstGeom>
          <a:ln cap="rnd" w="9525">
            <a:solidFill>
              <a:srgbClr val="A5A5A5"/>
            </a:solidFill>
            <a:prstDash val="solid"/>
            <a:headEnd type="none" len="sm" w="sm"/>
            <a:tailEnd type="triangle" len="med" w="lg"/>
          </a:ln>
        </p:spPr>
      </p:sp>
      <p:sp>
        <p:nvSpPr>
          <p:cNvPr name="AutoShape 35" id="35"/>
          <p:cNvSpPr/>
          <p:nvPr/>
        </p:nvSpPr>
        <p:spPr>
          <a:xfrm rot="19260">
            <a:off x="3469319" y="3958142"/>
            <a:ext cx="4386082" cy="0"/>
          </a:xfrm>
          <a:prstGeom prst="line">
            <a:avLst/>
          </a:prstGeom>
          <a:ln cap="rnd" w="9525">
            <a:solidFill>
              <a:srgbClr val="5B9BD5"/>
            </a:solidFill>
            <a:prstDash val="solid"/>
            <a:headEnd type="none" len="sm" w="sm"/>
            <a:tailEnd type="none" len="sm" w="sm"/>
          </a:ln>
        </p:spPr>
      </p:sp>
      <p:sp>
        <p:nvSpPr>
          <p:cNvPr name="AutoShape 36" id="36"/>
          <p:cNvSpPr/>
          <p:nvPr/>
        </p:nvSpPr>
        <p:spPr>
          <a:xfrm rot="5295360">
            <a:off x="7454627" y="4349163"/>
            <a:ext cx="806987" cy="0"/>
          </a:xfrm>
          <a:prstGeom prst="line">
            <a:avLst/>
          </a:prstGeom>
          <a:ln cap="rnd" w="9525">
            <a:solidFill>
              <a:srgbClr val="5B9BD5"/>
            </a:solidFill>
            <a:prstDash val="solid"/>
            <a:headEnd type="none" len="sm" w="sm"/>
            <a:tailEnd type="triangle" len="med" w="lg"/>
          </a:ln>
        </p:spPr>
      </p:sp>
      <p:sp>
        <p:nvSpPr>
          <p:cNvPr name="AutoShape 37" id="37"/>
          <p:cNvSpPr/>
          <p:nvPr/>
        </p:nvSpPr>
        <p:spPr>
          <a:xfrm rot="5291280">
            <a:off x="3108217" y="4334123"/>
            <a:ext cx="776926" cy="0"/>
          </a:xfrm>
          <a:prstGeom prst="line">
            <a:avLst/>
          </a:prstGeom>
          <a:ln cap="rnd" w="9525">
            <a:solidFill>
              <a:srgbClr val="5B9BD5"/>
            </a:solidFill>
            <a:prstDash val="solid"/>
            <a:headEnd type="none" len="sm" w="sm"/>
            <a:tailEnd type="triangle" len="med" w="lg"/>
          </a:ln>
        </p:spPr>
      </p:sp>
      <p:sp>
        <p:nvSpPr>
          <p:cNvPr name="TextBox 38" id="38"/>
          <p:cNvSpPr txBox="true"/>
          <p:nvPr/>
        </p:nvSpPr>
        <p:spPr>
          <a:xfrm rot="0">
            <a:off x="2798550" y="6899710"/>
            <a:ext cx="264454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6회 연속 피격시</a:t>
            </a:r>
          </a:p>
        </p:txBody>
      </p:sp>
      <p:sp>
        <p:nvSpPr>
          <p:cNvPr name="AutoShape 39" id="39"/>
          <p:cNvSpPr/>
          <p:nvPr/>
        </p:nvSpPr>
        <p:spPr>
          <a:xfrm rot="5343660">
            <a:off x="4943123" y="4048373"/>
            <a:ext cx="1498635" cy="0"/>
          </a:xfrm>
          <a:prstGeom prst="line">
            <a:avLst/>
          </a:prstGeom>
          <a:ln cap="rnd" w="9525">
            <a:solidFill>
              <a:srgbClr val="5B9BD5"/>
            </a:solidFill>
            <a:prstDash val="solid"/>
            <a:headEnd type="triangle" len="med" w="lg"/>
            <a:tailEnd type="triangle" len="med" w="lg"/>
          </a:ln>
        </p:spPr>
      </p:sp>
      <p:sp>
        <p:nvSpPr>
          <p:cNvPr name="AutoShape 40" id="40"/>
          <p:cNvSpPr/>
          <p:nvPr/>
        </p:nvSpPr>
        <p:spPr>
          <a:xfrm rot="5222640">
            <a:off x="5454253" y="5853112"/>
            <a:ext cx="476383" cy="0"/>
          </a:xfrm>
          <a:prstGeom prst="line">
            <a:avLst/>
          </a:prstGeom>
          <a:ln cap="rnd" w="9525">
            <a:solidFill>
              <a:srgbClr val="A5A5A5"/>
            </a:solidFill>
            <a:prstDash val="solid"/>
            <a:headEnd type="none" len="sm" w="sm"/>
            <a:tailEnd type="none" len="sm" w="sm"/>
          </a:ln>
        </p:spPr>
      </p:sp>
      <p:sp>
        <p:nvSpPr>
          <p:cNvPr name="AutoShape 41" id="41"/>
          <p:cNvSpPr/>
          <p:nvPr/>
        </p:nvSpPr>
        <p:spPr>
          <a:xfrm rot="-5216880">
            <a:off x="7732719" y="5860628"/>
            <a:ext cx="461362" cy="0"/>
          </a:xfrm>
          <a:prstGeom prst="line">
            <a:avLst/>
          </a:prstGeom>
          <a:ln cap="rnd" w="9525">
            <a:solidFill>
              <a:srgbClr val="A5A5A5"/>
            </a:solidFill>
            <a:prstDash val="solid"/>
            <a:headEnd type="none" len="sm" w="sm"/>
            <a:tailEnd type="none" len="sm" w="sm"/>
          </a:ln>
        </p:spPr>
      </p:sp>
      <p:sp>
        <p:nvSpPr>
          <p:cNvPr name="TextBox 42" id="42"/>
          <p:cNvSpPr txBox="true"/>
          <p:nvPr/>
        </p:nvSpPr>
        <p:spPr>
          <a:xfrm rot="0">
            <a:off x="2738390" y="8178060"/>
            <a:ext cx="288517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회피 텔레포트</a:t>
            </a:r>
          </a:p>
        </p:txBody>
      </p:sp>
      <p:sp>
        <p:nvSpPr>
          <p:cNvPr name="AutoShape 43" id="43"/>
          <p:cNvSpPr/>
          <p:nvPr/>
        </p:nvSpPr>
        <p:spPr>
          <a:xfrm rot="5250900">
            <a:off x="3514211" y="7763123"/>
            <a:ext cx="566518" cy="0"/>
          </a:xfrm>
          <a:prstGeom prst="line">
            <a:avLst/>
          </a:prstGeom>
          <a:ln cap="rnd" w="9525">
            <a:solidFill>
              <a:srgbClr val="5B9BD5"/>
            </a:solidFill>
            <a:prstDash val="solid"/>
            <a:headEnd type="none" len="sm" w="sm"/>
            <a:tailEnd type="triangle" len="med" w="lg"/>
          </a:ln>
        </p:spPr>
      </p:sp>
      <p:sp>
        <p:nvSpPr>
          <p:cNvPr name="AutoShape 44" id="44"/>
          <p:cNvSpPr/>
          <p:nvPr/>
        </p:nvSpPr>
        <p:spPr>
          <a:xfrm rot="10724760">
            <a:off x="1408814" y="8439902"/>
            <a:ext cx="1122712" cy="0"/>
          </a:xfrm>
          <a:prstGeom prst="line">
            <a:avLst/>
          </a:prstGeom>
          <a:ln cap="rnd" w="9525">
            <a:solidFill>
              <a:srgbClr val="5B9BD5"/>
            </a:solidFill>
            <a:prstDash val="solid"/>
            <a:headEnd type="none" len="sm" w="sm"/>
            <a:tailEnd type="none" len="sm" w="sm"/>
          </a:ln>
        </p:spPr>
      </p:sp>
      <p:sp>
        <p:nvSpPr>
          <p:cNvPr name="AutoShape 45" id="45"/>
          <p:cNvSpPr/>
          <p:nvPr/>
        </p:nvSpPr>
        <p:spPr>
          <a:xfrm rot="-5382420">
            <a:off x="-952281" y="6033583"/>
            <a:ext cx="4807182" cy="0"/>
          </a:xfrm>
          <a:prstGeom prst="line">
            <a:avLst/>
          </a:prstGeom>
          <a:ln cap="rnd" w="9525">
            <a:solidFill>
              <a:srgbClr val="5B9BD5"/>
            </a:solidFill>
            <a:prstDash val="solid"/>
            <a:headEnd type="none" len="sm" w="sm"/>
            <a:tailEnd type="none" len="sm" w="sm"/>
          </a:ln>
        </p:spPr>
      </p:sp>
      <p:sp>
        <p:nvSpPr>
          <p:cNvPr name="AutoShape 46" id="46"/>
          <p:cNvSpPr/>
          <p:nvPr/>
        </p:nvSpPr>
        <p:spPr>
          <a:xfrm rot="5328600">
            <a:off x="2890209" y="6176458"/>
            <a:ext cx="1182862" cy="0"/>
          </a:xfrm>
          <a:prstGeom prst="line">
            <a:avLst/>
          </a:prstGeom>
          <a:ln cap="rnd" w="9525">
            <a:solidFill>
              <a:srgbClr val="A5A5A5"/>
            </a:solidFill>
            <a:prstDash val="solid"/>
            <a:headEnd type="none" len="sm" w="sm"/>
            <a:tailEnd type="triangle" len="med" w="lg"/>
          </a:ln>
        </p:spPr>
      </p:sp>
      <p:sp>
        <p:nvSpPr>
          <p:cNvPr name="AutoShape 47" id="47"/>
          <p:cNvSpPr/>
          <p:nvPr/>
        </p:nvSpPr>
        <p:spPr>
          <a:xfrm rot="22980">
            <a:off x="1454020" y="3627272"/>
            <a:ext cx="3679241" cy="0"/>
          </a:xfrm>
          <a:prstGeom prst="line">
            <a:avLst/>
          </a:prstGeom>
          <a:ln cap="rnd" w="9525">
            <a:solidFill>
              <a:srgbClr val="5B9BD5"/>
            </a:solidFill>
            <a:prstDash val="solid"/>
            <a:headEnd type="none" len="sm" w="sm"/>
            <a:tailEnd type="none" len="sm" w="sm"/>
          </a:ln>
        </p:spPr>
      </p:sp>
      <p:sp>
        <p:nvSpPr>
          <p:cNvPr name="AutoShape 48" id="48"/>
          <p:cNvSpPr/>
          <p:nvPr/>
        </p:nvSpPr>
        <p:spPr>
          <a:xfrm rot="-5063520">
            <a:off x="5010302" y="3529517"/>
            <a:ext cx="251355" cy="0"/>
          </a:xfrm>
          <a:prstGeom prst="line">
            <a:avLst/>
          </a:prstGeom>
          <a:ln cap="rnd" w="9525">
            <a:solidFill>
              <a:srgbClr val="5B9BD5"/>
            </a:solidFill>
            <a:prstDash val="solid"/>
            <a:headEnd type="none" len="sm" w="sm"/>
            <a:tailEnd type="triangle" len="med" w="lg"/>
          </a:ln>
        </p:spPr>
      </p:sp>
      <p:graphicFrame>
        <p:nvGraphicFramePr>
          <p:cNvPr name="Table 49" id="49"/>
          <p:cNvGraphicFramePr>
            <a:graphicFrameLocks noGrp="true"/>
          </p:cNvGraphicFramePr>
          <p:nvPr/>
        </p:nvGraphicFramePr>
        <p:xfrm>
          <a:off x="10185258" y="8767635"/>
          <a:ext cx="2490483" cy="1527175"/>
        </p:xfrm>
        <a:graphic>
          <a:graphicData uri="http://schemas.openxmlformats.org/drawingml/2006/table">
            <a:tbl>
              <a:tblPr/>
              <a:tblGrid>
                <a:gridCol w="880375"/>
                <a:gridCol w="1610109"/>
              </a:tblGrid>
              <a:tr h="509058">
                <a:tc>
                  <a:txBody>
                    <a:bodyPr anchor="t" rtlCol="false"/>
                    <a:lstStyle/>
                    <a:p>
                      <a:pPr algn="l">
                        <a:lnSpc>
                          <a:spcPts val="1800"/>
                        </a:lnSpc>
                        <a:defRPr/>
                      </a:pPr>
                      <a:r>
                        <a:rPr lang="en-US" sz="1500" b="true">
                          <a:solidFill>
                            <a:srgbClr val="FFFFFF"/>
                          </a:solidFill>
                          <a:latin typeface="Arimo Bold"/>
                          <a:ea typeface="Arimo Bold"/>
                          <a:cs typeface="Arimo Bold"/>
                          <a:sym typeface="Arimo Bold"/>
                        </a:rPr>
                        <a:t>   색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04040"/>
                    </a:solidFill>
                  </a:tcPr>
                </a:tc>
                <a:tc>
                  <a:txBody>
                    <a:bodyPr anchor="t" rtlCol="false"/>
                    <a:lstStyle/>
                    <a:p>
                      <a:pPr algn="l">
                        <a:lnSpc>
                          <a:spcPts val="1800"/>
                        </a:lnSpc>
                        <a:defRPr/>
                      </a:pPr>
                      <a:r>
                        <a:rPr lang="en-US" sz="1500">
                          <a:solidFill>
                            <a:srgbClr val="FFFFFF"/>
                          </a:solidFill>
                          <a:latin typeface="Arimo"/>
                          <a:ea typeface="Arimo"/>
                          <a:cs typeface="Arimo"/>
                          <a:sym typeface="Arimo"/>
                        </a:rPr>
                        <a:t>         뜻</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404040"/>
                    </a:solidFill>
                  </a:tcPr>
                </a:tc>
              </a:tr>
              <a:tr h="509058">
                <a:tc>
                  <a:txBody>
                    <a:bodyPr anchor="t" rtlCol="false"/>
                    <a:lstStyle/>
                    <a:p>
                      <a:pPr algn="l">
                        <a:lnSpc>
                          <a:spcPts val="1800"/>
                        </a:lnSpc>
                        <a:defRPr/>
                      </a:pPr>
                      <a:r>
                        <a:rPr lang="en-US" sz="1500">
                          <a:solidFill>
                            <a:srgbClr val="000000"/>
                          </a:solidFill>
                          <a:latin typeface="Arimo"/>
                          <a:ea typeface="Arimo"/>
                          <a:cs typeface="Arimo"/>
                          <a:sym typeface="Arimo"/>
                        </a:rPr>
                        <a:t>  </a:t>
                      </a:r>
                      <a:r>
                        <a:rPr lang="en-US" sz="1500">
                          <a:solidFill>
                            <a:srgbClr val="FFFFFF"/>
                          </a:solidFill>
                          <a:latin typeface="Arimo"/>
                          <a:ea typeface="Arimo"/>
                          <a:cs typeface="Arimo"/>
                          <a:sym typeface="Arimo"/>
                        </a:rPr>
                        <a:t>회색</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A5A5A5"/>
                    </a:solidFill>
                  </a:tcPr>
                </a:tc>
                <a:tc>
                  <a:txBody>
                    <a:bodyPr anchor="t" rtlCol="false"/>
                    <a:lstStyle/>
                    <a:p>
                      <a:pPr algn="l">
                        <a:lnSpc>
                          <a:spcPts val="1800"/>
                        </a:lnSpc>
                        <a:defRPr/>
                      </a:pPr>
                      <a:r>
                        <a:rPr lang="en-US" sz="1500">
                          <a:solidFill>
                            <a:srgbClr val="000000"/>
                          </a:solidFill>
                          <a:latin typeface="Arimo"/>
                          <a:ea typeface="Arimo"/>
                          <a:cs typeface="Arimo"/>
                          <a:sym typeface="Arimo"/>
                        </a:rPr>
                        <a:t>조건 만족시 이동</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509058">
                <a:tc>
                  <a:txBody>
                    <a:bodyPr anchor="t" rtlCol="false"/>
                    <a:lstStyle/>
                    <a:p>
                      <a:pPr algn="l">
                        <a:lnSpc>
                          <a:spcPts val="1800"/>
                        </a:lnSpc>
                        <a:defRPr/>
                      </a:pPr>
                      <a:r>
                        <a:rPr lang="en-US" sz="1500">
                          <a:solidFill>
                            <a:srgbClr val="FFFFFF"/>
                          </a:solidFill>
                          <a:latin typeface="Arimo"/>
                          <a:ea typeface="Arimo"/>
                          <a:cs typeface="Arimo"/>
                          <a:sym typeface="Arimo"/>
                        </a:rPr>
                        <a:t> 파란색</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5B9BD5"/>
                    </a:solidFill>
                  </a:tcPr>
                </a:tc>
                <a:tc>
                  <a:txBody>
                    <a:bodyPr anchor="t" rtlCol="false"/>
                    <a:lstStyle/>
                    <a:p>
                      <a:pPr algn="l">
                        <a:lnSpc>
                          <a:spcPts val="1800"/>
                        </a:lnSpc>
                        <a:defRPr/>
                      </a:pPr>
                      <a:r>
                        <a:rPr lang="en-US" sz="1500">
                          <a:solidFill>
                            <a:srgbClr val="000000"/>
                          </a:solidFill>
                          <a:latin typeface="Arimo"/>
                          <a:ea typeface="Arimo"/>
                          <a:cs typeface="Arimo"/>
                          <a:sym typeface="Arimo"/>
                        </a:rPr>
                        <a:t>     보통 이동</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42695" y="7043985"/>
            <a:ext cx="2169700" cy="575510"/>
            <a:chOff x="0" y="0"/>
            <a:chExt cx="2892933" cy="767347"/>
          </a:xfrm>
        </p:grpSpPr>
        <p:sp>
          <p:nvSpPr>
            <p:cNvPr name="Freeform 3" id="3"/>
            <p:cNvSpPr/>
            <p:nvPr/>
          </p:nvSpPr>
          <p:spPr>
            <a:xfrm flipH="false" flipV="false" rot="0">
              <a:off x="0" y="0"/>
              <a:ext cx="2892933" cy="767334"/>
            </a:xfrm>
            <a:custGeom>
              <a:avLst/>
              <a:gdLst/>
              <a:ahLst/>
              <a:cxnLst/>
              <a:rect r="r" b="b" t="t" l="l"/>
              <a:pathLst>
                <a:path h="767334" w="2892933">
                  <a:moveTo>
                    <a:pt x="0" y="0"/>
                  </a:moveTo>
                  <a:lnTo>
                    <a:pt x="2892933" y="0"/>
                  </a:lnTo>
                  <a:lnTo>
                    <a:pt x="2892933" y="767334"/>
                  </a:lnTo>
                  <a:lnTo>
                    <a:pt x="0" y="767334"/>
                  </a:lnTo>
                  <a:close/>
                </a:path>
              </a:pathLst>
            </a:custGeom>
            <a:solidFill>
              <a:srgbClr val="5B9BD5"/>
            </a:solidFill>
            <a:ln w="19050" cap="sq">
              <a:solidFill>
                <a:srgbClr val="223F59"/>
              </a:solidFill>
              <a:prstDash val="solid"/>
              <a:miter/>
            </a:ln>
          </p:spPr>
        </p:sp>
      </p:grpSp>
      <p:grpSp>
        <p:nvGrpSpPr>
          <p:cNvPr name="Group 4" id="4"/>
          <p:cNvGrpSpPr/>
          <p:nvPr/>
        </p:nvGrpSpPr>
        <p:grpSpPr>
          <a:xfrm rot="0">
            <a:off x="6818395" y="7028945"/>
            <a:ext cx="2726150" cy="590550"/>
            <a:chOff x="0" y="0"/>
            <a:chExt cx="3634867" cy="787400"/>
          </a:xfrm>
        </p:grpSpPr>
        <p:sp>
          <p:nvSpPr>
            <p:cNvPr name="Freeform 5" id="5"/>
            <p:cNvSpPr/>
            <p:nvPr/>
          </p:nvSpPr>
          <p:spPr>
            <a:xfrm flipH="false" flipV="false" rot="0">
              <a:off x="0" y="0"/>
              <a:ext cx="3634867" cy="787400"/>
            </a:xfrm>
            <a:custGeom>
              <a:avLst/>
              <a:gdLst/>
              <a:ahLst/>
              <a:cxnLst/>
              <a:rect r="r" b="b" t="t" l="l"/>
              <a:pathLst>
                <a:path h="787400" w="3634867">
                  <a:moveTo>
                    <a:pt x="0" y="0"/>
                  </a:moveTo>
                  <a:lnTo>
                    <a:pt x="3634867" y="0"/>
                  </a:lnTo>
                  <a:lnTo>
                    <a:pt x="3634867" y="787400"/>
                  </a:lnTo>
                  <a:lnTo>
                    <a:pt x="0" y="787400"/>
                  </a:lnTo>
                  <a:close/>
                </a:path>
              </a:pathLst>
            </a:custGeom>
            <a:solidFill>
              <a:srgbClr val="5B9BD5"/>
            </a:solidFill>
            <a:ln w="19050" cap="sq">
              <a:solidFill>
                <a:srgbClr val="223F59"/>
              </a:solidFill>
              <a:prstDash val="solid"/>
              <a:miter/>
            </a:ln>
          </p:spPr>
        </p:sp>
      </p:grpSp>
      <p:grpSp>
        <p:nvGrpSpPr>
          <p:cNvPr name="Group 6" id="6"/>
          <p:cNvGrpSpPr/>
          <p:nvPr/>
        </p:nvGrpSpPr>
        <p:grpSpPr>
          <a:xfrm rot="0">
            <a:off x="6728155" y="5615235"/>
            <a:ext cx="2816390" cy="665750"/>
            <a:chOff x="0" y="0"/>
            <a:chExt cx="3755187" cy="887666"/>
          </a:xfrm>
        </p:grpSpPr>
        <p:sp>
          <p:nvSpPr>
            <p:cNvPr name="Freeform 7" id="7"/>
            <p:cNvSpPr/>
            <p:nvPr/>
          </p:nvSpPr>
          <p:spPr>
            <a:xfrm flipH="false" flipV="false" rot="0">
              <a:off x="0" y="0"/>
              <a:ext cx="3755136" cy="887603"/>
            </a:xfrm>
            <a:custGeom>
              <a:avLst/>
              <a:gdLst/>
              <a:ahLst/>
              <a:cxnLst/>
              <a:rect r="r" b="b" t="t" l="l"/>
              <a:pathLst>
                <a:path h="887603" w="3755136">
                  <a:moveTo>
                    <a:pt x="0" y="0"/>
                  </a:moveTo>
                  <a:lnTo>
                    <a:pt x="3755136" y="0"/>
                  </a:lnTo>
                  <a:lnTo>
                    <a:pt x="3755136" y="887603"/>
                  </a:lnTo>
                  <a:lnTo>
                    <a:pt x="0" y="887603"/>
                  </a:lnTo>
                  <a:close/>
                </a:path>
              </a:pathLst>
            </a:custGeom>
            <a:solidFill>
              <a:srgbClr val="A5A5A5"/>
            </a:solidFill>
            <a:ln w="19050" cap="sq">
              <a:solidFill>
                <a:srgbClr val="223F59"/>
              </a:solidFill>
              <a:prstDash val="solid"/>
              <a:miter/>
            </a:ln>
          </p:spPr>
        </p:sp>
      </p:grpSp>
      <p:grpSp>
        <p:nvGrpSpPr>
          <p:cNvPr name="Group 8" id="8"/>
          <p:cNvGrpSpPr/>
          <p:nvPr/>
        </p:nvGrpSpPr>
        <p:grpSpPr>
          <a:xfrm rot="0">
            <a:off x="14082465" y="2456945"/>
            <a:ext cx="2771270" cy="755980"/>
            <a:chOff x="0" y="0"/>
            <a:chExt cx="3695027" cy="1007974"/>
          </a:xfrm>
        </p:grpSpPr>
        <p:sp>
          <p:nvSpPr>
            <p:cNvPr name="Freeform 9" id="9"/>
            <p:cNvSpPr/>
            <p:nvPr/>
          </p:nvSpPr>
          <p:spPr>
            <a:xfrm flipH="false" flipV="false" rot="0">
              <a:off x="0" y="0"/>
              <a:ext cx="3695065" cy="1007999"/>
            </a:xfrm>
            <a:custGeom>
              <a:avLst/>
              <a:gdLst/>
              <a:ahLst/>
              <a:cxnLst/>
              <a:rect r="r" b="b" t="t" l="l"/>
              <a:pathLst>
                <a:path h="1007999" w="3695065">
                  <a:moveTo>
                    <a:pt x="0" y="0"/>
                  </a:moveTo>
                  <a:lnTo>
                    <a:pt x="3695065" y="0"/>
                  </a:lnTo>
                  <a:lnTo>
                    <a:pt x="3695065" y="1007999"/>
                  </a:lnTo>
                  <a:lnTo>
                    <a:pt x="0" y="1007999"/>
                  </a:lnTo>
                  <a:close/>
                </a:path>
              </a:pathLst>
            </a:custGeom>
            <a:solidFill>
              <a:srgbClr val="5B9BD5"/>
            </a:solidFill>
            <a:ln w="19050" cap="sq">
              <a:solidFill>
                <a:srgbClr val="223F59"/>
              </a:solidFill>
              <a:prstDash val="solid"/>
              <a:miter/>
            </a:ln>
          </p:spPr>
        </p:sp>
      </p:grpSp>
      <p:grpSp>
        <p:nvGrpSpPr>
          <p:cNvPr name="Group 10" id="10"/>
          <p:cNvGrpSpPr/>
          <p:nvPr/>
        </p:nvGrpSpPr>
        <p:grpSpPr>
          <a:xfrm rot="0">
            <a:off x="9826285" y="2456945"/>
            <a:ext cx="3493170" cy="755980"/>
            <a:chOff x="0" y="0"/>
            <a:chExt cx="4657560" cy="1007974"/>
          </a:xfrm>
        </p:grpSpPr>
        <p:sp>
          <p:nvSpPr>
            <p:cNvPr name="Freeform 11" id="11"/>
            <p:cNvSpPr/>
            <p:nvPr/>
          </p:nvSpPr>
          <p:spPr>
            <a:xfrm flipH="false" flipV="false" rot="0">
              <a:off x="0" y="0"/>
              <a:ext cx="4657598" cy="1007999"/>
            </a:xfrm>
            <a:custGeom>
              <a:avLst/>
              <a:gdLst/>
              <a:ahLst/>
              <a:cxnLst/>
              <a:rect r="r" b="b" t="t" l="l"/>
              <a:pathLst>
                <a:path h="1007999" w="4657598">
                  <a:moveTo>
                    <a:pt x="0" y="0"/>
                  </a:moveTo>
                  <a:lnTo>
                    <a:pt x="4657598" y="0"/>
                  </a:lnTo>
                  <a:lnTo>
                    <a:pt x="4657598" y="1007999"/>
                  </a:lnTo>
                  <a:lnTo>
                    <a:pt x="0" y="1007999"/>
                  </a:lnTo>
                  <a:close/>
                </a:path>
              </a:pathLst>
            </a:custGeom>
            <a:solidFill>
              <a:srgbClr val="A5A5A5"/>
            </a:solidFill>
            <a:ln w="19050" cap="sq">
              <a:solidFill>
                <a:srgbClr val="223F59"/>
              </a:solidFill>
              <a:prstDash val="solid"/>
              <a:miter/>
            </a:ln>
          </p:spPr>
        </p:sp>
      </p:grpSp>
      <p:grpSp>
        <p:nvGrpSpPr>
          <p:cNvPr name="Group 12" id="12"/>
          <p:cNvGrpSpPr/>
          <p:nvPr/>
        </p:nvGrpSpPr>
        <p:grpSpPr>
          <a:xfrm rot="0">
            <a:off x="6713115" y="4171445"/>
            <a:ext cx="2771270" cy="695830"/>
            <a:chOff x="0" y="0"/>
            <a:chExt cx="3695027" cy="927773"/>
          </a:xfrm>
        </p:grpSpPr>
        <p:sp>
          <p:nvSpPr>
            <p:cNvPr name="Freeform 13" id="13"/>
            <p:cNvSpPr/>
            <p:nvPr/>
          </p:nvSpPr>
          <p:spPr>
            <a:xfrm flipH="false" flipV="false" rot="0">
              <a:off x="0" y="0"/>
              <a:ext cx="3695065" cy="927735"/>
            </a:xfrm>
            <a:custGeom>
              <a:avLst/>
              <a:gdLst/>
              <a:ahLst/>
              <a:cxnLst/>
              <a:rect r="r" b="b" t="t" l="l"/>
              <a:pathLst>
                <a:path h="927735" w="3695065">
                  <a:moveTo>
                    <a:pt x="0" y="0"/>
                  </a:moveTo>
                  <a:lnTo>
                    <a:pt x="3695065" y="0"/>
                  </a:lnTo>
                  <a:lnTo>
                    <a:pt x="3695065" y="927735"/>
                  </a:lnTo>
                  <a:lnTo>
                    <a:pt x="0" y="927735"/>
                  </a:lnTo>
                  <a:close/>
                </a:path>
              </a:pathLst>
            </a:custGeom>
            <a:solidFill>
              <a:srgbClr val="5B9BD5"/>
            </a:solidFill>
            <a:ln w="19050" cap="sq">
              <a:solidFill>
                <a:srgbClr val="223F59"/>
              </a:solidFill>
              <a:prstDash val="solid"/>
              <a:miter/>
            </a:ln>
          </p:spPr>
        </p:sp>
      </p:grpSp>
      <p:grpSp>
        <p:nvGrpSpPr>
          <p:cNvPr name="Group 14" id="14"/>
          <p:cNvGrpSpPr/>
          <p:nvPr/>
        </p:nvGrpSpPr>
        <p:grpSpPr>
          <a:xfrm rot="0">
            <a:off x="7179345" y="2456945"/>
            <a:ext cx="1929060" cy="755980"/>
            <a:chOff x="0" y="0"/>
            <a:chExt cx="2572080" cy="1007974"/>
          </a:xfrm>
        </p:grpSpPr>
        <p:sp>
          <p:nvSpPr>
            <p:cNvPr name="Freeform 15" id="15"/>
            <p:cNvSpPr/>
            <p:nvPr/>
          </p:nvSpPr>
          <p:spPr>
            <a:xfrm flipH="false" flipV="false" rot="0">
              <a:off x="0" y="0"/>
              <a:ext cx="2572131" cy="1007999"/>
            </a:xfrm>
            <a:custGeom>
              <a:avLst/>
              <a:gdLst/>
              <a:ahLst/>
              <a:cxnLst/>
              <a:rect r="r" b="b" t="t" l="l"/>
              <a:pathLst>
                <a:path h="1007999" w="2572131">
                  <a:moveTo>
                    <a:pt x="0" y="0"/>
                  </a:moveTo>
                  <a:lnTo>
                    <a:pt x="2572131" y="0"/>
                  </a:lnTo>
                  <a:lnTo>
                    <a:pt x="2572131" y="1007999"/>
                  </a:lnTo>
                  <a:lnTo>
                    <a:pt x="0" y="1007999"/>
                  </a:lnTo>
                  <a:close/>
                </a:path>
              </a:pathLst>
            </a:custGeom>
            <a:solidFill>
              <a:srgbClr val="5B9BD5"/>
            </a:solidFill>
            <a:ln w="19050" cap="sq">
              <a:solidFill>
                <a:srgbClr val="223F59"/>
              </a:solidFill>
              <a:prstDash val="solid"/>
              <a:miter/>
            </a:ln>
          </p:spPr>
        </p:sp>
      </p:grpSp>
      <p:grpSp>
        <p:nvGrpSpPr>
          <p:cNvPr name="Group 16" id="16"/>
          <p:cNvGrpSpPr/>
          <p:nvPr/>
        </p:nvGrpSpPr>
        <p:grpSpPr>
          <a:xfrm rot="0">
            <a:off x="4201535" y="2471985"/>
            <a:ext cx="1838820" cy="755980"/>
            <a:chOff x="0" y="0"/>
            <a:chExt cx="2451760" cy="1007974"/>
          </a:xfrm>
        </p:grpSpPr>
        <p:sp>
          <p:nvSpPr>
            <p:cNvPr name="Freeform 17" id="17"/>
            <p:cNvSpPr/>
            <p:nvPr/>
          </p:nvSpPr>
          <p:spPr>
            <a:xfrm flipH="false" flipV="false" rot="0">
              <a:off x="0" y="0"/>
              <a:ext cx="2451735" cy="1007999"/>
            </a:xfrm>
            <a:custGeom>
              <a:avLst/>
              <a:gdLst/>
              <a:ahLst/>
              <a:cxnLst/>
              <a:rect r="r" b="b" t="t" l="l"/>
              <a:pathLst>
                <a:path h="1007999" w="2451735">
                  <a:moveTo>
                    <a:pt x="0" y="0"/>
                  </a:moveTo>
                  <a:lnTo>
                    <a:pt x="2451735" y="0"/>
                  </a:lnTo>
                  <a:lnTo>
                    <a:pt x="2451735" y="1007999"/>
                  </a:lnTo>
                  <a:lnTo>
                    <a:pt x="0" y="1007999"/>
                  </a:lnTo>
                  <a:close/>
                </a:path>
              </a:pathLst>
            </a:custGeom>
            <a:solidFill>
              <a:srgbClr val="5B9BD5"/>
            </a:solidFill>
            <a:ln w="19050" cap="sq">
              <a:solidFill>
                <a:srgbClr val="223F59"/>
              </a:solidFill>
              <a:prstDash val="solid"/>
              <a:miter/>
            </a:ln>
          </p:spPr>
        </p:sp>
      </p:grpSp>
      <p:grpSp>
        <p:nvGrpSpPr>
          <p:cNvPr name="Group 18" id="18"/>
          <p:cNvGrpSpPr/>
          <p:nvPr/>
        </p:nvGrpSpPr>
        <p:grpSpPr>
          <a:xfrm rot="0">
            <a:off x="787565" y="2456945"/>
            <a:ext cx="2365210" cy="755980"/>
            <a:chOff x="0" y="0"/>
            <a:chExt cx="3153613" cy="1007974"/>
          </a:xfrm>
        </p:grpSpPr>
        <p:sp>
          <p:nvSpPr>
            <p:cNvPr name="Freeform 19" id="19"/>
            <p:cNvSpPr/>
            <p:nvPr/>
          </p:nvSpPr>
          <p:spPr>
            <a:xfrm flipH="false" flipV="false" rot="0">
              <a:off x="0" y="0"/>
              <a:ext cx="3153664" cy="1007999"/>
            </a:xfrm>
            <a:custGeom>
              <a:avLst/>
              <a:gdLst/>
              <a:ahLst/>
              <a:cxnLst/>
              <a:rect r="r" b="b" t="t" l="l"/>
              <a:pathLst>
                <a:path h="1007999" w="3153664">
                  <a:moveTo>
                    <a:pt x="0" y="0"/>
                  </a:moveTo>
                  <a:lnTo>
                    <a:pt x="3153664" y="0"/>
                  </a:lnTo>
                  <a:lnTo>
                    <a:pt x="3153664" y="1007999"/>
                  </a:lnTo>
                  <a:lnTo>
                    <a:pt x="0" y="1007999"/>
                  </a:lnTo>
                  <a:close/>
                </a:path>
              </a:pathLst>
            </a:custGeom>
            <a:solidFill>
              <a:srgbClr val="5B9BD5"/>
            </a:solidFill>
            <a:ln w="19050" cap="sq">
              <a:solidFill>
                <a:srgbClr val="223F59"/>
              </a:solidFill>
              <a:prstDash val="solid"/>
              <a:miter/>
            </a:ln>
          </p:spPr>
        </p:sp>
      </p:grpSp>
      <p:grpSp>
        <p:nvGrpSpPr>
          <p:cNvPr name="Group 20" id="20"/>
          <p:cNvGrpSpPr/>
          <p:nvPr/>
        </p:nvGrpSpPr>
        <p:grpSpPr>
          <a:xfrm rot="0">
            <a:off x="800262" y="534867"/>
            <a:ext cx="10034054" cy="1464850"/>
            <a:chOff x="0" y="0"/>
            <a:chExt cx="13378739" cy="1953133"/>
          </a:xfrm>
        </p:grpSpPr>
        <p:sp>
          <p:nvSpPr>
            <p:cNvPr name="Freeform 21" id="21"/>
            <p:cNvSpPr/>
            <p:nvPr/>
          </p:nvSpPr>
          <p:spPr>
            <a:xfrm flipH="false" flipV="false" rot="0">
              <a:off x="0" y="0"/>
              <a:ext cx="13378742" cy="1953130"/>
            </a:xfrm>
            <a:custGeom>
              <a:avLst/>
              <a:gdLst/>
              <a:ahLst/>
              <a:cxnLst/>
              <a:rect r="r" b="b" t="t" l="l"/>
              <a:pathLst>
                <a:path h="1953130" w="13378742">
                  <a:moveTo>
                    <a:pt x="0" y="0"/>
                  </a:moveTo>
                  <a:lnTo>
                    <a:pt x="13378742" y="0"/>
                  </a:lnTo>
                  <a:lnTo>
                    <a:pt x="13378742" y="1953130"/>
                  </a:lnTo>
                  <a:lnTo>
                    <a:pt x="0" y="1953130"/>
                  </a:lnTo>
                  <a:close/>
                </a:path>
              </a:pathLst>
            </a:custGeom>
            <a:blipFill>
              <a:blip r:embed="rId2">
                <a:alphaModFix amt="0"/>
              </a:blip>
              <a:stretch>
                <a:fillRect l="0" t="-83470" r="0" b="-83470"/>
              </a:stretch>
            </a:blipFill>
          </p:spPr>
        </p:sp>
        <p:sp>
          <p:nvSpPr>
            <p:cNvPr name="TextBox 22" id="22"/>
            <p:cNvSpPr txBox="true"/>
            <p:nvPr/>
          </p:nvSpPr>
          <p:spPr>
            <a:xfrm>
              <a:off x="0" y="38100"/>
              <a:ext cx="13378739" cy="1915033"/>
            </a:xfrm>
            <a:prstGeom prst="rect">
              <a:avLst/>
            </a:prstGeom>
          </p:spPr>
          <p:txBody>
            <a:bodyPr anchor="ctr" rtlCol="false" tIns="0" lIns="0" bIns="0" rIns="0"/>
            <a:lstStyle/>
            <a:p>
              <a:pPr algn="l">
                <a:lnSpc>
                  <a:spcPts val="7128"/>
                </a:lnSpc>
              </a:pPr>
              <a:r>
                <a:rPr lang="en-US" sz="6600">
                  <a:solidFill>
                    <a:srgbClr val="000000"/>
                  </a:solidFill>
                  <a:latin typeface="Arimo"/>
                  <a:ea typeface="Arimo"/>
                  <a:cs typeface="Arimo"/>
                  <a:sym typeface="Arimo"/>
                </a:rPr>
                <a:t>전투 예상 흐름 (페이즈 2)</a:t>
              </a:r>
            </a:p>
          </p:txBody>
        </p:sp>
      </p:grpSp>
      <p:sp>
        <p:nvSpPr>
          <p:cNvPr name="TextBox 23" id="23"/>
          <p:cNvSpPr txBox="true"/>
          <p:nvPr/>
        </p:nvSpPr>
        <p:spPr>
          <a:xfrm rot="0">
            <a:off x="891702" y="2628795"/>
            <a:ext cx="2313565" cy="533629"/>
          </a:xfrm>
          <a:prstGeom prst="rect">
            <a:avLst/>
          </a:prstGeom>
        </p:spPr>
        <p:txBody>
          <a:bodyPr anchor="t" rtlCol="false" tIns="0" lIns="0" bIns="0" rIns="0">
            <a:spAutoFit/>
          </a:bodyPr>
          <a:lstStyle/>
          <a:p>
            <a:pPr algn="l">
              <a:lnSpc>
                <a:spcPts val="2916"/>
              </a:lnSpc>
            </a:pPr>
            <a:r>
              <a:rPr lang="en-US" sz="2700">
                <a:solidFill>
                  <a:srgbClr val="000000"/>
                </a:solidFill>
                <a:latin typeface="Arimo"/>
                <a:ea typeface="Arimo"/>
                <a:cs typeface="Arimo"/>
                <a:sym typeface="Arimo"/>
              </a:rPr>
              <a:t>페이즈 2 시작</a:t>
            </a:r>
          </a:p>
        </p:txBody>
      </p:sp>
      <p:sp>
        <p:nvSpPr>
          <p:cNvPr name="TextBox 24" id="24"/>
          <p:cNvSpPr txBox="true"/>
          <p:nvPr/>
        </p:nvSpPr>
        <p:spPr>
          <a:xfrm rot="0">
            <a:off x="7382208" y="2592781"/>
            <a:ext cx="1539745" cy="49664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텔레포트</a:t>
            </a:r>
          </a:p>
        </p:txBody>
      </p:sp>
      <p:sp>
        <p:nvSpPr>
          <p:cNvPr name="TextBox 25" id="25"/>
          <p:cNvSpPr txBox="true"/>
          <p:nvPr/>
        </p:nvSpPr>
        <p:spPr>
          <a:xfrm rot="0">
            <a:off x="4300890" y="2577741"/>
            <a:ext cx="1630994" cy="49664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시간 가속 </a:t>
            </a:r>
          </a:p>
        </p:txBody>
      </p:sp>
      <p:sp>
        <p:nvSpPr>
          <p:cNvPr name="TextBox 26" id="26"/>
          <p:cNvSpPr txBox="true"/>
          <p:nvPr/>
        </p:nvSpPr>
        <p:spPr>
          <a:xfrm rot="0">
            <a:off x="2844032" y="7076389"/>
            <a:ext cx="1970437"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시간 되감기</a:t>
            </a:r>
          </a:p>
        </p:txBody>
      </p:sp>
      <p:sp>
        <p:nvSpPr>
          <p:cNvPr name="TextBox 27" id="27"/>
          <p:cNvSpPr txBox="true"/>
          <p:nvPr/>
        </p:nvSpPr>
        <p:spPr>
          <a:xfrm rot="0">
            <a:off x="6874469" y="4264009"/>
            <a:ext cx="2539403"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이전 사용 스킬</a:t>
            </a:r>
          </a:p>
        </p:txBody>
      </p:sp>
      <p:sp>
        <p:nvSpPr>
          <p:cNvPr name="TextBox 28" id="28"/>
          <p:cNvSpPr txBox="true"/>
          <p:nvPr/>
        </p:nvSpPr>
        <p:spPr>
          <a:xfrm rot="0">
            <a:off x="9930698" y="2600220"/>
            <a:ext cx="3393729"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HP 30% 이하 도달시</a:t>
            </a:r>
          </a:p>
        </p:txBody>
      </p:sp>
      <p:sp>
        <p:nvSpPr>
          <p:cNvPr name="TextBox 29" id="29"/>
          <p:cNvSpPr txBox="true"/>
          <p:nvPr/>
        </p:nvSpPr>
        <p:spPr>
          <a:xfrm rot="0">
            <a:off x="14179420" y="2604983"/>
            <a:ext cx="2784558"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페이즈 3로 이동</a:t>
            </a:r>
          </a:p>
        </p:txBody>
      </p:sp>
      <p:sp>
        <p:nvSpPr>
          <p:cNvPr name="AutoShape 30" id="30"/>
          <p:cNvSpPr/>
          <p:nvPr/>
        </p:nvSpPr>
        <p:spPr>
          <a:xfrm rot="5297280">
            <a:off x="7717822" y="3679908"/>
            <a:ext cx="822027" cy="0"/>
          </a:xfrm>
          <a:prstGeom prst="line">
            <a:avLst/>
          </a:prstGeom>
          <a:ln cap="rnd" w="9525">
            <a:solidFill>
              <a:srgbClr val="5B9BD5"/>
            </a:solidFill>
            <a:prstDash val="solid"/>
            <a:headEnd type="triangle" len="med" w="lg"/>
            <a:tailEnd type="triangle" len="med" w="lg"/>
          </a:ln>
        </p:spPr>
      </p:sp>
      <p:sp>
        <p:nvSpPr>
          <p:cNvPr name="AutoShape 31" id="31"/>
          <p:cNvSpPr/>
          <p:nvPr/>
        </p:nvSpPr>
        <p:spPr>
          <a:xfrm rot="128640">
            <a:off x="9108929" y="2830173"/>
            <a:ext cx="656682" cy="0"/>
          </a:xfrm>
          <a:prstGeom prst="line">
            <a:avLst/>
          </a:prstGeom>
          <a:ln cap="rnd" w="9525">
            <a:solidFill>
              <a:srgbClr val="5B9BD5"/>
            </a:solidFill>
            <a:prstDash val="solid"/>
            <a:headEnd type="none" len="sm" w="sm"/>
            <a:tailEnd type="triangle" len="med" w="lg"/>
          </a:ln>
        </p:spPr>
      </p:sp>
      <p:sp>
        <p:nvSpPr>
          <p:cNvPr name="AutoShape 32" id="32"/>
          <p:cNvSpPr/>
          <p:nvPr/>
        </p:nvSpPr>
        <p:spPr>
          <a:xfrm rot="117840">
            <a:off x="13319998" y="2830173"/>
            <a:ext cx="716804" cy="0"/>
          </a:xfrm>
          <a:prstGeom prst="line">
            <a:avLst/>
          </a:prstGeom>
          <a:ln cap="rnd" w="9525">
            <a:solidFill>
              <a:srgbClr val="5B9BD5"/>
            </a:solidFill>
            <a:prstDash val="solid"/>
            <a:headEnd type="none" len="sm" w="sm"/>
            <a:tailEnd type="triangle" len="med" w="lg"/>
          </a:ln>
        </p:spPr>
      </p:sp>
      <p:sp>
        <p:nvSpPr>
          <p:cNvPr name="AutoShape 33" id="33"/>
          <p:cNvSpPr/>
          <p:nvPr/>
        </p:nvSpPr>
        <p:spPr>
          <a:xfrm rot="5268360">
            <a:off x="7868164" y="5274088"/>
            <a:ext cx="641652" cy="0"/>
          </a:xfrm>
          <a:prstGeom prst="line">
            <a:avLst/>
          </a:prstGeom>
          <a:ln cap="rnd" w="9525">
            <a:solidFill>
              <a:srgbClr val="A5A5A5"/>
            </a:solidFill>
            <a:prstDash val="solid"/>
            <a:headEnd type="none" len="sm" w="sm"/>
            <a:tailEnd type="triangle" len="med" w="lg"/>
          </a:ln>
        </p:spPr>
      </p:sp>
      <p:sp>
        <p:nvSpPr>
          <p:cNvPr name="TextBox 34" id="34"/>
          <p:cNvSpPr txBox="true"/>
          <p:nvPr/>
        </p:nvSpPr>
        <p:spPr>
          <a:xfrm rot="0">
            <a:off x="6829130" y="5741670"/>
            <a:ext cx="270470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5회 연속 피격시</a:t>
            </a:r>
          </a:p>
        </p:txBody>
      </p:sp>
      <p:sp>
        <p:nvSpPr>
          <p:cNvPr name="TextBox 35" id="35"/>
          <p:cNvSpPr txBox="true"/>
          <p:nvPr/>
        </p:nvSpPr>
        <p:spPr>
          <a:xfrm rot="0">
            <a:off x="6994560" y="7080180"/>
            <a:ext cx="234375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회피 텔레포트</a:t>
            </a:r>
          </a:p>
        </p:txBody>
      </p:sp>
      <p:sp>
        <p:nvSpPr>
          <p:cNvPr name="AutoShape 36" id="36"/>
          <p:cNvSpPr/>
          <p:nvPr/>
        </p:nvSpPr>
        <p:spPr>
          <a:xfrm rot="5258400">
            <a:off x="7860630" y="6620123"/>
            <a:ext cx="596570" cy="0"/>
          </a:xfrm>
          <a:prstGeom prst="line">
            <a:avLst/>
          </a:prstGeom>
          <a:ln cap="rnd" w="9525">
            <a:solidFill>
              <a:srgbClr val="5B9BD5"/>
            </a:solidFill>
            <a:prstDash val="solid"/>
            <a:headEnd type="none" len="sm" w="sm"/>
            <a:tailEnd type="triangle" len="med" w="lg"/>
          </a:ln>
        </p:spPr>
      </p:sp>
      <p:sp>
        <p:nvSpPr>
          <p:cNvPr name="AutoShape 37" id="37"/>
          <p:cNvSpPr/>
          <p:nvPr/>
        </p:nvSpPr>
        <p:spPr>
          <a:xfrm rot="10751880">
            <a:off x="4988262" y="7326982"/>
            <a:ext cx="1754276" cy="0"/>
          </a:xfrm>
          <a:prstGeom prst="line">
            <a:avLst/>
          </a:prstGeom>
          <a:ln cap="rnd" w="9525">
            <a:solidFill>
              <a:srgbClr val="5B9BD5"/>
            </a:solidFill>
            <a:prstDash val="solid"/>
            <a:headEnd type="none" len="sm" w="sm"/>
            <a:tailEnd type="triangle" len="med" w="lg"/>
          </a:ln>
        </p:spPr>
      </p:sp>
      <p:sp>
        <p:nvSpPr>
          <p:cNvPr name="AutoShape 38" id="38"/>
          <p:cNvSpPr/>
          <p:nvPr/>
        </p:nvSpPr>
        <p:spPr>
          <a:xfrm rot="-5377320">
            <a:off x="4085930" y="5447043"/>
            <a:ext cx="3724361" cy="0"/>
          </a:xfrm>
          <a:prstGeom prst="line">
            <a:avLst/>
          </a:prstGeom>
          <a:ln cap="rnd" w="9525">
            <a:solidFill>
              <a:srgbClr val="5B9BD5"/>
            </a:solidFill>
            <a:prstDash val="solid"/>
            <a:headEnd type="none" len="sm" w="sm"/>
            <a:tailEnd type="none" len="sm" w="sm"/>
          </a:ln>
        </p:spPr>
      </p:sp>
      <p:sp>
        <p:nvSpPr>
          <p:cNvPr name="AutoShape 39" id="39"/>
          <p:cNvSpPr/>
          <p:nvPr/>
        </p:nvSpPr>
        <p:spPr>
          <a:xfrm rot="50760">
            <a:off x="5935742" y="3612232"/>
            <a:ext cx="1664046" cy="0"/>
          </a:xfrm>
          <a:prstGeom prst="line">
            <a:avLst/>
          </a:prstGeom>
          <a:ln cap="rnd" w="9525">
            <a:solidFill>
              <a:srgbClr val="5B9BD5"/>
            </a:solidFill>
            <a:prstDash val="solid"/>
            <a:headEnd type="none" len="sm" w="sm"/>
            <a:tailEnd type="none" len="sm" w="sm"/>
          </a:ln>
        </p:spPr>
      </p:sp>
      <p:sp>
        <p:nvSpPr>
          <p:cNvPr name="AutoShape 40" id="40"/>
          <p:cNvSpPr/>
          <p:nvPr/>
        </p:nvSpPr>
        <p:spPr>
          <a:xfrm rot="-5140920">
            <a:off x="7439311" y="3461833"/>
            <a:ext cx="326279" cy="0"/>
          </a:xfrm>
          <a:prstGeom prst="line">
            <a:avLst/>
          </a:prstGeom>
          <a:ln cap="rnd" w="9525">
            <a:solidFill>
              <a:srgbClr val="5B9BD5"/>
            </a:solidFill>
            <a:prstDash val="solid"/>
            <a:headEnd type="none" len="sm" w="sm"/>
            <a:tailEnd type="triangle" len="med" w="lg"/>
          </a:ln>
        </p:spPr>
      </p:sp>
      <p:graphicFrame>
        <p:nvGraphicFramePr>
          <p:cNvPr name="Table 41" id="41"/>
          <p:cNvGraphicFramePr>
            <a:graphicFrameLocks noGrp="true"/>
          </p:cNvGraphicFramePr>
          <p:nvPr/>
        </p:nvGraphicFramePr>
        <p:xfrm>
          <a:off x="9733799" y="8579491"/>
          <a:ext cx="2510940" cy="1707509"/>
        </p:xfrm>
        <a:graphic>
          <a:graphicData uri="http://schemas.openxmlformats.org/drawingml/2006/table">
            <a:tbl>
              <a:tblPr/>
              <a:tblGrid>
                <a:gridCol w="921773"/>
                <a:gridCol w="1589167"/>
              </a:tblGrid>
              <a:tr h="498823">
                <a:tc>
                  <a:txBody>
                    <a:bodyPr anchor="t" rtlCol="false"/>
                    <a:lstStyle/>
                    <a:p>
                      <a:pPr algn="l">
                        <a:lnSpc>
                          <a:spcPts val="1687"/>
                        </a:lnSpc>
                        <a:defRPr/>
                      </a:pPr>
                      <a:r>
                        <a:rPr lang="en-US" b="true" sz="1500">
                          <a:solidFill>
                            <a:srgbClr val="FFFFFF"/>
                          </a:solidFill>
                          <a:latin typeface="Arimo Bold"/>
                          <a:ea typeface="Arimo Bold"/>
                          <a:cs typeface="Arimo Bold"/>
                          <a:sym typeface="Arimo Bold"/>
                        </a:rPr>
                        <a:t>    색</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404040"/>
                    </a:solidFill>
                  </a:tcPr>
                </a:tc>
                <a:tc>
                  <a:txBody>
                    <a:bodyPr anchor="t" rtlCol="false"/>
                    <a:lstStyle/>
                    <a:p>
                      <a:pPr algn="l">
                        <a:lnSpc>
                          <a:spcPts val="1687"/>
                        </a:lnSpc>
                        <a:defRPr/>
                      </a:pPr>
                      <a:r>
                        <a:rPr lang="en-US" sz="1500">
                          <a:solidFill>
                            <a:srgbClr val="FFFFFF"/>
                          </a:solidFill>
                          <a:latin typeface="Arimo"/>
                          <a:ea typeface="Arimo"/>
                          <a:cs typeface="Arimo"/>
                          <a:sym typeface="Arimo"/>
                        </a:rPr>
                        <a:t>           뜻</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404040"/>
                    </a:solidFill>
                  </a:tcPr>
                </a:tc>
              </a:tr>
              <a:tr h="604343">
                <a:tc>
                  <a:txBody>
                    <a:bodyPr anchor="t" rtlCol="false"/>
                    <a:lstStyle/>
                    <a:p>
                      <a:pPr algn="l">
                        <a:lnSpc>
                          <a:spcPts val="1687"/>
                        </a:lnSpc>
                        <a:defRPr/>
                      </a:pPr>
                      <a:r>
                        <a:rPr lang="en-US" sz="1500">
                          <a:solidFill>
                            <a:srgbClr val="000000"/>
                          </a:solidFill>
                          <a:latin typeface="Arimo"/>
                          <a:ea typeface="Arimo"/>
                          <a:cs typeface="Arimo"/>
                          <a:sym typeface="Arimo"/>
                        </a:rPr>
                        <a:t>  </a:t>
                      </a:r>
                      <a:r>
                        <a:rPr lang="en-US" sz="1500">
                          <a:solidFill>
                            <a:srgbClr val="FFFFFF"/>
                          </a:solidFill>
                          <a:latin typeface="Arimo"/>
                          <a:ea typeface="Arimo"/>
                          <a:cs typeface="Arimo"/>
                          <a:sym typeface="Arimo"/>
                        </a:rPr>
                        <a:t>회색</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A5A5A5"/>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조건 만족시 이동</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FFFF"/>
                    </a:solidFill>
                  </a:tcPr>
                </a:tc>
              </a:tr>
              <a:tr h="604343">
                <a:tc>
                  <a:txBody>
                    <a:bodyPr anchor="t" rtlCol="false"/>
                    <a:lstStyle/>
                    <a:p>
                      <a:pPr algn="l">
                        <a:lnSpc>
                          <a:spcPts val="1687"/>
                        </a:lnSpc>
                        <a:defRPr/>
                      </a:pPr>
                      <a:r>
                        <a:rPr lang="en-US" sz="1500" spc="5">
                          <a:solidFill>
                            <a:srgbClr val="FFFFFF"/>
                          </a:solidFill>
                          <a:latin typeface="Mandali"/>
                          <a:ea typeface="Mandali"/>
                          <a:cs typeface="Mandali"/>
                          <a:sym typeface="Mandali"/>
                        </a:rPr>
                        <a:t> 파란색</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5B9BD5"/>
                    </a:solidFill>
                  </a:tcPr>
                </a:tc>
                <a:tc>
                  <a:txBody>
                    <a:bodyPr anchor="t" rtlCol="false"/>
                    <a:lstStyle/>
                    <a:p>
                      <a:pPr algn="l">
                        <a:lnSpc>
                          <a:spcPts val="1687"/>
                        </a:lnSpc>
                        <a:defRPr/>
                      </a:pPr>
                      <a:r>
                        <a:rPr lang="en-US" sz="1500">
                          <a:solidFill>
                            <a:srgbClr val="000000"/>
                          </a:solidFill>
                          <a:latin typeface="Arimo"/>
                          <a:ea typeface="Arimo"/>
                          <a:cs typeface="Arimo"/>
                          <a:sym typeface="Arimo"/>
                        </a:rPr>
                        <a:t>     보통 이동</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FFFF"/>
                    </a:solidFill>
                  </a:tcPr>
                </a:tc>
              </a:tr>
            </a:tbl>
          </a:graphicData>
        </a:graphic>
      </p:graphicFrame>
      <p:graphicFrame>
        <p:nvGraphicFramePr>
          <p:cNvPr name="Table 42" id="42"/>
          <p:cNvGraphicFramePr>
            <a:graphicFrameLocks noGrp="true"/>
          </p:cNvGraphicFramePr>
          <p:nvPr/>
        </p:nvGraphicFramePr>
        <p:xfrm>
          <a:off x="12268200" y="4633265"/>
          <a:ext cx="6019800" cy="5653735"/>
        </p:xfrm>
        <a:graphic>
          <a:graphicData uri="http://schemas.openxmlformats.org/drawingml/2006/table">
            <a:tbl>
              <a:tblPr/>
              <a:tblGrid>
                <a:gridCol w="1772725"/>
                <a:gridCol w="1044066"/>
                <a:gridCol w="3203009"/>
              </a:tblGrid>
              <a:tr h="807063">
                <a:tc>
                  <a:txBody>
                    <a:bodyPr anchor="t" rtlCol="false"/>
                    <a:lstStyle/>
                    <a:p>
                      <a:pPr algn="l">
                        <a:lnSpc>
                          <a:spcPts val="1687"/>
                        </a:lnSpc>
                        <a:defRPr/>
                      </a:pPr>
                      <a:r>
                        <a:rPr lang="en-US" b="true" sz="1500">
                          <a:solidFill>
                            <a:srgbClr val="FFFFFF"/>
                          </a:solidFill>
                          <a:latin typeface="Arimo Bold"/>
                          <a:ea typeface="Arimo Bold"/>
                          <a:cs typeface="Arimo Bold"/>
                          <a:sym typeface="Arimo Bold"/>
                        </a:rPr>
                        <a:t>        스킬 </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262626"/>
                    </a:solidFill>
                  </a:tcPr>
                </a:tc>
                <a:tc>
                  <a:txBody>
                    <a:bodyPr anchor="t" rtlCol="false"/>
                    <a:lstStyle/>
                    <a:p>
                      <a:pPr algn="l">
                        <a:lnSpc>
                          <a:spcPts val="1687"/>
                        </a:lnSpc>
                        <a:defRPr/>
                      </a:pPr>
                      <a:r>
                        <a:rPr lang="en-US" b="true" sz="1500">
                          <a:solidFill>
                            <a:srgbClr val="FFFFFF"/>
                          </a:solidFill>
                          <a:latin typeface="Arimo Bold"/>
                          <a:ea typeface="Arimo Bold"/>
                          <a:cs typeface="Arimo Bold"/>
                          <a:sym typeface="Arimo Bold"/>
                        </a:rPr>
                        <a:t>   확률</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262626"/>
                    </a:solidFill>
                  </a:tcPr>
                </a:tc>
                <a:tc>
                  <a:txBody>
                    <a:bodyPr anchor="t" rtlCol="false"/>
                    <a:lstStyle/>
                    <a:p>
                      <a:pPr algn="l">
                        <a:lnSpc>
                          <a:spcPts val="1687"/>
                        </a:lnSpc>
                        <a:defRPr/>
                      </a:pPr>
                      <a:r>
                        <a:rPr lang="en-US" b="true" sz="1500">
                          <a:solidFill>
                            <a:srgbClr val="FFFFFF"/>
                          </a:solidFill>
                          <a:latin typeface="Arimo Bold"/>
                          <a:ea typeface="Arimo Bold"/>
                          <a:cs typeface="Arimo Bold"/>
                          <a:sym typeface="Arimo Bold"/>
                        </a:rPr>
                        <a:t>                       공략</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262626"/>
                    </a:solidFill>
                  </a:tcPr>
                </a:tc>
              </a:tr>
              <a:tr h="807063">
                <a:tc>
                  <a:txBody>
                    <a:bodyPr anchor="t" rtlCol="false"/>
                    <a:lstStyle/>
                    <a:p>
                      <a:pPr algn="l">
                        <a:lnSpc>
                          <a:spcPts val="1687"/>
                        </a:lnSpc>
                        <a:defRPr/>
                      </a:pPr>
                      <a:r>
                        <a:rPr lang="en-US" sz="1500">
                          <a:solidFill>
                            <a:srgbClr val="000000"/>
                          </a:solidFill>
                          <a:latin typeface="Arimo"/>
                          <a:ea typeface="Arimo"/>
                          <a:cs typeface="Arimo"/>
                          <a:sym typeface="Arimo"/>
                        </a:rPr>
                        <a:t>     기본 공격</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C000"/>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   50%</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A5A5A5"/>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잘 보고 피하기</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FFFF"/>
                    </a:solidFill>
                  </a:tcPr>
                </a:tc>
              </a:tr>
              <a:tr h="807063">
                <a:tc>
                  <a:txBody>
                    <a:bodyPr anchor="t" rtlCol="false"/>
                    <a:lstStyle/>
                    <a:p>
                      <a:pPr algn="l">
                        <a:lnSpc>
                          <a:spcPts val="1687"/>
                        </a:lnSpc>
                        <a:defRPr/>
                      </a:pPr>
                      <a:r>
                        <a:rPr lang="en-US" sz="1500">
                          <a:solidFill>
                            <a:srgbClr val="000000"/>
                          </a:solidFill>
                          <a:latin typeface="Arimo"/>
                          <a:ea typeface="Arimo"/>
                          <a:cs typeface="Arimo"/>
                          <a:sym typeface="Arimo"/>
                        </a:rPr>
                        <a:t>     부하 소환</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C000"/>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   30%</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A5A5A5"/>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소환된 부하의 빠른 제거</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FFFF"/>
                    </a:solidFill>
                  </a:tcPr>
                </a:tc>
              </a:tr>
              <a:tr h="807063">
                <a:tc>
                  <a:txBody>
                    <a:bodyPr anchor="t" rtlCol="false"/>
                    <a:lstStyle/>
                    <a:p>
                      <a:pPr algn="l">
                        <a:lnSpc>
                          <a:spcPts val="1687"/>
                        </a:lnSpc>
                        <a:defRPr/>
                      </a:pPr>
                      <a:r>
                        <a:rPr lang="en-US" sz="1500">
                          <a:solidFill>
                            <a:srgbClr val="000000"/>
                          </a:solidFill>
                          <a:latin typeface="Arimo"/>
                          <a:ea typeface="Arimo"/>
                          <a:cs typeface="Arimo"/>
                          <a:sym typeface="Arimo"/>
                        </a:rPr>
                        <a:t>     시간 정지</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C000"/>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   20%</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A5A5A5"/>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시간내 소환된 구조물 파괴</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FFFF"/>
                    </a:solidFill>
                  </a:tcPr>
                </a:tc>
              </a:tr>
              <a:tr h="811355">
                <a:tc>
                  <a:txBody>
                    <a:bodyPr anchor="t" rtlCol="false"/>
                    <a:lstStyle/>
                    <a:p>
                      <a:pPr algn="l">
                        <a:lnSpc>
                          <a:spcPts val="1687"/>
                        </a:lnSpc>
                        <a:defRPr/>
                      </a:pPr>
                      <a:r>
                        <a:rPr lang="en-US" sz="1500">
                          <a:solidFill>
                            <a:srgbClr val="000000"/>
                          </a:solidFill>
                          <a:latin typeface="Arimo"/>
                          <a:ea typeface="Arimo"/>
                          <a:cs typeface="Arimo"/>
                          <a:sym typeface="Arimo"/>
                        </a:rPr>
                        <a:t>     텔레포트</a:t>
                      </a:r>
                      <a:endParaRPr lang="en-US" sz="1100"/>
                    </a:p>
                    <a:p>
                      <a:pPr algn="l">
                        <a:lnSpc>
                          <a:spcPts val="1687"/>
                        </a:lnSpc>
                      </a:pPr>
                      <a:r>
                        <a:rPr lang="en-US" sz="1500" spc="5">
                          <a:solidFill>
                            <a:srgbClr val="000000"/>
                          </a:solidFill>
                          <a:latin typeface="Mandali"/>
                          <a:ea typeface="Mandali"/>
                          <a:cs typeface="Mandali"/>
                          <a:sym typeface="Mandali"/>
                        </a:rPr>
                        <a:t>     (기본이동)</a:t>
                      </a:r>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C000"/>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     X</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A5A5A5"/>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텔레포트의 쿨타임 동안 공격(아슬아슬함)</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FFFF"/>
                    </a:solidFill>
                  </a:tcPr>
                </a:tc>
              </a:tr>
              <a:tr h="807063">
                <a:tc>
                  <a:txBody>
                    <a:bodyPr anchor="t" rtlCol="false"/>
                    <a:lstStyle/>
                    <a:p>
                      <a:pPr algn="l">
                        <a:lnSpc>
                          <a:spcPts val="1687"/>
                        </a:lnSpc>
                        <a:defRPr/>
                      </a:pPr>
                      <a:r>
                        <a:rPr lang="en-US" sz="1500">
                          <a:solidFill>
                            <a:srgbClr val="000000"/>
                          </a:solidFill>
                          <a:latin typeface="Arimo"/>
                          <a:ea typeface="Arimo"/>
                          <a:cs typeface="Arimo"/>
                          <a:sym typeface="Arimo"/>
                        </a:rPr>
                        <a:t>  회피 텔레포트</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C000"/>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     X</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A5A5A5"/>
                    </a:solidFill>
                  </a:tcPr>
                </a:tc>
                <a:tc>
                  <a:txBody>
                    <a:bodyPr anchor="t" rtlCol="false"/>
                    <a:lstStyle/>
                    <a:p>
                      <a:pPr algn="l">
                        <a:lnSpc>
                          <a:spcPts val="1687"/>
                        </a:lnSpc>
                        <a:defRPr/>
                      </a:pPr>
                      <a:r>
                        <a:rPr lang="en-US" sz="1500">
                          <a:solidFill>
                            <a:srgbClr val="000000"/>
                          </a:solidFill>
                          <a:latin typeface="Arimo"/>
                          <a:ea typeface="Arimo"/>
                          <a:cs typeface="Arimo"/>
                          <a:sym typeface="Arimo"/>
                        </a:rPr>
                        <a:t>4회 이하로 공격한다.</a:t>
                      </a:r>
                      <a:endParaRPr lang="en-US" sz="1100"/>
                    </a:p>
                  </a:txBody>
                  <a:tcPr marL="86868" marR="86868" marT="86868" marB="86868" anchor="t">
                    <a:lnL cmpd="sng" algn="ctr" cap="flat" w="12059">
                      <a:solidFill>
                        <a:srgbClr val="000000"/>
                      </a:solidFill>
                      <a:prstDash val="solid"/>
                      <a:round/>
                      <a:headEnd type="none" w="med" len="med"/>
                      <a:tailEnd type="none" w="med" len="med"/>
                    </a:lnL>
                    <a:lnR cmpd="sng" algn="ctr" cap="flat" w="12059">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9">
                      <a:solidFill>
                        <a:srgbClr val="000000"/>
                      </a:solidFill>
                      <a:prstDash val="solid"/>
                      <a:round/>
                      <a:headEnd type="none" w="med" len="med"/>
                      <a:tailEnd type="none" w="med" len="med"/>
                    </a:lnB>
                    <a:solidFill>
                      <a:srgbClr val="FFFFFF"/>
                    </a:solidFill>
                  </a:tcPr>
                </a:tc>
              </a:tr>
              <a:tr h="807063">
                <a:tc>
                  <a:txBody>
                    <a:bodyPr anchor="t" rtlCol="false"/>
                    <a:lstStyle/>
                    <a:p>
                      <a:pPr algn="l">
                        <a:lnSpc>
                          <a:spcPts val="1687"/>
                        </a:lnSpc>
                        <a:defRPr/>
                      </a:pPr>
                      <a:r>
                        <a:rPr lang="en-US" sz="1500">
                          <a:solidFill>
                            <a:srgbClr val="000000"/>
                          </a:solidFill>
                          <a:latin typeface="Arimo"/>
                          <a:ea typeface="Arimo"/>
                          <a:cs typeface="Arimo"/>
                          <a:sym typeface="Arimo"/>
                        </a:rPr>
                        <a:t>    시간 되감기</a:t>
                      </a:r>
                      <a:endParaRPr lang="en-US" sz="1100"/>
                    </a:p>
                  </a:txBody>
                  <a:tcPr marL="86868" marR="86868" marT="86868" marB="86868" anchor="t">
                    <a:lnL cmpd="sng" algn="ctr" cap="flat" w="12058">
                      <a:solidFill>
                        <a:srgbClr val="000000"/>
                      </a:solidFill>
                      <a:prstDash val="solid"/>
                      <a:round/>
                      <a:headEnd type="none" w="med" len="med"/>
                      <a:tailEnd type="none" w="med" len="med"/>
                    </a:lnL>
                    <a:lnR cmpd="sng" algn="ctr" cap="flat" w="12058">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8">
                      <a:solidFill>
                        <a:srgbClr val="000000"/>
                      </a:solidFill>
                      <a:prstDash val="solid"/>
                      <a:round/>
                      <a:headEnd type="none" w="med" len="med"/>
                      <a:tailEnd type="none" w="med" len="med"/>
                    </a:lnB>
                    <a:solidFill>
                      <a:srgbClr val="FFC000"/>
                    </a:solidFill>
                  </a:tcPr>
                </a:tc>
                <a:tc>
                  <a:txBody>
                    <a:bodyPr anchor="t" rtlCol="false"/>
                    <a:lstStyle/>
                    <a:p>
                      <a:pPr algn="l">
                        <a:lnSpc>
                          <a:spcPts val="1687"/>
                        </a:lnSpc>
                        <a:defRPr/>
                      </a:pPr>
                      <a:r>
                        <a:rPr lang="en-US" sz="1500" spc="5">
                          <a:solidFill>
                            <a:srgbClr val="000000"/>
                          </a:solidFill>
                          <a:latin typeface="Mandali"/>
                          <a:ea typeface="Mandali"/>
                          <a:cs typeface="Mandali"/>
                          <a:sym typeface="Mandali"/>
                        </a:rPr>
                        <a:t>     X</a:t>
                      </a:r>
                      <a:endParaRPr lang="en-US" sz="1100"/>
                    </a:p>
                  </a:txBody>
                  <a:tcPr marL="86868" marR="86868" marT="86868" marB="86868" anchor="t">
                    <a:lnL cmpd="sng" algn="ctr" cap="flat" w="12058">
                      <a:solidFill>
                        <a:srgbClr val="000000"/>
                      </a:solidFill>
                      <a:prstDash val="solid"/>
                      <a:round/>
                      <a:headEnd type="none" w="med" len="med"/>
                      <a:tailEnd type="none" w="med" len="med"/>
                    </a:lnL>
                    <a:lnR cmpd="sng" algn="ctr" cap="flat" w="12058">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8">
                      <a:solidFill>
                        <a:srgbClr val="000000"/>
                      </a:solidFill>
                      <a:prstDash val="solid"/>
                      <a:round/>
                      <a:headEnd type="none" w="med" len="med"/>
                      <a:tailEnd type="none" w="med" len="med"/>
                    </a:lnB>
                    <a:solidFill>
                      <a:srgbClr val="A5A5A5"/>
                    </a:solidFill>
                  </a:tcPr>
                </a:tc>
                <a:tc>
                  <a:txBody>
                    <a:bodyPr anchor="t" rtlCol="false"/>
                    <a:lstStyle/>
                    <a:p>
                      <a:pPr algn="l">
                        <a:lnSpc>
                          <a:spcPts val="1687"/>
                        </a:lnSpc>
                        <a:defRPr/>
                      </a:pPr>
                      <a:r>
                        <a:rPr lang="en-US" sz="1350">
                          <a:solidFill>
                            <a:srgbClr val="000000"/>
                          </a:solidFill>
                          <a:latin typeface="Arimo"/>
                          <a:ea typeface="Arimo"/>
                          <a:cs typeface="Arimo"/>
                          <a:sym typeface="Arimo"/>
                        </a:rPr>
                        <a:t>빨리 쫒아가서 때린다.</a:t>
                      </a:r>
                      <a:endParaRPr lang="en-US" sz="1100"/>
                    </a:p>
                  </a:txBody>
                  <a:tcPr marL="86868" marR="86868" marT="86868" marB="86868" anchor="t">
                    <a:lnL cmpd="sng" algn="ctr" cap="flat" w="12058">
                      <a:solidFill>
                        <a:srgbClr val="000000"/>
                      </a:solidFill>
                      <a:prstDash val="solid"/>
                      <a:round/>
                      <a:headEnd type="none" w="med" len="med"/>
                      <a:tailEnd type="none" w="med" len="med"/>
                    </a:lnL>
                    <a:lnR cmpd="sng" algn="ctr" cap="flat" w="12058">
                      <a:solidFill>
                        <a:srgbClr val="000000"/>
                      </a:solidFill>
                      <a:prstDash val="solid"/>
                      <a:round/>
                      <a:headEnd type="none" w="med" len="med"/>
                      <a:tailEnd type="none" w="med" len="med"/>
                    </a:lnR>
                    <a:lnT cmpd="sng" algn="ctr" cap="flat" w="12059">
                      <a:solidFill>
                        <a:srgbClr val="000000"/>
                      </a:solidFill>
                      <a:prstDash val="solid"/>
                      <a:round/>
                      <a:headEnd type="none" w="med" len="med"/>
                      <a:tailEnd type="none" w="med" len="med"/>
                    </a:lnT>
                    <a:lnB cmpd="sng" algn="ctr" cap="flat" w="12058">
                      <a:solidFill>
                        <a:srgbClr val="000000"/>
                      </a:solidFill>
                      <a:prstDash val="solid"/>
                      <a:round/>
                      <a:headEnd type="none" w="med" len="med"/>
                      <a:tailEnd type="none" w="med" len="med"/>
                    </a:lnB>
                    <a:solidFill>
                      <a:srgbClr val="FFFFFF"/>
                    </a:solidFill>
                  </a:tcPr>
                </a:tc>
              </a:tr>
            </a:tbl>
          </a:graphicData>
        </a:graphic>
      </p:graphicFrame>
      <p:sp>
        <p:nvSpPr>
          <p:cNvPr name="AutoShape 43" id="43"/>
          <p:cNvSpPr/>
          <p:nvPr/>
        </p:nvSpPr>
        <p:spPr>
          <a:xfrm rot="82980">
            <a:off x="3153375" y="2800102"/>
            <a:ext cx="1017470" cy="0"/>
          </a:xfrm>
          <a:prstGeom prst="line">
            <a:avLst/>
          </a:prstGeom>
          <a:ln cap="rnd" w="9525">
            <a:solidFill>
              <a:srgbClr val="5B9BD5"/>
            </a:solidFill>
            <a:prstDash val="solid"/>
            <a:headEnd type="none" len="sm" w="sm"/>
            <a:tailEnd type="triangle" len="med" w="lg"/>
          </a:ln>
        </p:spPr>
      </p:sp>
      <p:sp>
        <p:nvSpPr>
          <p:cNvPr name="AutoShape 44" id="44"/>
          <p:cNvSpPr/>
          <p:nvPr/>
        </p:nvSpPr>
        <p:spPr>
          <a:xfrm rot="-84240">
            <a:off x="6101115" y="2785062"/>
            <a:ext cx="1002430" cy="0"/>
          </a:xfrm>
          <a:prstGeom prst="line">
            <a:avLst/>
          </a:prstGeom>
          <a:ln cap="rnd" w="9525">
            <a:solidFill>
              <a:srgbClr val="5B9BD5"/>
            </a:solidFill>
            <a:prstDash val="solid"/>
            <a:headEnd type="none" len="sm" w="sm"/>
            <a:tailEnd type="triangle" len="med" w="lg"/>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03315" y="2351675"/>
            <a:ext cx="2004260" cy="560470"/>
            <a:chOff x="0" y="0"/>
            <a:chExt cx="2672347" cy="747293"/>
          </a:xfrm>
        </p:grpSpPr>
        <p:sp>
          <p:nvSpPr>
            <p:cNvPr name="Freeform 3" id="3"/>
            <p:cNvSpPr/>
            <p:nvPr/>
          </p:nvSpPr>
          <p:spPr>
            <a:xfrm flipH="false" flipV="false" rot="0">
              <a:off x="0" y="0"/>
              <a:ext cx="2672334" cy="747268"/>
            </a:xfrm>
            <a:custGeom>
              <a:avLst/>
              <a:gdLst/>
              <a:ahLst/>
              <a:cxnLst/>
              <a:rect r="r" b="b" t="t" l="l"/>
              <a:pathLst>
                <a:path h="747268" w="2672334">
                  <a:moveTo>
                    <a:pt x="0" y="0"/>
                  </a:moveTo>
                  <a:lnTo>
                    <a:pt x="2672334" y="0"/>
                  </a:lnTo>
                  <a:lnTo>
                    <a:pt x="2672334" y="747268"/>
                  </a:lnTo>
                  <a:lnTo>
                    <a:pt x="0" y="747268"/>
                  </a:lnTo>
                  <a:close/>
                </a:path>
              </a:pathLst>
            </a:custGeom>
            <a:solidFill>
              <a:srgbClr val="5B9BD5"/>
            </a:solidFill>
            <a:ln w="19050" cap="sq">
              <a:solidFill>
                <a:srgbClr val="223F59"/>
              </a:solidFill>
              <a:prstDash val="solid"/>
              <a:miter/>
            </a:ln>
          </p:spPr>
        </p:sp>
        <p:sp>
          <p:nvSpPr>
            <p:cNvPr name="TextBox 4" id="4"/>
            <p:cNvSpPr txBox="true"/>
            <p:nvPr/>
          </p:nvSpPr>
          <p:spPr>
            <a:xfrm>
              <a:off x="0" y="-19050"/>
              <a:ext cx="2672347" cy="766343"/>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비상 탈출</a:t>
              </a:r>
            </a:p>
          </p:txBody>
        </p:sp>
      </p:grpSp>
      <p:grpSp>
        <p:nvGrpSpPr>
          <p:cNvPr name="Group 5" id="5"/>
          <p:cNvGrpSpPr/>
          <p:nvPr/>
        </p:nvGrpSpPr>
        <p:grpSpPr>
          <a:xfrm rot="0">
            <a:off x="6758235" y="2336635"/>
            <a:ext cx="1628270" cy="575510"/>
            <a:chOff x="0" y="0"/>
            <a:chExt cx="2171027" cy="767347"/>
          </a:xfrm>
        </p:grpSpPr>
        <p:sp>
          <p:nvSpPr>
            <p:cNvPr name="Freeform 6" id="6"/>
            <p:cNvSpPr/>
            <p:nvPr/>
          </p:nvSpPr>
          <p:spPr>
            <a:xfrm flipH="false" flipV="false" rot="0">
              <a:off x="0" y="0"/>
              <a:ext cx="2171065" cy="767334"/>
            </a:xfrm>
            <a:custGeom>
              <a:avLst/>
              <a:gdLst/>
              <a:ahLst/>
              <a:cxnLst/>
              <a:rect r="r" b="b" t="t" l="l"/>
              <a:pathLst>
                <a:path h="767334" w="2171065">
                  <a:moveTo>
                    <a:pt x="0" y="0"/>
                  </a:moveTo>
                  <a:lnTo>
                    <a:pt x="2171065" y="0"/>
                  </a:lnTo>
                  <a:lnTo>
                    <a:pt x="2171065" y="767334"/>
                  </a:lnTo>
                  <a:lnTo>
                    <a:pt x="0" y="767334"/>
                  </a:lnTo>
                  <a:close/>
                </a:path>
              </a:pathLst>
            </a:custGeom>
            <a:solidFill>
              <a:srgbClr val="5B9BD5"/>
            </a:solidFill>
            <a:ln w="19050" cap="sq">
              <a:solidFill>
                <a:srgbClr val="223F59"/>
              </a:solidFill>
              <a:prstDash val="solid"/>
              <a:miter/>
            </a:ln>
          </p:spPr>
        </p:sp>
      </p:grpSp>
      <p:grpSp>
        <p:nvGrpSpPr>
          <p:cNvPr name="Group 7" id="7"/>
          <p:cNvGrpSpPr/>
          <p:nvPr/>
        </p:nvGrpSpPr>
        <p:grpSpPr>
          <a:xfrm rot="0">
            <a:off x="3780425" y="2351675"/>
            <a:ext cx="2229850" cy="560470"/>
            <a:chOff x="0" y="0"/>
            <a:chExt cx="2973134" cy="747293"/>
          </a:xfrm>
        </p:grpSpPr>
        <p:sp>
          <p:nvSpPr>
            <p:cNvPr name="Freeform 8" id="8"/>
            <p:cNvSpPr/>
            <p:nvPr/>
          </p:nvSpPr>
          <p:spPr>
            <a:xfrm flipH="false" flipV="false" rot="0">
              <a:off x="0" y="0"/>
              <a:ext cx="2973197" cy="747268"/>
            </a:xfrm>
            <a:custGeom>
              <a:avLst/>
              <a:gdLst/>
              <a:ahLst/>
              <a:cxnLst/>
              <a:rect r="r" b="b" t="t" l="l"/>
              <a:pathLst>
                <a:path h="747268" w="2973197">
                  <a:moveTo>
                    <a:pt x="0" y="0"/>
                  </a:moveTo>
                  <a:lnTo>
                    <a:pt x="2973197" y="0"/>
                  </a:lnTo>
                  <a:lnTo>
                    <a:pt x="2973197" y="747268"/>
                  </a:lnTo>
                  <a:lnTo>
                    <a:pt x="0" y="747268"/>
                  </a:lnTo>
                  <a:close/>
                </a:path>
              </a:pathLst>
            </a:custGeom>
            <a:solidFill>
              <a:srgbClr val="5B9BD5"/>
            </a:solidFill>
            <a:ln w="19050" cap="sq">
              <a:solidFill>
                <a:srgbClr val="223F59"/>
              </a:solidFill>
              <a:prstDash val="solid"/>
              <a:miter/>
            </a:ln>
          </p:spPr>
        </p:sp>
      </p:grpSp>
      <p:grpSp>
        <p:nvGrpSpPr>
          <p:cNvPr name="Group 9" id="9"/>
          <p:cNvGrpSpPr/>
          <p:nvPr/>
        </p:nvGrpSpPr>
        <p:grpSpPr>
          <a:xfrm rot="0">
            <a:off x="607095" y="2336635"/>
            <a:ext cx="2485520" cy="560470"/>
            <a:chOff x="0" y="0"/>
            <a:chExt cx="3314027" cy="747293"/>
          </a:xfrm>
        </p:grpSpPr>
        <p:sp>
          <p:nvSpPr>
            <p:cNvPr name="Freeform 10" id="10"/>
            <p:cNvSpPr/>
            <p:nvPr/>
          </p:nvSpPr>
          <p:spPr>
            <a:xfrm flipH="false" flipV="false" rot="0">
              <a:off x="0" y="0"/>
              <a:ext cx="3314065" cy="747268"/>
            </a:xfrm>
            <a:custGeom>
              <a:avLst/>
              <a:gdLst/>
              <a:ahLst/>
              <a:cxnLst/>
              <a:rect r="r" b="b" t="t" l="l"/>
              <a:pathLst>
                <a:path h="747268" w="3314065">
                  <a:moveTo>
                    <a:pt x="0" y="0"/>
                  </a:moveTo>
                  <a:lnTo>
                    <a:pt x="3314065" y="0"/>
                  </a:lnTo>
                  <a:lnTo>
                    <a:pt x="3314065" y="747268"/>
                  </a:lnTo>
                  <a:lnTo>
                    <a:pt x="0" y="747268"/>
                  </a:lnTo>
                  <a:close/>
                </a:path>
              </a:pathLst>
            </a:custGeom>
            <a:solidFill>
              <a:srgbClr val="5B9BD5"/>
            </a:solidFill>
            <a:ln w="19050" cap="sq">
              <a:solidFill>
                <a:srgbClr val="223F59"/>
              </a:solidFill>
              <a:prstDash val="solid"/>
              <a:miter/>
            </a:ln>
          </p:spPr>
        </p:sp>
      </p:grpSp>
      <p:grpSp>
        <p:nvGrpSpPr>
          <p:cNvPr name="Group 11" id="11"/>
          <p:cNvGrpSpPr/>
          <p:nvPr/>
        </p:nvGrpSpPr>
        <p:grpSpPr>
          <a:xfrm rot="0">
            <a:off x="616363" y="355406"/>
            <a:ext cx="10761278" cy="1490482"/>
            <a:chOff x="0" y="0"/>
            <a:chExt cx="14348371" cy="1987309"/>
          </a:xfrm>
        </p:grpSpPr>
        <p:sp>
          <p:nvSpPr>
            <p:cNvPr name="Freeform 12" id="12"/>
            <p:cNvSpPr/>
            <p:nvPr/>
          </p:nvSpPr>
          <p:spPr>
            <a:xfrm flipH="false" flipV="false" rot="0">
              <a:off x="0" y="0"/>
              <a:ext cx="14348368" cy="1987312"/>
            </a:xfrm>
            <a:custGeom>
              <a:avLst/>
              <a:gdLst/>
              <a:ahLst/>
              <a:cxnLst/>
              <a:rect r="r" b="b" t="t" l="l"/>
              <a:pathLst>
                <a:path h="1987312" w="14348368">
                  <a:moveTo>
                    <a:pt x="0" y="0"/>
                  </a:moveTo>
                  <a:lnTo>
                    <a:pt x="14348368" y="0"/>
                  </a:lnTo>
                  <a:lnTo>
                    <a:pt x="14348368" y="1987312"/>
                  </a:lnTo>
                  <a:lnTo>
                    <a:pt x="0" y="1987312"/>
                  </a:lnTo>
                  <a:close/>
                </a:path>
              </a:pathLst>
            </a:custGeom>
            <a:blipFill>
              <a:blip r:embed="rId2">
                <a:alphaModFix amt="0"/>
              </a:blip>
              <a:stretch>
                <a:fillRect l="0" t="-90681" r="0" b="-90681"/>
              </a:stretch>
            </a:blipFill>
          </p:spPr>
        </p:sp>
        <p:sp>
          <p:nvSpPr>
            <p:cNvPr name="TextBox 13" id="13"/>
            <p:cNvSpPr txBox="true"/>
            <p:nvPr/>
          </p:nvSpPr>
          <p:spPr>
            <a:xfrm>
              <a:off x="0" y="38100"/>
              <a:ext cx="14348371" cy="1949209"/>
            </a:xfrm>
            <a:prstGeom prst="rect">
              <a:avLst/>
            </a:prstGeom>
          </p:spPr>
          <p:txBody>
            <a:bodyPr anchor="ctr" rtlCol="false" tIns="0" lIns="0" bIns="0" rIns="0"/>
            <a:lstStyle/>
            <a:p>
              <a:pPr algn="l">
                <a:lnSpc>
                  <a:spcPts val="7128"/>
                </a:lnSpc>
              </a:pPr>
              <a:r>
                <a:rPr lang="en-US" sz="6600">
                  <a:solidFill>
                    <a:srgbClr val="000000"/>
                  </a:solidFill>
                  <a:latin typeface="Arimo"/>
                  <a:ea typeface="Arimo"/>
                  <a:cs typeface="Arimo"/>
                  <a:sym typeface="Arimo"/>
                </a:rPr>
                <a:t>전투 예상 흐름 (페이즈 3)</a:t>
              </a:r>
            </a:p>
          </p:txBody>
        </p:sp>
      </p:grpSp>
      <p:sp>
        <p:nvSpPr>
          <p:cNvPr name="TextBox 14" id="14"/>
          <p:cNvSpPr txBox="true"/>
          <p:nvPr/>
        </p:nvSpPr>
        <p:spPr>
          <a:xfrm rot="0">
            <a:off x="707803" y="2470880"/>
            <a:ext cx="2540870" cy="598227"/>
          </a:xfrm>
          <a:prstGeom prst="rect">
            <a:avLst/>
          </a:prstGeom>
        </p:spPr>
        <p:txBody>
          <a:bodyPr anchor="t" rtlCol="false" tIns="0" lIns="0" bIns="0" rIns="0">
            <a:spAutoFit/>
          </a:bodyPr>
          <a:lstStyle/>
          <a:p>
            <a:pPr algn="l">
              <a:lnSpc>
                <a:spcPts val="2916"/>
              </a:lnSpc>
            </a:pPr>
            <a:r>
              <a:rPr lang="en-US" sz="2700">
                <a:solidFill>
                  <a:srgbClr val="000000"/>
                </a:solidFill>
                <a:latin typeface="Arimo"/>
                <a:ea typeface="Arimo"/>
                <a:cs typeface="Arimo"/>
                <a:sym typeface="Arimo"/>
              </a:rPr>
              <a:t>페이즈 3 시작</a:t>
            </a:r>
          </a:p>
        </p:txBody>
      </p:sp>
      <p:sp>
        <p:nvSpPr>
          <p:cNvPr name="TextBox 15" id="15"/>
          <p:cNvSpPr txBox="true"/>
          <p:nvPr/>
        </p:nvSpPr>
        <p:spPr>
          <a:xfrm rot="0">
            <a:off x="6800669" y="2382288"/>
            <a:ext cx="161824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텔레포트</a:t>
            </a:r>
          </a:p>
        </p:txBody>
      </p:sp>
      <p:sp>
        <p:nvSpPr>
          <p:cNvPr name="TextBox 16" id="16"/>
          <p:cNvSpPr txBox="true"/>
          <p:nvPr/>
        </p:nvSpPr>
        <p:spPr>
          <a:xfrm rot="0">
            <a:off x="3881390" y="2372830"/>
            <a:ext cx="220839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시간 가속 2</a:t>
            </a:r>
          </a:p>
        </p:txBody>
      </p:sp>
      <p:grpSp>
        <p:nvGrpSpPr>
          <p:cNvPr name="Group 17" id="17"/>
          <p:cNvGrpSpPr/>
          <p:nvPr/>
        </p:nvGrpSpPr>
        <p:grpSpPr>
          <a:xfrm rot="0">
            <a:off x="9134475" y="2336635"/>
            <a:ext cx="2515600" cy="560470"/>
            <a:chOff x="0" y="0"/>
            <a:chExt cx="3354134" cy="747293"/>
          </a:xfrm>
        </p:grpSpPr>
        <p:sp>
          <p:nvSpPr>
            <p:cNvPr name="Freeform 18" id="18"/>
            <p:cNvSpPr/>
            <p:nvPr/>
          </p:nvSpPr>
          <p:spPr>
            <a:xfrm flipH="false" flipV="false" rot="0">
              <a:off x="0" y="0"/>
              <a:ext cx="3354197" cy="747268"/>
            </a:xfrm>
            <a:custGeom>
              <a:avLst/>
              <a:gdLst/>
              <a:ahLst/>
              <a:cxnLst/>
              <a:rect r="r" b="b" t="t" l="l"/>
              <a:pathLst>
                <a:path h="747268" w="3354197">
                  <a:moveTo>
                    <a:pt x="0" y="0"/>
                  </a:moveTo>
                  <a:lnTo>
                    <a:pt x="3354197" y="0"/>
                  </a:lnTo>
                  <a:lnTo>
                    <a:pt x="3354197" y="747268"/>
                  </a:lnTo>
                  <a:lnTo>
                    <a:pt x="0" y="747268"/>
                  </a:lnTo>
                  <a:close/>
                </a:path>
              </a:pathLst>
            </a:custGeom>
            <a:solidFill>
              <a:srgbClr val="A5A5A5"/>
            </a:solidFill>
            <a:ln w="19050" cap="sq">
              <a:solidFill>
                <a:srgbClr val="223F59"/>
              </a:solidFill>
              <a:prstDash val="solid"/>
              <a:miter/>
            </a:ln>
          </p:spPr>
        </p:sp>
        <p:sp>
          <p:nvSpPr>
            <p:cNvPr name="TextBox 19" id="19"/>
            <p:cNvSpPr txBox="true"/>
            <p:nvPr/>
          </p:nvSpPr>
          <p:spPr>
            <a:xfrm>
              <a:off x="0" y="-19050"/>
              <a:ext cx="3354134" cy="766343"/>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HP 1% 도달시</a:t>
              </a:r>
            </a:p>
          </p:txBody>
        </p:sp>
      </p:grpSp>
      <p:grpSp>
        <p:nvGrpSpPr>
          <p:cNvPr name="Group 20" id="20"/>
          <p:cNvGrpSpPr/>
          <p:nvPr/>
        </p:nvGrpSpPr>
        <p:grpSpPr>
          <a:xfrm rot="0">
            <a:off x="15390895" y="2351665"/>
            <a:ext cx="1462840" cy="560470"/>
            <a:chOff x="0" y="0"/>
            <a:chExt cx="1950453" cy="747293"/>
          </a:xfrm>
        </p:grpSpPr>
        <p:sp>
          <p:nvSpPr>
            <p:cNvPr name="Freeform 21" id="21"/>
            <p:cNvSpPr/>
            <p:nvPr/>
          </p:nvSpPr>
          <p:spPr>
            <a:xfrm flipH="false" flipV="false" rot="0">
              <a:off x="0" y="0"/>
              <a:ext cx="1950466" cy="747268"/>
            </a:xfrm>
            <a:custGeom>
              <a:avLst/>
              <a:gdLst/>
              <a:ahLst/>
              <a:cxnLst/>
              <a:rect r="r" b="b" t="t" l="l"/>
              <a:pathLst>
                <a:path h="747268" w="1950466">
                  <a:moveTo>
                    <a:pt x="0" y="0"/>
                  </a:moveTo>
                  <a:lnTo>
                    <a:pt x="1950466" y="0"/>
                  </a:lnTo>
                  <a:lnTo>
                    <a:pt x="1950466" y="747268"/>
                  </a:lnTo>
                  <a:lnTo>
                    <a:pt x="0" y="747268"/>
                  </a:lnTo>
                  <a:close/>
                </a:path>
              </a:pathLst>
            </a:custGeom>
            <a:solidFill>
              <a:srgbClr val="A5A5A5"/>
            </a:solidFill>
            <a:ln w="19050" cap="sq">
              <a:solidFill>
                <a:srgbClr val="223F59"/>
              </a:solidFill>
              <a:prstDash val="solid"/>
              <a:miter/>
            </a:ln>
          </p:spPr>
        </p:sp>
        <p:sp>
          <p:nvSpPr>
            <p:cNvPr name="TextBox 22" id="22"/>
            <p:cNvSpPr txBox="true"/>
            <p:nvPr/>
          </p:nvSpPr>
          <p:spPr>
            <a:xfrm>
              <a:off x="0" y="-19050"/>
              <a:ext cx="1950453" cy="766343"/>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 피격시</a:t>
              </a:r>
            </a:p>
          </p:txBody>
        </p:sp>
      </p:grpSp>
      <p:grpSp>
        <p:nvGrpSpPr>
          <p:cNvPr name="Group 23" id="23"/>
          <p:cNvGrpSpPr/>
          <p:nvPr/>
        </p:nvGrpSpPr>
        <p:grpSpPr>
          <a:xfrm rot="0">
            <a:off x="15511215" y="3660105"/>
            <a:ext cx="1207170" cy="515350"/>
            <a:chOff x="0" y="0"/>
            <a:chExt cx="1609560" cy="687134"/>
          </a:xfrm>
        </p:grpSpPr>
        <p:sp>
          <p:nvSpPr>
            <p:cNvPr name="Freeform 24" id="24"/>
            <p:cNvSpPr/>
            <p:nvPr/>
          </p:nvSpPr>
          <p:spPr>
            <a:xfrm flipH="false" flipV="false" rot="0">
              <a:off x="0" y="0"/>
              <a:ext cx="1609598" cy="687197"/>
            </a:xfrm>
            <a:custGeom>
              <a:avLst/>
              <a:gdLst/>
              <a:ahLst/>
              <a:cxnLst/>
              <a:rect r="r" b="b" t="t" l="l"/>
              <a:pathLst>
                <a:path h="687197" w="1609598">
                  <a:moveTo>
                    <a:pt x="0" y="0"/>
                  </a:moveTo>
                  <a:lnTo>
                    <a:pt x="1609598" y="0"/>
                  </a:lnTo>
                  <a:lnTo>
                    <a:pt x="1609598" y="687197"/>
                  </a:lnTo>
                  <a:lnTo>
                    <a:pt x="0" y="687197"/>
                  </a:lnTo>
                  <a:close/>
                </a:path>
              </a:pathLst>
            </a:custGeom>
            <a:solidFill>
              <a:srgbClr val="5B9BD5"/>
            </a:solidFill>
            <a:ln w="19050" cap="sq">
              <a:solidFill>
                <a:srgbClr val="223F59"/>
              </a:solidFill>
              <a:prstDash val="solid"/>
              <a:miter/>
            </a:ln>
          </p:spPr>
        </p:sp>
        <p:sp>
          <p:nvSpPr>
            <p:cNvPr name="TextBox 25" id="25"/>
            <p:cNvSpPr txBox="true"/>
            <p:nvPr/>
          </p:nvSpPr>
          <p:spPr>
            <a:xfrm>
              <a:off x="0" y="-19050"/>
              <a:ext cx="1609560" cy="706184"/>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사망</a:t>
              </a:r>
            </a:p>
          </p:txBody>
        </p:sp>
      </p:grpSp>
      <p:sp>
        <p:nvSpPr>
          <p:cNvPr name="AutoShape 26" id="26"/>
          <p:cNvSpPr/>
          <p:nvPr/>
        </p:nvSpPr>
        <p:spPr>
          <a:xfrm rot="145260">
            <a:off x="3123190" y="2604583"/>
            <a:ext cx="581539" cy="0"/>
          </a:xfrm>
          <a:prstGeom prst="line">
            <a:avLst/>
          </a:prstGeom>
          <a:ln cap="rnd" w="9525">
            <a:solidFill>
              <a:srgbClr val="5B9BD5"/>
            </a:solidFill>
            <a:prstDash val="solid"/>
            <a:headEnd type="none" len="sm" w="sm"/>
            <a:tailEnd type="triangle" len="med" w="lg"/>
          </a:ln>
        </p:spPr>
      </p:sp>
      <p:sp>
        <p:nvSpPr>
          <p:cNvPr name="AutoShape 27" id="27"/>
          <p:cNvSpPr/>
          <p:nvPr/>
        </p:nvSpPr>
        <p:spPr>
          <a:xfrm rot="134820">
            <a:off x="6055900" y="2589543"/>
            <a:ext cx="626621" cy="0"/>
          </a:xfrm>
          <a:prstGeom prst="line">
            <a:avLst/>
          </a:prstGeom>
          <a:ln cap="rnd" w="9525">
            <a:solidFill>
              <a:srgbClr val="5B9BD5"/>
            </a:solidFill>
            <a:prstDash val="solid"/>
            <a:headEnd type="none" len="sm" w="sm"/>
            <a:tailEnd type="triangle" len="med" w="lg"/>
          </a:ln>
        </p:spPr>
      </p:sp>
      <p:sp>
        <p:nvSpPr>
          <p:cNvPr name="AutoShape 28" id="28"/>
          <p:cNvSpPr/>
          <p:nvPr/>
        </p:nvSpPr>
        <p:spPr>
          <a:xfrm rot="149100">
            <a:off x="8492271" y="2634663"/>
            <a:ext cx="566518" cy="0"/>
          </a:xfrm>
          <a:prstGeom prst="line">
            <a:avLst/>
          </a:prstGeom>
          <a:ln cap="rnd" w="9525">
            <a:solidFill>
              <a:srgbClr val="A5A5A5"/>
            </a:solidFill>
            <a:prstDash val="solid"/>
            <a:headEnd type="none" len="sm" w="sm"/>
            <a:tailEnd type="triangle" len="med" w="lg"/>
          </a:ln>
        </p:spPr>
      </p:sp>
      <p:sp>
        <p:nvSpPr>
          <p:cNvPr name="AutoShape 29" id="29"/>
          <p:cNvSpPr/>
          <p:nvPr/>
        </p:nvSpPr>
        <p:spPr>
          <a:xfrm rot="125760">
            <a:off x="11725799" y="2619623"/>
            <a:ext cx="671713" cy="0"/>
          </a:xfrm>
          <a:prstGeom prst="line">
            <a:avLst/>
          </a:prstGeom>
          <a:ln cap="rnd" w="9525">
            <a:solidFill>
              <a:srgbClr val="5B9BD5"/>
            </a:solidFill>
            <a:prstDash val="solid"/>
            <a:headEnd type="none" len="sm" w="sm"/>
            <a:tailEnd type="triangle" len="med" w="lg"/>
          </a:ln>
        </p:spPr>
      </p:sp>
      <p:sp>
        <p:nvSpPr>
          <p:cNvPr name="AutoShape 30" id="30"/>
          <p:cNvSpPr/>
          <p:nvPr/>
        </p:nvSpPr>
        <p:spPr>
          <a:xfrm rot="113100">
            <a:off x="14538208" y="2634663"/>
            <a:ext cx="746865" cy="0"/>
          </a:xfrm>
          <a:prstGeom prst="line">
            <a:avLst/>
          </a:prstGeom>
          <a:ln cap="rnd" w="9525">
            <a:solidFill>
              <a:srgbClr val="A5A5A5"/>
            </a:solidFill>
            <a:prstDash val="solid"/>
            <a:headEnd type="none" len="sm" w="sm"/>
            <a:tailEnd type="triangle" len="med" w="lg"/>
          </a:ln>
        </p:spPr>
      </p:sp>
      <p:sp>
        <p:nvSpPr>
          <p:cNvPr name="AutoShape 31" id="31"/>
          <p:cNvSpPr/>
          <p:nvPr/>
        </p:nvSpPr>
        <p:spPr>
          <a:xfrm rot="5258400">
            <a:off x="16057140" y="3236243"/>
            <a:ext cx="596570" cy="0"/>
          </a:xfrm>
          <a:prstGeom prst="line">
            <a:avLst/>
          </a:prstGeom>
          <a:ln cap="rnd" w="9525">
            <a:solidFill>
              <a:srgbClr val="5B9BD5"/>
            </a:solidFill>
            <a:prstDash val="solid"/>
            <a:headEnd type="none" len="sm" w="sm"/>
            <a:tailEnd type="triangle" len="med" w="lg"/>
          </a:ln>
        </p:spPr>
      </p:sp>
      <p:grpSp>
        <p:nvGrpSpPr>
          <p:cNvPr name="Group 32" id="32"/>
          <p:cNvGrpSpPr/>
          <p:nvPr/>
        </p:nvGrpSpPr>
        <p:grpSpPr>
          <a:xfrm rot="0">
            <a:off x="6292015" y="4412075"/>
            <a:ext cx="2635920" cy="545430"/>
            <a:chOff x="0" y="0"/>
            <a:chExt cx="3514560" cy="727240"/>
          </a:xfrm>
        </p:grpSpPr>
        <p:sp>
          <p:nvSpPr>
            <p:cNvPr name="Freeform 33" id="33"/>
            <p:cNvSpPr/>
            <p:nvPr/>
          </p:nvSpPr>
          <p:spPr>
            <a:xfrm flipH="false" flipV="false" rot="0">
              <a:off x="0" y="0"/>
              <a:ext cx="3514598" cy="727202"/>
            </a:xfrm>
            <a:custGeom>
              <a:avLst/>
              <a:gdLst/>
              <a:ahLst/>
              <a:cxnLst/>
              <a:rect r="r" b="b" t="t" l="l"/>
              <a:pathLst>
                <a:path h="727202" w="3514598">
                  <a:moveTo>
                    <a:pt x="0" y="0"/>
                  </a:moveTo>
                  <a:lnTo>
                    <a:pt x="3514598" y="0"/>
                  </a:lnTo>
                  <a:lnTo>
                    <a:pt x="3514598" y="727202"/>
                  </a:lnTo>
                  <a:lnTo>
                    <a:pt x="0" y="727202"/>
                  </a:lnTo>
                  <a:close/>
                </a:path>
              </a:pathLst>
            </a:custGeom>
            <a:solidFill>
              <a:srgbClr val="5B9BD5"/>
            </a:solidFill>
            <a:ln w="19050" cap="sq">
              <a:solidFill>
                <a:srgbClr val="223F59"/>
              </a:solidFill>
              <a:prstDash val="solid"/>
              <a:miter/>
            </a:ln>
          </p:spPr>
        </p:sp>
        <p:sp>
          <p:nvSpPr>
            <p:cNvPr name="TextBox 34" id="34"/>
            <p:cNvSpPr txBox="true"/>
            <p:nvPr/>
          </p:nvSpPr>
          <p:spPr>
            <a:xfrm>
              <a:off x="0" y="-19050"/>
              <a:ext cx="3514560" cy="746290"/>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이전 사용 스킬</a:t>
              </a:r>
            </a:p>
          </p:txBody>
        </p:sp>
      </p:grpSp>
      <p:grpSp>
        <p:nvGrpSpPr>
          <p:cNvPr name="Group 35" id="35"/>
          <p:cNvGrpSpPr/>
          <p:nvPr/>
        </p:nvGrpSpPr>
        <p:grpSpPr>
          <a:xfrm rot="0">
            <a:off x="6186735" y="5690435"/>
            <a:ext cx="2861510" cy="560470"/>
            <a:chOff x="0" y="0"/>
            <a:chExt cx="3815347" cy="747293"/>
          </a:xfrm>
        </p:grpSpPr>
        <p:sp>
          <p:nvSpPr>
            <p:cNvPr name="Freeform 36" id="36"/>
            <p:cNvSpPr/>
            <p:nvPr/>
          </p:nvSpPr>
          <p:spPr>
            <a:xfrm flipH="false" flipV="false" rot="0">
              <a:off x="0" y="0"/>
              <a:ext cx="3815334" cy="747268"/>
            </a:xfrm>
            <a:custGeom>
              <a:avLst/>
              <a:gdLst/>
              <a:ahLst/>
              <a:cxnLst/>
              <a:rect r="r" b="b" t="t" l="l"/>
              <a:pathLst>
                <a:path h="747268" w="3815334">
                  <a:moveTo>
                    <a:pt x="0" y="0"/>
                  </a:moveTo>
                  <a:lnTo>
                    <a:pt x="3815334" y="0"/>
                  </a:lnTo>
                  <a:lnTo>
                    <a:pt x="3815334" y="747268"/>
                  </a:lnTo>
                  <a:lnTo>
                    <a:pt x="0" y="747268"/>
                  </a:lnTo>
                  <a:close/>
                </a:path>
              </a:pathLst>
            </a:custGeom>
            <a:solidFill>
              <a:srgbClr val="A5A5A5"/>
            </a:solidFill>
            <a:ln w="19050" cap="sq">
              <a:solidFill>
                <a:srgbClr val="223F59"/>
              </a:solidFill>
              <a:prstDash val="solid"/>
              <a:miter/>
            </a:ln>
          </p:spPr>
        </p:sp>
        <p:sp>
          <p:nvSpPr>
            <p:cNvPr name="TextBox 37" id="37"/>
            <p:cNvSpPr txBox="true"/>
            <p:nvPr/>
          </p:nvSpPr>
          <p:spPr>
            <a:xfrm>
              <a:off x="0" y="-19050"/>
              <a:ext cx="3815347" cy="766343"/>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4회 연속 피격시</a:t>
              </a:r>
            </a:p>
          </p:txBody>
        </p:sp>
      </p:grpSp>
      <p:grpSp>
        <p:nvGrpSpPr>
          <p:cNvPr name="Group 38" id="38"/>
          <p:cNvGrpSpPr/>
          <p:nvPr/>
        </p:nvGrpSpPr>
        <p:grpSpPr>
          <a:xfrm rot="0">
            <a:off x="6111545" y="6803355"/>
            <a:ext cx="2921670" cy="530390"/>
            <a:chOff x="0" y="0"/>
            <a:chExt cx="3895560" cy="707187"/>
          </a:xfrm>
        </p:grpSpPr>
        <p:sp>
          <p:nvSpPr>
            <p:cNvPr name="Freeform 39" id="39"/>
            <p:cNvSpPr/>
            <p:nvPr/>
          </p:nvSpPr>
          <p:spPr>
            <a:xfrm flipH="false" flipV="false" rot="0">
              <a:off x="0" y="0"/>
              <a:ext cx="3895598" cy="707136"/>
            </a:xfrm>
            <a:custGeom>
              <a:avLst/>
              <a:gdLst/>
              <a:ahLst/>
              <a:cxnLst/>
              <a:rect r="r" b="b" t="t" l="l"/>
              <a:pathLst>
                <a:path h="707136" w="3895598">
                  <a:moveTo>
                    <a:pt x="0" y="0"/>
                  </a:moveTo>
                  <a:lnTo>
                    <a:pt x="3895598" y="0"/>
                  </a:lnTo>
                  <a:lnTo>
                    <a:pt x="3895598" y="707136"/>
                  </a:lnTo>
                  <a:lnTo>
                    <a:pt x="0" y="707136"/>
                  </a:lnTo>
                  <a:close/>
                </a:path>
              </a:pathLst>
            </a:custGeom>
            <a:solidFill>
              <a:srgbClr val="5B9BD5"/>
            </a:solidFill>
            <a:ln w="19050" cap="sq">
              <a:solidFill>
                <a:srgbClr val="223F59"/>
              </a:solidFill>
              <a:prstDash val="solid"/>
              <a:miter/>
            </a:ln>
          </p:spPr>
        </p:sp>
        <p:sp>
          <p:nvSpPr>
            <p:cNvPr name="TextBox 40" id="40"/>
            <p:cNvSpPr txBox="true"/>
            <p:nvPr/>
          </p:nvSpPr>
          <p:spPr>
            <a:xfrm>
              <a:off x="0" y="-19050"/>
              <a:ext cx="3895560" cy="726237"/>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회피 텔레포트</a:t>
              </a:r>
            </a:p>
          </p:txBody>
        </p:sp>
      </p:grpSp>
      <p:sp>
        <p:nvSpPr>
          <p:cNvPr name="AutoShape 41" id="41"/>
          <p:cNvSpPr/>
          <p:nvPr/>
        </p:nvSpPr>
        <p:spPr>
          <a:xfrm rot="5246820">
            <a:off x="7251506" y="5349288"/>
            <a:ext cx="551498" cy="0"/>
          </a:xfrm>
          <a:prstGeom prst="line">
            <a:avLst/>
          </a:prstGeom>
          <a:ln cap="rnd" w="9525">
            <a:solidFill>
              <a:srgbClr val="A5A5A5"/>
            </a:solidFill>
            <a:prstDash val="solid"/>
            <a:headEnd type="none" len="sm" w="sm"/>
            <a:tailEnd type="triangle" len="med" w="lg"/>
          </a:ln>
        </p:spPr>
      </p:sp>
      <p:sp>
        <p:nvSpPr>
          <p:cNvPr name="AutoShape 42" id="42"/>
          <p:cNvSpPr/>
          <p:nvPr/>
        </p:nvSpPr>
        <p:spPr>
          <a:xfrm rot="5216880">
            <a:off x="7326649" y="6507328"/>
            <a:ext cx="461362" cy="0"/>
          </a:xfrm>
          <a:prstGeom prst="line">
            <a:avLst/>
          </a:prstGeom>
          <a:ln cap="rnd" w="9525">
            <a:solidFill>
              <a:srgbClr val="5B9BD5"/>
            </a:solidFill>
            <a:prstDash val="solid"/>
            <a:headEnd type="none" len="sm" w="sm"/>
            <a:tailEnd type="triangle" len="med" w="lg"/>
          </a:ln>
        </p:spPr>
      </p:sp>
      <p:grpSp>
        <p:nvGrpSpPr>
          <p:cNvPr name="Group 43" id="43"/>
          <p:cNvGrpSpPr/>
          <p:nvPr/>
        </p:nvGrpSpPr>
        <p:grpSpPr>
          <a:xfrm rot="0">
            <a:off x="3013405" y="6818395"/>
            <a:ext cx="2259930" cy="500310"/>
            <a:chOff x="0" y="0"/>
            <a:chExt cx="3013240" cy="667080"/>
          </a:xfrm>
        </p:grpSpPr>
        <p:sp>
          <p:nvSpPr>
            <p:cNvPr name="Freeform 44" id="44"/>
            <p:cNvSpPr/>
            <p:nvPr/>
          </p:nvSpPr>
          <p:spPr>
            <a:xfrm flipH="false" flipV="false" rot="0">
              <a:off x="0" y="0"/>
              <a:ext cx="3013202" cy="667131"/>
            </a:xfrm>
            <a:custGeom>
              <a:avLst/>
              <a:gdLst/>
              <a:ahLst/>
              <a:cxnLst/>
              <a:rect r="r" b="b" t="t" l="l"/>
              <a:pathLst>
                <a:path h="667131" w="3013202">
                  <a:moveTo>
                    <a:pt x="0" y="0"/>
                  </a:moveTo>
                  <a:lnTo>
                    <a:pt x="3013202" y="0"/>
                  </a:lnTo>
                  <a:lnTo>
                    <a:pt x="3013202" y="667131"/>
                  </a:lnTo>
                  <a:lnTo>
                    <a:pt x="0" y="667131"/>
                  </a:lnTo>
                  <a:close/>
                </a:path>
              </a:pathLst>
            </a:custGeom>
            <a:solidFill>
              <a:srgbClr val="5B9BD5"/>
            </a:solidFill>
            <a:ln w="19050" cap="sq">
              <a:solidFill>
                <a:srgbClr val="223F59"/>
              </a:solidFill>
              <a:prstDash val="solid"/>
              <a:miter/>
            </a:ln>
          </p:spPr>
        </p:sp>
        <p:sp>
          <p:nvSpPr>
            <p:cNvPr name="TextBox 45" id="45"/>
            <p:cNvSpPr txBox="true"/>
            <p:nvPr/>
          </p:nvSpPr>
          <p:spPr>
            <a:xfrm>
              <a:off x="0" y="-19050"/>
              <a:ext cx="3013240" cy="686130"/>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시간 되감기</a:t>
              </a:r>
            </a:p>
          </p:txBody>
        </p:sp>
      </p:grpSp>
      <p:sp>
        <p:nvSpPr>
          <p:cNvPr name="AutoShape 46" id="46"/>
          <p:cNvSpPr/>
          <p:nvPr/>
        </p:nvSpPr>
        <p:spPr>
          <a:xfrm rot="10674240">
            <a:off x="5334029" y="7041232"/>
            <a:ext cx="671713" cy="0"/>
          </a:xfrm>
          <a:prstGeom prst="line">
            <a:avLst/>
          </a:prstGeom>
          <a:ln cap="rnd" w="9525">
            <a:solidFill>
              <a:srgbClr val="5B9BD5"/>
            </a:solidFill>
            <a:prstDash val="solid"/>
            <a:headEnd type="none" len="sm" w="sm"/>
            <a:tailEnd type="triangle" len="med" w="lg"/>
          </a:ln>
        </p:spPr>
      </p:sp>
      <p:sp>
        <p:nvSpPr>
          <p:cNvPr name="AutoShape 47" id="47"/>
          <p:cNvSpPr/>
          <p:nvPr/>
        </p:nvSpPr>
        <p:spPr>
          <a:xfrm rot="-5376480">
            <a:off x="3958095" y="5228968"/>
            <a:ext cx="3589001" cy="0"/>
          </a:xfrm>
          <a:prstGeom prst="line">
            <a:avLst/>
          </a:prstGeom>
          <a:ln cap="rnd" w="9525">
            <a:solidFill>
              <a:srgbClr val="5B9BD5"/>
            </a:solidFill>
            <a:prstDash val="solid"/>
            <a:headEnd type="none" len="sm" w="sm"/>
            <a:tailEnd type="none" len="sm" w="sm"/>
          </a:ln>
        </p:spPr>
      </p:sp>
      <p:sp>
        <p:nvSpPr>
          <p:cNvPr name="AutoShape 48" id="48"/>
          <p:cNvSpPr/>
          <p:nvPr/>
        </p:nvSpPr>
        <p:spPr>
          <a:xfrm rot="63360">
            <a:off x="5755243" y="3416713"/>
            <a:ext cx="1333224" cy="0"/>
          </a:xfrm>
          <a:prstGeom prst="line">
            <a:avLst/>
          </a:prstGeom>
          <a:ln cap="rnd" w="9525">
            <a:solidFill>
              <a:srgbClr val="5B9BD5"/>
            </a:solidFill>
            <a:prstDash val="solid"/>
            <a:headEnd type="none" len="sm" w="sm"/>
            <a:tailEnd type="none" len="sm" w="sm"/>
          </a:ln>
        </p:spPr>
      </p:sp>
      <p:sp>
        <p:nvSpPr>
          <p:cNvPr name="AutoShape 49" id="49"/>
          <p:cNvSpPr/>
          <p:nvPr/>
        </p:nvSpPr>
        <p:spPr>
          <a:xfrm rot="-5602980">
            <a:off x="6867916" y="3206163"/>
            <a:ext cx="416319" cy="0"/>
          </a:xfrm>
          <a:prstGeom prst="line">
            <a:avLst/>
          </a:prstGeom>
          <a:ln cap="rnd" w="9525">
            <a:solidFill>
              <a:srgbClr val="5B9BD5"/>
            </a:solidFill>
            <a:prstDash val="solid"/>
            <a:headEnd type="none" len="sm" w="sm"/>
            <a:tailEnd type="triangle" len="med" w="lg"/>
          </a:ln>
        </p:spPr>
      </p:sp>
      <p:grpSp>
        <p:nvGrpSpPr>
          <p:cNvPr name="Group 50" id="50"/>
          <p:cNvGrpSpPr/>
          <p:nvPr/>
        </p:nvGrpSpPr>
        <p:grpSpPr>
          <a:xfrm rot="0">
            <a:off x="12758985" y="3660105"/>
            <a:ext cx="2410320" cy="560470"/>
            <a:chOff x="0" y="0"/>
            <a:chExt cx="3213760" cy="747293"/>
          </a:xfrm>
        </p:grpSpPr>
        <p:sp>
          <p:nvSpPr>
            <p:cNvPr name="Freeform 51" id="51"/>
            <p:cNvSpPr/>
            <p:nvPr/>
          </p:nvSpPr>
          <p:spPr>
            <a:xfrm flipH="false" flipV="false" rot="0">
              <a:off x="0" y="0"/>
              <a:ext cx="3213735" cy="747268"/>
            </a:xfrm>
            <a:custGeom>
              <a:avLst/>
              <a:gdLst/>
              <a:ahLst/>
              <a:cxnLst/>
              <a:rect r="r" b="b" t="t" l="l"/>
              <a:pathLst>
                <a:path h="747268" w="3213735">
                  <a:moveTo>
                    <a:pt x="0" y="0"/>
                  </a:moveTo>
                  <a:lnTo>
                    <a:pt x="3213735" y="0"/>
                  </a:lnTo>
                  <a:lnTo>
                    <a:pt x="3213735" y="747268"/>
                  </a:lnTo>
                  <a:lnTo>
                    <a:pt x="0" y="747268"/>
                  </a:lnTo>
                  <a:close/>
                </a:path>
              </a:pathLst>
            </a:custGeom>
            <a:solidFill>
              <a:srgbClr val="A5A5A5"/>
            </a:solidFill>
            <a:ln w="19050" cap="sq">
              <a:solidFill>
                <a:srgbClr val="223F59"/>
              </a:solidFill>
              <a:prstDash val="solid"/>
              <a:miter/>
            </a:ln>
          </p:spPr>
        </p:sp>
        <p:sp>
          <p:nvSpPr>
            <p:cNvPr name="TextBox 52" id="52"/>
            <p:cNvSpPr txBox="true"/>
            <p:nvPr/>
          </p:nvSpPr>
          <p:spPr>
            <a:xfrm>
              <a:off x="0" y="-19050"/>
              <a:ext cx="3213760" cy="766343"/>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살아남을시</a:t>
              </a:r>
            </a:p>
          </p:txBody>
        </p:sp>
      </p:grpSp>
      <p:grpSp>
        <p:nvGrpSpPr>
          <p:cNvPr name="Group 53" id="53"/>
          <p:cNvGrpSpPr/>
          <p:nvPr/>
        </p:nvGrpSpPr>
        <p:grpSpPr>
          <a:xfrm rot="0">
            <a:off x="15150265" y="4712865"/>
            <a:ext cx="2756230" cy="470240"/>
            <a:chOff x="0" y="0"/>
            <a:chExt cx="3674974" cy="626986"/>
          </a:xfrm>
        </p:grpSpPr>
        <p:sp>
          <p:nvSpPr>
            <p:cNvPr name="Freeform 54" id="54"/>
            <p:cNvSpPr/>
            <p:nvPr/>
          </p:nvSpPr>
          <p:spPr>
            <a:xfrm flipH="false" flipV="false" rot="0">
              <a:off x="0" y="0"/>
              <a:ext cx="3674999" cy="626999"/>
            </a:xfrm>
            <a:custGeom>
              <a:avLst/>
              <a:gdLst/>
              <a:ahLst/>
              <a:cxnLst/>
              <a:rect r="r" b="b" t="t" l="l"/>
              <a:pathLst>
                <a:path h="626999" w="3674999">
                  <a:moveTo>
                    <a:pt x="0" y="0"/>
                  </a:moveTo>
                  <a:lnTo>
                    <a:pt x="3674999" y="0"/>
                  </a:lnTo>
                  <a:lnTo>
                    <a:pt x="3674999" y="626999"/>
                  </a:lnTo>
                  <a:lnTo>
                    <a:pt x="0" y="626999"/>
                  </a:lnTo>
                  <a:close/>
                </a:path>
              </a:pathLst>
            </a:custGeom>
            <a:solidFill>
              <a:srgbClr val="5B9BD5"/>
            </a:solidFill>
            <a:ln w="19050" cap="sq">
              <a:solidFill>
                <a:srgbClr val="223F59"/>
              </a:solidFill>
              <a:prstDash val="solid"/>
              <a:miter/>
            </a:ln>
          </p:spPr>
        </p:sp>
        <p:sp>
          <p:nvSpPr>
            <p:cNvPr name="TextBox 55" id="55"/>
            <p:cNvSpPr txBox="true"/>
            <p:nvPr/>
          </p:nvSpPr>
          <p:spPr>
            <a:xfrm>
              <a:off x="0" y="-19050"/>
              <a:ext cx="3674974" cy="646036"/>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HP 10%로 부활</a:t>
              </a:r>
            </a:p>
          </p:txBody>
        </p:sp>
      </p:grpSp>
      <p:sp>
        <p:nvSpPr>
          <p:cNvPr name="AutoShape 56" id="56"/>
          <p:cNvSpPr/>
          <p:nvPr/>
        </p:nvSpPr>
        <p:spPr>
          <a:xfrm rot="5314440">
            <a:off x="14387865" y="3115923"/>
            <a:ext cx="987400" cy="0"/>
          </a:xfrm>
          <a:prstGeom prst="line">
            <a:avLst/>
          </a:prstGeom>
          <a:ln cap="rnd" w="9525">
            <a:solidFill>
              <a:srgbClr val="A5A5A5"/>
            </a:solidFill>
            <a:prstDash val="solid"/>
            <a:headEnd type="none" len="sm" w="sm"/>
            <a:tailEnd type="triangle" len="med" w="lg"/>
          </a:ln>
        </p:spPr>
      </p:sp>
      <p:sp>
        <p:nvSpPr>
          <p:cNvPr name="AutoShape 57" id="57"/>
          <p:cNvSpPr/>
          <p:nvPr/>
        </p:nvSpPr>
        <p:spPr>
          <a:xfrm rot="5271360">
            <a:off x="13470379" y="4619873"/>
            <a:ext cx="656682" cy="0"/>
          </a:xfrm>
          <a:prstGeom prst="line">
            <a:avLst/>
          </a:prstGeom>
          <a:ln cap="rnd" w="9525">
            <a:solidFill>
              <a:srgbClr val="5B9BD5"/>
            </a:solidFill>
            <a:prstDash val="solid"/>
            <a:headEnd type="none" len="sm" w="sm"/>
            <a:tailEnd type="none" len="sm" w="sm"/>
          </a:ln>
        </p:spPr>
      </p:sp>
      <p:sp>
        <p:nvSpPr>
          <p:cNvPr name="AutoShape 58" id="58"/>
          <p:cNvSpPr/>
          <p:nvPr/>
        </p:nvSpPr>
        <p:spPr>
          <a:xfrm rot="72300">
            <a:off x="13801344" y="4950743"/>
            <a:ext cx="1167822" cy="0"/>
          </a:xfrm>
          <a:prstGeom prst="line">
            <a:avLst/>
          </a:prstGeom>
          <a:ln cap="rnd" w="9525">
            <a:solidFill>
              <a:srgbClr val="5B9BD5"/>
            </a:solidFill>
            <a:prstDash val="solid"/>
            <a:headEnd type="none" len="sm" w="sm"/>
            <a:tailEnd type="triangle" len="med" w="lg"/>
          </a:ln>
        </p:spPr>
      </p:sp>
      <p:graphicFrame>
        <p:nvGraphicFramePr>
          <p:cNvPr name="Table 59" id="59"/>
          <p:cNvGraphicFramePr>
            <a:graphicFrameLocks noGrp="true"/>
          </p:cNvGraphicFramePr>
          <p:nvPr/>
        </p:nvGraphicFramePr>
        <p:xfrm>
          <a:off x="12169946" y="5629525"/>
          <a:ext cx="6172200" cy="4732937"/>
        </p:xfrm>
        <a:graphic>
          <a:graphicData uri="http://schemas.openxmlformats.org/drawingml/2006/table">
            <a:tbl>
              <a:tblPr/>
              <a:tblGrid>
                <a:gridCol w="1931583"/>
                <a:gridCol w="1041569"/>
                <a:gridCol w="3199048"/>
              </a:tblGrid>
              <a:tr h="589064">
                <a:tc>
                  <a:txBody>
                    <a:bodyPr anchor="t" rtlCol="false"/>
                    <a:lstStyle/>
                    <a:p>
                      <a:pPr algn="l">
                        <a:lnSpc>
                          <a:spcPts val="1603"/>
                        </a:lnSpc>
                        <a:defRPr/>
                      </a:pPr>
                      <a:r>
                        <a:rPr lang="en-US" b="true" sz="1500">
                          <a:solidFill>
                            <a:srgbClr val="FFFFFF"/>
                          </a:solidFill>
                          <a:latin typeface="Arimo Bold"/>
                          <a:ea typeface="Arimo Bold"/>
                          <a:cs typeface="Arimo Bold"/>
                          <a:sym typeface="Arimo Bold"/>
                        </a:rPr>
                        <a:t>         스킬</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262626"/>
                    </a:solidFill>
                  </a:tcPr>
                </a:tc>
                <a:tc>
                  <a:txBody>
                    <a:bodyPr anchor="t" rtlCol="false"/>
                    <a:lstStyle/>
                    <a:p>
                      <a:pPr algn="l">
                        <a:lnSpc>
                          <a:spcPts val="1603"/>
                        </a:lnSpc>
                        <a:defRPr/>
                      </a:pPr>
                      <a:r>
                        <a:rPr lang="en-US" b="true" sz="1500">
                          <a:solidFill>
                            <a:srgbClr val="FFFFFF"/>
                          </a:solidFill>
                          <a:latin typeface="Arimo Bold"/>
                          <a:ea typeface="Arimo Bold"/>
                          <a:cs typeface="Arimo Bold"/>
                          <a:sym typeface="Arimo Bold"/>
                        </a:rPr>
                        <a:t>   확률</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262626"/>
                    </a:solidFill>
                  </a:tcPr>
                </a:tc>
                <a:tc>
                  <a:txBody>
                    <a:bodyPr anchor="t" rtlCol="false"/>
                    <a:lstStyle/>
                    <a:p>
                      <a:pPr algn="l">
                        <a:lnSpc>
                          <a:spcPts val="1603"/>
                        </a:lnSpc>
                        <a:defRPr/>
                      </a:pPr>
                      <a:r>
                        <a:rPr lang="en-US" b="true" sz="1500">
                          <a:solidFill>
                            <a:srgbClr val="FFFFFF"/>
                          </a:solidFill>
                          <a:latin typeface="Arimo Bold"/>
                          <a:ea typeface="Arimo Bold"/>
                          <a:cs typeface="Arimo Bold"/>
                          <a:sym typeface="Arimo Bold"/>
                        </a:rPr>
                        <a:t>                   공략</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262626"/>
                    </a:solidFill>
                  </a:tcPr>
                </a:tc>
              </a:tr>
              <a:tr h="591982">
                <a:tc>
                  <a:txBody>
                    <a:bodyPr anchor="t" rtlCol="false"/>
                    <a:lstStyle/>
                    <a:p>
                      <a:pPr algn="l">
                        <a:lnSpc>
                          <a:spcPts val="1603"/>
                        </a:lnSpc>
                        <a:defRPr/>
                      </a:pPr>
                      <a:r>
                        <a:rPr lang="en-US" sz="1500">
                          <a:solidFill>
                            <a:srgbClr val="000000"/>
                          </a:solidFill>
                          <a:latin typeface="Arimo"/>
                          <a:ea typeface="Arimo"/>
                          <a:cs typeface="Arimo"/>
                          <a:sym typeface="Arimo"/>
                        </a:rPr>
                        <a:t>     기본 공격</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C000"/>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   50%</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잘 보고 피하기</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r h="591982">
                <a:tc>
                  <a:txBody>
                    <a:bodyPr anchor="t" rtlCol="false"/>
                    <a:lstStyle/>
                    <a:p>
                      <a:pPr algn="l">
                        <a:lnSpc>
                          <a:spcPts val="1603"/>
                        </a:lnSpc>
                        <a:defRPr/>
                      </a:pPr>
                      <a:r>
                        <a:rPr lang="en-US" sz="1500">
                          <a:solidFill>
                            <a:srgbClr val="000000"/>
                          </a:solidFill>
                          <a:latin typeface="Arimo"/>
                          <a:ea typeface="Arimo"/>
                          <a:cs typeface="Arimo"/>
                          <a:sym typeface="Arimo"/>
                        </a:rPr>
                        <a:t>     부하 소환</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C000"/>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   30%</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소환된 부하의 빠른 제거</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r h="591982">
                <a:tc>
                  <a:txBody>
                    <a:bodyPr anchor="t" rtlCol="false"/>
                    <a:lstStyle/>
                    <a:p>
                      <a:pPr algn="l">
                        <a:lnSpc>
                          <a:spcPts val="1603"/>
                        </a:lnSpc>
                        <a:defRPr/>
                      </a:pPr>
                      <a:r>
                        <a:rPr lang="en-US" sz="1500">
                          <a:solidFill>
                            <a:srgbClr val="000000"/>
                          </a:solidFill>
                          <a:latin typeface="Arimo"/>
                          <a:ea typeface="Arimo"/>
                          <a:cs typeface="Arimo"/>
                          <a:sym typeface="Arimo"/>
                        </a:rPr>
                        <a:t>     시간 정지</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C000"/>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   20%</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시간내 소환된 구조물 파괴</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r h="591982">
                <a:tc>
                  <a:txBody>
                    <a:bodyPr anchor="t" rtlCol="false"/>
                    <a:lstStyle/>
                    <a:p>
                      <a:pPr algn="l">
                        <a:lnSpc>
                          <a:spcPts val="1603"/>
                        </a:lnSpc>
                        <a:defRPr/>
                      </a:pPr>
                      <a:r>
                        <a:rPr lang="en-US" sz="1500" spc="5">
                          <a:solidFill>
                            <a:srgbClr val="000000"/>
                          </a:solidFill>
                          <a:latin typeface="Mandali"/>
                          <a:ea typeface="Mandali"/>
                          <a:cs typeface="Mandali"/>
                          <a:sym typeface="Mandali"/>
                        </a:rPr>
                        <a:t>텔레포트(기본이동)</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C000"/>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    X</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잘 보기</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r h="591982">
                <a:tc>
                  <a:txBody>
                    <a:bodyPr anchor="t" rtlCol="false"/>
                    <a:lstStyle/>
                    <a:p>
                      <a:pPr algn="l">
                        <a:lnSpc>
                          <a:spcPts val="1603"/>
                        </a:lnSpc>
                        <a:defRPr/>
                      </a:pPr>
                      <a:r>
                        <a:rPr lang="en-US" sz="1500" spc="5">
                          <a:solidFill>
                            <a:srgbClr val="000000"/>
                          </a:solidFill>
                          <a:latin typeface="Mandali"/>
                          <a:ea typeface="Mandali"/>
                          <a:cs typeface="Mandali"/>
                          <a:sym typeface="Mandali"/>
                        </a:rPr>
                        <a:t>  회피 텔레포트</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C000"/>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    X</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a:solidFill>
                            <a:srgbClr val="000000"/>
                          </a:solidFill>
                          <a:latin typeface="Arimo"/>
                          <a:ea typeface="Arimo"/>
                          <a:cs typeface="Arimo"/>
                          <a:sym typeface="Arimo"/>
                        </a:rPr>
                        <a:t>3회 이하로 공격한다.</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r h="591982">
                <a:tc>
                  <a:txBody>
                    <a:bodyPr anchor="t" rtlCol="false"/>
                    <a:lstStyle/>
                    <a:p>
                      <a:pPr algn="l">
                        <a:lnSpc>
                          <a:spcPts val="1603"/>
                        </a:lnSpc>
                        <a:defRPr/>
                      </a:pPr>
                      <a:r>
                        <a:rPr lang="en-US" sz="1500" spc="5">
                          <a:solidFill>
                            <a:srgbClr val="000000"/>
                          </a:solidFill>
                          <a:latin typeface="Mandali"/>
                          <a:ea typeface="Mandali"/>
                          <a:cs typeface="Mandali"/>
                          <a:sym typeface="Mandali"/>
                        </a:rPr>
                        <a:t>    시간 되감기</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C000"/>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    X</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빨리 쫓아가서 때린다.</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r h="591982">
                <a:tc>
                  <a:txBody>
                    <a:bodyPr anchor="t" rtlCol="false"/>
                    <a:lstStyle/>
                    <a:p>
                      <a:pPr algn="l">
                        <a:lnSpc>
                          <a:spcPts val="1603"/>
                        </a:lnSpc>
                        <a:defRPr/>
                      </a:pPr>
                      <a:r>
                        <a:rPr lang="en-US" sz="1500">
                          <a:solidFill>
                            <a:srgbClr val="000000"/>
                          </a:solidFill>
                          <a:latin typeface="Arimo"/>
                          <a:ea typeface="Arimo"/>
                          <a:cs typeface="Arimo"/>
                          <a:sym typeface="Arimo"/>
                        </a:rPr>
                        <a:t>      비상 탈출</a:t>
                      </a:r>
                      <a:endParaRPr lang="en-US" sz="1100"/>
                    </a:p>
                  </a:txBody>
                  <a:tcPr marL="82525" marR="82525" marT="82525" marB="82525" anchor="t">
                    <a:lnL cmpd="sng" algn="ctr" cap="flat" w="11448">
                      <a:solidFill>
                        <a:srgbClr val="000000"/>
                      </a:solidFill>
                      <a:prstDash val="solid"/>
                      <a:round/>
                      <a:headEnd type="none" w="med" len="med"/>
                      <a:tailEnd type="none" w="med" len="med"/>
                    </a:lnL>
                    <a:lnR cmpd="sng" algn="ctr" cap="flat" w="11448">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8">
                      <a:solidFill>
                        <a:srgbClr val="000000"/>
                      </a:solidFill>
                      <a:prstDash val="solid"/>
                      <a:round/>
                      <a:headEnd type="none" w="med" len="med"/>
                      <a:tailEnd type="none" w="med" len="med"/>
                    </a:lnB>
                    <a:solidFill>
                      <a:srgbClr val="FFC000"/>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    X</a:t>
                      </a:r>
                      <a:endParaRPr lang="en-US" sz="1100"/>
                    </a:p>
                  </a:txBody>
                  <a:tcPr marL="82525" marR="82525" marT="82525" marB="82525" anchor="t">
                    <a:lnL cmpd="sng" algn="ctr" cap="flat" w="11448">
                      <a:solidFill>
                        <a:srgbClr val="000000"/>
                      </a:solidFill>
                      <a:prstDash val="solid"/>
                      <a:round/>
                      <a:headEnd type="none" w="med" len="med"/>
                      <a:tailEnd type="none" w="med" len="med"/>
                    </a:lnL>
                    <a:lnR cmpd="sng" algn="ctr" cap="flat" w="11448">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8">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빨리 쫓아가서 때린다.</a:t>
                      </a:r>
                      <a:endParaRPr lang="en-US" sz="1100"/>
                    </a:p>
                  </a:txBody>
                  <a:tcPr marL="82525" marR="82525" marT="82525" marB="82525" anchor="t">
                    <a:lnL cmpd="sng" algn="ctr" cap="flat" w="11448">
                      <a:solidFill>
                        <a:srgbClr val="000000"/>
                      </a:solidFill>
                      <a:prstDash val="solid"/>
                      <a:round/>
                      <a:headEnd type="none" w="med" len="med"/>
                      <a:tailEnd type="none" w="med" len="med"/>
                    </a:lnL>
                    <a:lnR cmpd="sng" algn="ctr" cap="flat" w="11448">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8">
                      <a:solidFill>
                        <a:srgbClr val="000000"/>
                      </a:solidFill>
                      <a:prstDash val="solid"/>
                      <a:round/>
                      <a:headEnd type="none" w="med" len="med"/>
                      <a:tailEnd type="none" w="med" len="med"/>
                    </a:lnB>
                    <a:solidFill>
                      <a:srgbClr val="FFFFFF"/>
                    </a:solidFill>
                  </a:tcPr>
                </a:tc>
              </a:tr>
            </a:tbl>
          </a:graphicData>
        </a:graphic>
      </p:graphicFrame>
      <p:graphicFrame>
        <p:nvGraphicFramePr>
          <p:cNvPr name="Table 60" id="60"/>
          <p:cNvGraphicFramePr>
            <a:graphicFrameLocks noGrp="true"/>
          </p:cNvGraphicFramePr>
          <p:nvPr/>
        </p:nvGraphicFramePr>
        <p:xfrm>
          <a:off x="9331496" y="8608676"/>
          <a:ext cx="2838450" cy="1678324"/>
        </p:xfrm>
        <a:graphic>
          <a:graphicData uri="http://schemas.openxmlformats.org/drawingml/2006/table">
            <a:tbl>
              <a:tblPr/>
              <a:tblGrid>
                <a:gridCol w="1001297"/>
                <a:gridCol w="1837153"/>
              </a:tblGrid>
              <a:tr h="489112">
                <a:tc>
                  <a:txBody>
                    <a:bodyPr anchor="t" rtlCol="false"/>
                    <a:lstStyle/>
                    <a:p>
                      <a:pPr algn="l">
                        <a:lnSpc>
                          <a:spcPts val="1603"/>
                        </a:lnSpc>
                        <a:defRPr/>
                      </a:pPr>
                      <a:r>
                        <a:rPr lang="en-US" b="true" sz="1500">
                          <a:solidFill>
                            <a:srgbClr val="FFFFFF"/>
                          </a:solidFill>
                          <a:latin typeface="Arimo Bold"/>
                          <a:ea typeface="Arimo Bold"/>
                          <a:cs typeface="Arimo Bold"/>
                          <a:sym typeface="Arimo Bold"/>
                        </a:rPr>
                        <a:t>    색 </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404040"/>
                    </a:solidFill>
                  </a:tcPr>
                </a:tc>
                <a:tc>
                  <a:txBody>
                    <a:bodyPr anchor="t" rtlCol="false"/>
                    <a:lstStyle/>
                    <a:p>
                      <a:pPr algn="l">
                        <a:lnSpc>
                          <a:spcPts val="1603"/>
                        </a:lnSpc>
                        <a:defRPr/>
                      </a:pPr>
                      <a:r>
                        <a:rPr lang="en-US" sz="1500">
                          <a:solidFill>
                            <a:srgbClr val="FFFFFF"/>
                          </a:solidFill>
                          <a:latin typeface="Arimo"/>
                          <a:ea typeface="Arimo"/>
                          <a:cs typeface="Arimo"/>
                          <a:sym typeface="Arimo"/>
                        </a:rPr>
                        <a:t>            뜻</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404040"/>
                    </a:solidFill>
                  </a:tcPr>
                </a:tc>
              </a:tr>
              <a:tr h="594606">
                <a:tc>
                  <a:txBody>
                    <a:bodyPr anchor="t" rtlCol="false"/>
                    <a:lstStyle/>
                    <a:p>
                      <a:pPr algn="l">
                        <a:lnSpc>
                          <a:spcPts val="1603"/>
                        </a:lnSpc>
                        <a:defRPr/>
                      </a:pPr>
                      <a:r>
                        <a:rPr lang="en-US" sz="1500">
                          <a:solidFill>
                            <a:srgbClr val="000000"/>
                          </a:solidFill>
                          <a:latin typeface="Arimo"/>
                          <a:ea typeface="Arimo"/>
                          <a:cs typeface="Arimo"/>
                          <a:sym typeface="Arimo"/>
                        </a:rPr>
                        <a:t>  </a:t>
                      </a:r>
                      <a:r>
                        <a:rPr lang="en-US" sz="1500">
                          <a:solidFill>
                            <a:srgbClr val="FFFFFF"/>
                          </a:solidFill>
                          <a:latin typeface="Arimo"/>
                          <a:ea typeface="Arimo"/>
                          <a:cs typeface="Arimo"/>
                          <a:sym typeface="Arimo"/>
                        </a:rPr>
                        <a:t>회색</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A5A5A5"/>
                    </a:solidFill>
                  </a:tcPr>
                </a:tc>
                <a:tc>
                  <a:txBody>
                    <a:bodyPr anchor="t" rtlCol="false"/>
                    <a:lstStyle/>
                    <a:p>
                      <a:pPr algn="l">
                        <a:lnSpc>
                          <a:spcPts val="1603"/>
                        </a:lnSpc>
                        <a:defRPr/>
                      </a:pPr>
                      <a:r>
                        <a:rPr lang="en-US" sz="1500" spc="5">
                          <a:solidFill>
                            <a:srgbClr val="000000"/>
                          </a:solidFill>
                          <a:latin typeface="Mandali"/>
                          <a:ea typeface="Mandali"/>
                          <a:cs typeface="Mandali"/>
                          <a:sym typeface="Mandali"/>
                        </a:rPr>
                        <a:t>조건 만족시 이동</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r h="594606">
                <a:tc>
                  <a:txBody>
                    <a:bodyPr anchor="t" rtlCol="false"/>
                    <a:lstStyle/>
                    <a:p>
                      <a:pPr algn="l">
                        <a:lnSpc>
                          <a:spcPts val="1603"/>
                        </a:lnSpc>
                        <a:defRPr/>
                      </a:pPr>
                      <a:r>
                        <a:rPr lang="en-US" sz="1500" spc="5">
                          <a:solidFill>
                            <a:srgbClr val="FFFFFF"/>
                          </a:solidFill>
                          <a:latin typeface="Mandali"/>
                          <a:ea typeface="Mandali"/>
                          <a:cs typeface="Mandali"/>
                          <a:sym typeface="Mandali"/>
                        </a:rPr>
                        <a:t> 파란색</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5B9BD5"/>
                    </a:solidFill>
                  </a:tcPr>
                </a:tc>
                <a:tc>
                  <a:txBody>
                    <a:bodyPr anchor="t" rtlCol="false"/>
                    <a:lstStyle/>
                    <a:p>
                      <a:pPr algn="l">
                        <a:lnSpc>
                          <a:spcPts val="1603"/>
                        </a:lnSpc>
                        <a:defRPr/>
                      </a:pPr>
                      <a:r>
                        <a:rPr lang="en-US" sz="1500">
                          <a:solidFill>
                            <a:srgbClr val="000000"/>
                          </a:solidFill>
                          <a:latin typeface="Arimo"/>
                          <a:ea typeface="Arimo"/>
                          <a:cs typeface="Arimo"/>
                          <a:sym typeface="Arimo"/>
                        </a:rPr>
                        <a:t>     보통 이동</a:t>
                      </a:r>
                      <a:endParaRPr lang="en-US" sz="1100"/>
                    </a:p>
                  </a:txBody>
                  <a:tcPr marL="82525" marR="82525" marT="82525" marB="82525" anchor="t">
                    <a:lnL cmpd="sng" algn="ctr" cap="flat" w="11449">
                      <a:solidFill>
                        <a:srgbClr val="000000"/>
                      </a:solidFill>
                      <a:prstDash val="solid"/>
                      <a:round/>
                      <a:headEnd type="none" w="med" len="med"/>
                      <a:tailEnd type="none" w="med" len="med"/>
                    </a:lnL>
                    <a:lnR cmpd="sng" algn="ctr" cap="flat" w="11449">
                      <a:solidFill>
                        <a:srgbClr val="000000"/>
                      </a:solidFill>
                      <a:prstDash val="solid"/>
                      <a:round/>
                      <a:headEnd type="none" w="med" len="med"/>
                      <a:tailEnd type="none" w="med" len="med"/>
                    </a:lnR>
                    <a:lnT cmpd="sng" algn="ctr" cap="flat" w="11449">
                      <a:solidFill>
                        <a:srgbClr val="000000"/>
                      </a:solidFill>
                      <a:prstDash val="solid"/>
                      <a:round/>
                      <a:headEnd type="none" w="med" len="med"/>
                      <a:tailEnd type="none" w="med" len="med"/>
                    </a:lnT>
                    <a:lnB cmpd="sng" algn="ctr" cap="flat" w="11449">
                      <a:solidFill>
                        <a:srgbClr val="000000"/>
                      </a:solidFill>
                      <a:prstDash val="solid"/>
                      <a:round/>
                      <a:headEnd type="none" w="med" len="med"/>
                      <a:tailEnd type="none" w="med" len="med"/>
                    </a:lnB>
                    <a:solidFill>
                      <a:srgbClr val="FFFFFF"/>
                    </a:solidFill>
                  </a:tcPr>
                </a:tc>
              </a:tr>
            </a:tbl>
          </a:graphicData>
        </a:graphic>
      </p:graphicFrame>
      <p:sp>
        <p:nvSpPr>
          <p:cNvPr name="AutoShape 61" id="61"/>
          <p:cNvSpPr/>
          <p:nvPr/>
        </p:nvSpPr>
        <p:spPr>
          <a:xfrm rot="5337360">
            <a:off x="6838083" y="3627272"/>
            <a:ext cx="1348264" cy="0"/>
          </a:xfrm>
          <a:prstGeom prst="line">
            <a:avLst/>
          </a:prstGeom>
          <a:ln cap="rnd" w="9525">
            <a:solidFill>
              <a:srgbClr val="5B9BD5"/>
            </a:solidFill>
            <a:prstDash val="solid"/>
            <a:headEnd type="triangle" len="med" w="lg"/>
            <a:tailEnd type="triangle" len="med" w="lg"/>
          </a:ln>
        </p:spPr>
      </p:sp>
      <p:sp>
        <p:nvSpPr>
          <p:cNvPr name="AutoShape 62" id="62"/>
          <p:cNvSpPr/>
          <p:nvPr/>
        </p:nvSpPr>
        <p:spPr>
          <a:xfrm rot="-10774800">
            <a:off x="9560271" y="5123698"/>
            <a:ext cx="5408838" cy="0"/>
          </a:xfrm>
          <a:prstGeom prst="line">
            <a:avLst/>
          </a:prstGeom>
          <a:ln cap="rnd" w="9525">
            <a:solidFill>
              <a:srgbClr val="5B9BD5"/>
            </a:solidFill>
            <a:prstDash val="solid"/>
            <a:headEnd type="none" len="sm" w="sm"/>
            <a:tailEnd type="none" len="sm" w="sm"/>
          </a:ln>
        </p:spPr>
      </p:sp>
      <p:sp>
        <p:nvSpPr>
          <p:cNvPr name="AutoShape 63" id="63"/>
          <p:cNvSpPr/>
          <p:nvPr/>
        </p:nvSpPr>
        <p:spPr>
          <a:xfrm rot="-5343660">
            <a:off x="8853383" y="4394283"/>
            <a:ext cx="1498635" cy="0"/>
          </a:xfrm>
          <a:prstGeom prst="line">
            <a:avLst/>
          </a:prstGeom>
          <a:ln cap="rnd" w="9525">
            <a:solidFill>
              <a:srgbClr val="5B9BD5"/>
            </a:solidFill>
            <a:prstDash val="solid"/>
            <a:headEnd type="none" len="sm" w="sm"/>
            <a:tailEnd type="none" len="sm" w="sm"/>
          </a:ln>
        </p:spPr>
      </p:sp>
      <p:sp>
        <p:nvSpPr>
          <p:cNvPr name="AutoShape 64" id="64"/>
          <p:cNvSpPr/>
          <p:nvPr/>
        </p:nvSpPr>
        <p:spPr>
          <a:xfrm rot="10746360">
            <a:off x="8056302" y="3642312"/>
            <a:ext cx="1573825" cy="0"/>
          </a:xfrm>
          <a:prstGeom prst="line">
            <a:avLst/>
          </a:prstGeom>
          <a:ln cap="rnd" w="9525">
            <a:solidFill>
              <a:srgbClr val="5B9BD5"/>
            </a:solidFill>
            <a:prstDash val="solid"/>
            <a:headEnd type="none" len="sm" w="sm"/>
            <a:tailEnd type="none" len="sm" w="sm"/>
          </a:ln>
        </p:spPr>
      </p:sp>
      <p:sp>
        <p:nvSpPr>
          <p:cNvPr name="AutoShape 65" id="65"/>
          <p:cNvSpPr/>
          <p:nvPr/>
        </p:nvSpPr>
        <p:spPr>
          <a:xfrm rot="-5593920">
            <a:off x="7694886" y="3303918"/>
            <a:ext cx="702459" cy="0"/>
          </a:xfrm>
          <a:prstGeom prst="line">
            <a:avLst/>
          </a:prstGeom>
          <a:ln cap="rnd" w="9525">
            <a:solidFill>
              <a:srgbClr val="5B9BD5"/>
            </a:solidFill>
            <a:prstDash val="solid"/>
            <a:headEnd type="none" len="sm" w="sm"/>
            <a:tailEnd type="triangle" len="med" w="lg"/>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75671" y="3700682"/>
            <a:ext cx="5211356" cy="3623415"/>
            <a:chOff x="0" y="0"/>
            <a:chExt cx="6948475" cy="4831220"/>
          </a:xfrm>
        </p:grpSpPr>
        <p:sp>
          <p:nvSpPr>
            <p:cNvPr name="Freeform 3" id="3"/>
            <p:cNvSpPr/>
            <p:nvPr/>
          </p:nvSpPr>
          <p:spPr>
            <a:xfrm flipH="false" flipV="false" rot="0">
              <a:off x="0" y="0"/>
              <a:ext cx="6948424" cy="4831207"/>
            </a:xfrm>
            <a:custGeom>
              <a:avLst/>
              <a:gdLst/>
              <a:ahLst/>
              <a:cxnLst/>
              <a:rect r="r" b="b" t="t" l="l"/>
              <a:pathLst>
                <a:path h="4831207" w="6948424">
                  <a:moveTo>
                    <a:pt x="0" y="0"/>
                  </a:moveTo>
                  <a:lnTo>
                    <a:pt x="6948424" y="0"/>
                  </a:lnTo>
                  <a:lnTo>
                    <a:pt x="6948424" y="4831207"/>
                  </a:lnTo>
                  <a:lnTo>
                    <a:pt x="0" y="4831207"/>
                  </a:lnTo>
                  <a:close/>
                </a:path>
              </a:pathLst>
            </a:custGeom>
            <a:solidFill>
              <a:srgbClr val="5B9BD5"/>
            </a:solidFill>
            <a:ln w="19050" cap="sq">
              <a:solidFill>
                <a:srgbClr val="223F59"/>
              </a:solidFill>
              <a:prstDash val="solid"/>
              <a:miter/>
            </a:ln>
          </p:spPr>
        </p:sp>
      </p:grpSp>
      <p:grpSp>
        <p:nvGrpSpPr>
          <p:cNvPr name="Group 4" id="4"/>
          <p:cNvGrpSpPr/>
          <p:nvPr/>
        </p:nvGrpSpPr>
        <p:grpSpPr>
          <a:xfrm rot="0">
            <a:off x="603190" y="609219"/>
            <a:ext cx="6014333" cy="1038025"/>
            <a:chOff x="0" y="0"/>
            <a:chExt cx="8019110" cy="1384033"/>
          </a:xfrm>
        </p:grpSpPr>
        <p:sp>
          <p:nvSpPr>
            <p:cNvPr name="Freeform 5" id="5"/>
            <p:cNvSpPr/>
            <p:nvPr/>
          </p:nvSpPr>
          <p:spPr>
            <a:xfrm flipH="false" flipV="false" rot="0">
              <a:off x="0" y="0"/>
              <a:ext cx="8019104" cy="1384030"/>
            </a:xfrm>
            <a:custGeom>
              <a:avLst/>
              <a:gdLst/>
              <a:ahLst/>
              <a:cxnLst/>
              <a:rect r="r" b="b" t="t" l="l"/>
              <a:pathLst>
                <a:path h="1384030" w="8019104">
                  <a:moveTo>
                    <a:pt x="0" y="0"/>
                  </a:moveTo>
                  <a:lnTo>
                    <a:pt x="8019104" y="0"/>
                  </a:lnTo>
                  <a:lnTo>
                    <a:pt x="8019104" y="1384030"/>
                  </a:lnTo>
                  <a:lnTo>
                    <a:pt x="0" y="1384030"/>
                  </a:lnTo>
                  <a:close/>
                </a:path>
              </a:pathLst>
            </a:custGeom>
            <a:blipFill>
              <a:blip r:embed="rId2">
                <a:alphaModFix amt="0"/>
              </a:blip>
              <a:stretch>
                <a:fillRect l="0" t="-62896" r="0" b="-62896"/>
              </a:stretch>
            </a:blipFill>
          </p:spPr>
        </p:sp>
        <p:sp>
          <p:nvSpPr>
            <p:cNvPr name="TextBox 6" id="6"/>
            <p:cNvSpPr txBox="true"/>
            <p:nvPr/>
          </p:nvSpPr>
          <p:spPr>
            <a:xfrm>
              <a:off x="0" y="28575"/>
              <a:ext cx="8019110" cy="1355458"/>
            </a:xfrm>
            <a:prstGeom prst="rect">
              <a:avLst/>
            </a:prstGeom>
          </p:spPr>
          <p:txBody>
            <a:bodyPr anchor="ctr" rtlCol="false" tIns="0" lIns="0" bIns="0" rIns="0"/>
            <a:lstStyle/>
            <a:p>
              <a:pPr algn="l">
                <a:lnSpc>
                  <a:spcPts val="6415"/>
                </a:lnSpc>
              </a:pPr>
              <a:r>
                <a:rPr lang="en-US" sz="5940">
                  <a:solidFill>
                    <a:srgbClr val="000000"/>
                  </a:solidFill>
                  <a:latin typeface="Arimo"/>
                  <a:ea typeface="Arimo"/>
                  <a:cs typeface="Arimo"/>
                  <a:sym typeface="Arimo"/>
                </a:rPr>
                <a:t>애니메이션 로직</a:t>
              </a:r>
            </a:p>
          </p:txBody>
        </p:sp>
      </p:grpSp>
      <p:sp>
        <p:nvSpPr>
          <p:cNvPr name="TextBox 7" id="7"/>
          <p:cNvSpPr txBox="true"/>
          <p:nvPr/>
        </p:nvSpPr>
        <p:spPr>
          <a:xfrm rot="0">
            <a:off x="2166890" y="2327710"/>
            <a:ext cx="171209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생성(컷씬)</a:t>
            </a:r>
          </a:p>
        </p:txBody>
      </p:sp>
      <p:sp>
        <p:nvSpPr>
          <p:cNvPr name="TextBox 8" id="8"/>
          <p:cNvSpPr txBox="true"/>
          <p:nvPr/>
        </p:nvSpPr>
        <p:spPr>
          <a:xfrm rot="0">
            <a:off x="4753670" y="2327710"/>
            <a:ext cx="1697050"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전투 대기</a:t>
            </a:r>
          </a:p>
        </p:txBody>
      </p:sp>
      <p:sp>
        <p:nvSpPr>
          <p:cNvPr name="AutoShape 9" id="9"/>
          <p:cNvSpPr/>
          <p:nvPr/>
        </p:nvSpPr>
        <p:spPr>
          <a:xfrm rot="-99120">
            <a:off x="3860206" y="2574503"/>
            <a:ext cx="852087" cy="0"/>
          </a:xfrm>
          <a:prstGeom prst="line">
            <a:avLst/>
          </a:prstGeom>
          <a:ln cap="rnd" w="9525">
            <a:solidFill>
              <a:srgbClr val="5B9BD5"/>
            </a:solidFill>
            <a:prstDash val="solid"/>
            <a:headEnd type="none" len="sm" w="sm"/>
            <a:tailEnd type="triangle" len="med" w="lg"/>
          </a:ln>
        </p:spPr>
      </p:sp>
      <p:sp>
        <p:nvSpPr>
          <p:cNvPr name="AutoShape 10" id="10"/>
          <p:cNvSpPr/>
          <p:nvPr/>
        </p:nvSpPr>
        <p:spPr>
          <a:xfrm rot="5488200">
            <a:off x="5048345" y="3221203"/>
            <a:ext cx="957329" cy="0"/>
          </a:xfrm>
          <a:prstGeom prst="line">
            <a:avLst/>
          </a:prstGeom>
          <a:ln cap="rnd" w="9525">
            <a:solidFill>
              <a:srgbClr val="5B9BD5"/>
            </a:solidFill>
            <a:prstDash val="solid"/>
            <a:headEnd type="triangle" len="med" w="lg"/>
            <a:tailEnd type="triangle" len="med" w="lg"/>
          </a:ln>
        </p:spPr>
      </p:sp>
      <p:sp>
        <p:nvSpPr>
          <p:cNvPr name="TextBox 11" id="11"/>
          <p:cNvSpPr txBox="true"/>
          <p:nvPr/>
        </p:nvSpPr>
        <p:spPr>
          <a:xfrm rot="0">
            <a:off x="2572950" y="4147480"/>
            <a:ext cx="1997840" cy="1312602"/>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  일반 공격</a:t>
            </a:r>
          </a:p>
          <a:p>
            <a:pPr algn="l">
              <a:lnSpc>
                <a:spcPts val="3240"/>
              </a:lnSpc>
            </a:pPr>
          </a:p>
          <a:p>
            <a:pPr algn="l" marL="488632" indent="-244316" lvl="1">
              <a:lnSpc>
                <a:spcPts val="3240"/>
              </a:lnSpc>
              <a:buAutoNum type="arabicPeriod" startAt="1"/>
            </a:pPr>
            <a:r>
              <a:rPr lang="en-US" sz="2700">
                <a:solidFill>
                  <a:srgbClr val="000000"/>
                </a:solidFill>
                <a:latin typeface="Arimo"/>
                <a:ea typeface="Arimo"/>
                <a:cs typeface="Arimo"/>
                <a:sym typeface="Arimo"/>
              </a:rPr>
              <a:t>기본공격</a:t>
            </a:r>
          </a:p>
        </p:txBody>
      </p:sp>
      <p:sp>
        <p:nvSpPr>
          <p:cNvPr name="TextBox 12" id="12"/>
          <p:cNvSpPr txBox="true"/>
          <p:nvPr/>
        </p:nvSpPr>
        <p:spPr>
          <a:xfrm rot="0">
            <a:off x="4740621" y="4140956"/>
            <a:ext cx="2847432" cy="3390100"/>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    스킬 동작</a:t>
            </a:r>
          </a:p>
          <a:p>
            <a:pPr algn="l">
              <a:lnSpc>
                <a:spcPts val="3240"/>
              </a:lnSpc>
            </a:pPr>
          </a:p>
          <a:p>
            <a:pPr algn="l" marL="488632" indent="-244316" lvl="1">
              <a:lnSpc>
                <a:spcPts val="3240"/>
              </a:lnSpc>
              <a:buAutoNum type="arabicPeriod" startAt="1"/>
            </a:pPr>
            <a:r>
              <a:rPr lang="en-US" sz="2700">
                <a:solidFill>
                  <a:srgbClr val="000000"/>
                </a:solidFill>
                <a:latin typeface="Arimo"/>
                <a:ea typeface="Arimo"/>
                <a:cs typeface="Arimo"/>
                <a:sym typeface="Arimo"/>
              </a:rPr>
              <a:t>시간 되감기</a:t>
            </a:r>
          </a:p>
          <a:p>
            <a:pPr algn="l" marL="488632" indent="-244316" lvl="1">
              <a:lnSpc>
                <a:spcPts val="3240"/>
              </a:lnSpc>
              <a:buAutoNum type="arabicPeriod" startAt="1"/>
            </a:pPr>
            <a:r>
              <a:rPr lang="en-US" sz="2700">
                <a:solidFill>
                  <a:srgbClr val="000000"/>
                </a:solidFill>
                <a:latin typeface="Arimo"/>
                <a:ea typeface="Arimo"/>
                <a:cs typeface="Arimo"/>
                <a:sym typeface="Arimo"/>
              </a:rPr>
              <a:t>시간 정지</a:t>
            </a:r>
          </a:p>
          <a:p>
            <a:pPr algn="l" marL="488632" indent="-244316" lvl="1">
              <a:lnSpc>
                <a:spcPts val="3240"/>
              </a:lnSpc>
              <a:buAutoNum type="arabicPeriod" startAt="1"/>
            </a:pPr>
            <a:r>
              <a:rPr lang="en-US" sz="2700">
                <a:solidFill>
                  <a:srgbClr val="000000"/>
                </a:solidFill>
                <a:latin typeface="Arimo"/>
                <a:ea typeface="Arimo"/>
                <a:cs typeface="Arimo"/>
                <a:sym typeface="Arimo"/>
              </a:rPr>
              <a:t>부하 소환</a:t>
            </a:r>
          </a:p>
          <a:p>
            <a:pPr algn="l" marL="488632" indent="-244316" lvl="1">
              <a:lnSpc>
                <a:spcPts val="3240"/>
              </a:lnSpc>
              <a:buAutoNum type="arabicPeriod" startAt="1"/>
            </a:pPr>
            <a:r>
              <a:rPr lang="en-US" sz="2700">
                <a:solidFill>
                  <a:srgbClr val="000000"/>
                </a:solidFill>
                <a:latin typeface="Arimo"/>
                <a:ea typeface="Arimo"/>
                <a:cs typeface="Arimo"/>
                <a:sym typeface="Arimo"/>
              </a:rPr>
              <a:t>비상 탈출</a:t>
            </a:r>
          </a:p>
          <a:p>
            <a:pPr algn="l" marL="488632" indent="-244316" lvl="1">
              <a:lnSpc>
                <a:spcPts val="3240"/>
              </a:lnSpc>
              <a:buAutoNum type="arabicPeriod" startAt="1"/>
            </a:pPr>
            <a:r>
              <a:rPr lang="en-US" sz="2700">
                <a:solidFill>
                  <a:srgbClr val="000000"/>
                </a:solidFill>
                <a:latin typeface="Arimo"/>
                <a:ea typeface="Arimo"/>
                <a:cs typeface="Arimo"/>
                <a:sym typeface="Arimo"/>
              </a:rPr>
              <a:t>회피 텔레포트</a:t>
            </a:r>
          </a:p>
          <a:p>
            <a:pPr algn="l" marL="488632" indent="-244316" lvl="1">
              <a:lnSpc>
                <a:spcPts val="3240"/>
              </a:lnSpc>
            </a:pPr>
          </a:p>
        </p:txBody>
      </p:sp>
      <p:grpSp>
        <p:nvGrpSpPr>
          <p:cNvPr name="Group 13" id="13"/>
          <p:cNvGrpSpPr/>
          <p:nvPr/>
        </p:nvGrpSpPr>
        <p:grpSpPr>
          <a:xfrm rot="0">
            <a:off x="12304995" y="2279990"/>
            <a:ext cx="2998403" cy="2801607"/>
            <a:chOff x="0" y="0"/>
            <a:chExt cx="3997871" cy="3735476"/>
          </a:xfrm>
        </p:grpSpPr>
        <p:sp>
          <p:nvSpPr>
            <p:cNvPr name="Freeform 14" id="14"/>
            <p:cNvSpPr/>
            <p:nvPr/>
          </p:nvSpPr>
          <p:spPr>
            <a:xfrm flipH="false" flipV="false" rot="0">
              <a:off x="0" y="0"/>
              <a:ext cx="3997833" cy="3735451"/>
            </a:xfrm>
            <a:custGeom>
              <a:avLst/>
              <a:gdLst/>
              <a:ahLst/>
              <a:cxnLst/>
              <a:rect r="r" b="b" t="t" l="l"/>
              <a:pathLst>
                <a:path h="3735451" w="3997833">
                  <a:moveTo>
                    <a:pt x="0" y="0"/>
                  </a:moveTo>
                  <a:lnTo>
                    <a:pt x="3997833" y="0"/>
                  </a:lnTo>
                  <a:lnTo>
                    <a:pt x="3997833" y="3735451"/>
                  </a:lnTo>
                  <a:lnTo>
                    <a:pt x="0" y="3735451"/>
                  </a:lnTo>
                  <a:close/>
                </a:path>
              </a:pathLst>
            </a:custGeom>
            <a:solidFill>
              <a:srgbClr val="5B9BD5"/>
            </a:solidFill>
            <a:ln w="19050" cap="sq">
              <a:solidFill>
                <a:srgbClr val="223F59"/>
              </a:solidFill>
              <a:prstDash val="solid"/>
              <a:miter/>
            </a:ln>
          </p:spPr>
        </p:sp>
      </p:grpSp>
      <p:sp>
        <p:nvSpPr>
          <p:cNvPr name="TextBox 15" id="15"/>
          <p:cNvSpPr txBox="true"/>
          <p:nvPr/>
        </p:nvSpPr>
        <p:spPr>
          <a:xfrm rot="0">
            <a:off x="12423210" y="2515676"/>
            <a:ext cx="2768432"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데미지 기본 동작</a:t>
            </a:r>
          </a:p>
        </p:txBody>
      </p:sp>
      <p:sp>
        <p:nvSpPr>
          <p:cNvPr name="TextBox 16" id="16"/>
          <p:cNvSpPr txBox="true"/>
          <p:nvPr/>
        </p:nvSpPr>
        <p:spPr>
          <a:xfrm rot="0">
            <a:off x="12444241" y="3236519"/>
            <a:ext cx="2755497" cy="1728102"/>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데미지 추가 동작</a:t>
            </a:r>
          </a:p>
          <a:p>
            <a:pPr algn="l">
              <a:lnSpc>
                <a:spcPts val="3240"/>
              </a:lnSpc>
            </a:pPr>
          </a:p>
          <a:p>
            <a:pPr algn="l">
              <a:lnSpc>
                <a:spcPts val="3240"/>
              </a:lnSpc>
            </a:pPr>
            <a:r>
              <a:rPr lang="en-US" sz="2700">
                <a:solidFill>
                  <a:srgbClr val="000000"/>
                </a:solidFill>
                <a:latin typeface="Arimo"/>
                <a:ea typeface="Arimo"/>
                <a:cs typeface="Arimo"/>
                <a:sym typeface="Arimo"/>
              </a:rPr>
              <a:t>      1. 죽음</a:t>
            </a:r>
          </a:p>
          <a:p>
            <a:pPr algn="l">
              <a:lnSpc>
                <a:spcPts val="3240"/>
              </a:lnSpc>
            </a:pPr>
            <a:r>
              <a:rPr lang="en-US" sz="2700">
                <a:solidFill>
                  <a:srgbClr val="000000"/>
                </a:solidFill>
                <a:latin typeface="Arimo"/>
                <a:ea typeface="Arimo"/>
                <a:cs typeface="Arimo"/>
                <a:sym typeface="Arimo"/>
              </a:rPr>
              <a:t>      2. 스턴</a:t>
            </a:r>
          </a:p>
        </p:txBody>
      </p:sp>
      <p:sp>
        <p:nvSpPr>
          <p:cNvPr name="AutoShape 17" id="17"/>
          <p:cNvSpPr/>
          <p:nvPr/>
        </p:nvSpPr>
        <p:spPr>
          <a:xfrm rot="-91020">
            <a:off x="6284490" y="2506075"/>
            <a:ext cx="1438780" cy="0"/>
          </a:xfrm>
          <a:prstGeom prst="line">
            <a:avLst/>
          </a:prstGeom>
          <a:ln cap="rnd" w="9525">
            <a:solidFill>
              <a:srgbClr val="5B9BD5"/>
            </a:solidFill>
            <a:prstDash val="solid"/>
            <a:headEnd type="triangle" len="med" w="lg"/>
            <a:tailEnd type="triangle" len="med" w="lg"/>
          </a:ln>
        </p:spPr>
      </p:sp>
      <p:grpSp>
        <p:nvGrpSpPr>
          <p:cNvPr name="Group 18" id="18"/>
          <p:cNvGrpSpPr/>
          <p:nvPr/>
        </p:nvGrpSpPr>
        <p:grpSpPr>
          <a:xfrm rot="0">
            <a:off x="8023060" y="2258968"/>
            <a:ext cx="2505075" cy="1603077"/>
            <a:chOff x="0" y="0"/>
            <a:chExt cx="3340100" cy="2137435"/>
          </a:xfrm>
        </p:grpSpPr>
        <p:sp>
          <p:nvSpPr>
            <p:cNvPr name="Freeform 19" id="19"/>
            <p:cNvSpPr/>
            <p:nvPr/>
          </p:nvSpPr>
          <p:spPr>
            <a:xfrm flipH="false" flipV="false" rot="0">
              <a:off x="0" y="0"/>
              <a:ext cx="3340100" cy="2137410"/>
            </a:xfrm>
            <a:custGeom>
              <a:avLst/>
              <a:gdLst/>
              <a:ahLst/>
              <a:cxnLst/>
              <a:rect r="r" b="b" t="t" l="l"/>
              <a:pathLst>
                <a:path h="2137410" w="3340100">
                  <a:moveTo>
                    <a:pt x="0" y="0"/>
                  </a:moveTo>
                  <a:lnTo>
                    <a:pt x="3340100" y="0"/>
                  </a:lnTo>
                  <a:lnTo>
                    <a:pt x="3340100" y="2137410"/>
                  </a:lnTo>
                  <a:lnTo>
                    <a:pt x="0" y="2137410"/>
                  </a:lnTo>
                  <a:close/>
                </a:path>
              </a:pathLst>
            </a:custGeom>
            <a:solidFill>
              <a:srgbClr val="5B9BD5"/>
            </a:solidFill>
            <a:ln w="19050" cap="sq">
              <a:solidFill>
                <a:srgbClr val="223F59"/>
              </a:solidFill>
              <a:prstDash val="solid"/>
              <a:miter/>
            </a:ln>
          </p:spPr>
        </p:sp>
      </p:grpSp>
      <p:sp>
        <p:nvSpPr>
          <p:cNvPr name="TextBox 20" id="20"/>
          <p:cNvSpPr txBox="true"/>
          <p:nvPr/>
        </p:nvSpPr>
        <p:spPr>
          <a:xfrm rot="0">
            <a:off x="8466925" y="2437495"/>
            <a:ext cx="1588770" cy="1312602"/>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전투 이동</a:t>
            </a:r>
          </a:p>
          <a:p>
            <a:pPr algn="l">
              <a:lnSpc>
                <a:spcPts val="3240"/>
              </a:lnSpc>
            </a:pPr>
          </a:p>
          <a:p>
            <a:pPr algn="l">
              <a:lnSpc>
                <a:spcPts val="3240"/>
              </a:lnSpc>
            </a:pPr>
            <a:r>
              <a:rPr lang="en-US" sz="2700">
                <a:solidFill>
                  <a:srgbClr val="000000"/>
                </a:solidFill>
                <a:latin typeface="Arimo"/>
                <a:ea typeface="Arimo"/>
                <a:cs typeface="Arimo"/>
                <a:sym typeface="Arimo"/>
              </a:rPr>
              <a:t> 텔레포트</a:t>
            </a:r>
          </a:p>
        </p:txBody>
      </p:sp>
      <p:sp>
        <p:nvSpPr>
          <p:cNvPr name="AutoShape 21" id="21"/>
          <p:cNvSpPr/>
          <p:nvPr/>
        </p:nvSpPr>
        <p:spPr>
          <a:xfrm rot="78540">
            <a:off x="10542203" y="2506075"/>
            <a:ext cx="1667313" cy="0"/>
          </a:xfrm>
          <a:prstGeom prst="line">
            <a:avLst/>
          </a:prstGeom>
          <a:ln cap="rnd" w="9525">
            <a:solidFill>
              <a:srgbClr val="5B9BD5"/>
            </a:solidFill>
            <a:prstDash val="solid"/>
            <a:headEnd type="triangle" len="med" w="lg"/>
            <a:tailEnd type="triangle" len="med" w="lg"/>
          </a:ln>
        </p:spPr>
      </p:sp>
      <p:grpSp>
        <p:nvGrpSpPr>
          <p:cNvPr name="Group 22" id="22"/>
          <p:cNvGrpSpPr/>
          <p:nvPr/>
        </p:nvGrpSpPr>
        <p:grpSpPr>
          <a:xfrm rot="0">
            <a:off x="12280735" y="6073997"/>
            <a:ext cx="3019425" cy="2480815"/>
            <a:chOff x="0" y="0"/>
            <a:chExt cx="4025900" cy="3307753"/>
          </a:xfrm>
        </p:grpSpPr>
        <p:sp>
          <p:nvSpPr>
            <p:cNvPr name="Freeform 23" id="23"/>
            <p:cNvSpPr/>
            <p:nvPr/>
          </p:nvSpPr>
          <p:spPr>
            <a:xfrm flipH="false" flipV="false" rot="0">
              <a:off x="0" y="0"/>
              <a:ext cx="4025900" cy="3307715"/>
            </a:xfrm>
            <a:custGeom>
              <a:avLst/>
              <a:gdLst/>
              <a:ahLst/>
              <a:cxnLst/>
              <a:rect r="r" b="b" t="t" l="l"/>
              <a:pathLst>
                <a:path h="3307715" w="4025900">
                  <a:moveTo>
                    <a:pt x="0" y="0"/>
                  </a:moveTo>
                  <a:lnTo>
                    <a:pt x="4025900" y="0"/>
                  </a:lnTo>
                  <a:lnTo>
                    <a:pt x="4025900" y="3307715"/>
                  </a:lnTo>
                  <a:lnTo>
                    <a:pt x="0" y="3307715"/>
                  </a:lnTo>
                  <a:close/>
                </a:path>
              </a:pathLst>
            </a:custGeom>
            <a:solidFill>
              <a:srgbClr val="5B9BD5"/>
            </a:solidFill>
            <a:ln w="19050" cap="sq">
              <a:solidFill>
                <a:srgbClr val="223F59"/>
              </a:solidFill>
              <a:prstDash val="solid"/>
              <a:miter/>
            </a:ln>
          </p:spPr>
        </p:sp>
        <p:sp>
          <p:nvSpPr>
            <p:cNvPr name="TextBox 24" id="24"/>
            <p:cNvSpPr txBox="true"/>
            <p:nvPr/>
          </p:nvSpPr>
          <p:spPr>
            <a:xfrm>
              <a:off x="0" y="-19050"/>
              <a:ext cx="4025900" cy="3326803"/>
            </a:xfrm>
            <a:prstGeom prst="rect">
              <a:avLst/>
            </a:prstGeom>
          </p:spPr>
          <p:txBody>
            <a:bodyPr anchor="ctr" rtlCol="false" tIns="50800" lIns="50800" bIns="50800" rIns="50800"/>
            <a:lstStyle/>
            <a:p>
              <a:pPr algn="ctr">
                <a:lnSpc>
                  <a:spcPts val="3240"/>
                </a:lnSpc>
              </a:pPr>
            </a:p>
            <a:p>
              <a:pPr algn="ctr">
                <a:lnSpc>
                  <a:spcPts val="3240"/>
                </a:lnSpc>
              </a:pPr>
              <a:r>
                <a:rPr lang="en-US" sz="2700">
                  <a:solidFill>
                    <a:srgbClr val="000000"/>
                  </a:solidFill>
                  <a:latin typeface="Arimo"/>
                  <a:ea typeface="Arimo"/>
                  <a:cs typeface="Arimo"/>
                  <a:sym typeface="Arimo"/>
                </a:rPr>
                <a:t>연출 동작</a:t>
              </a:r>
            </a:p>
            <a:p>
              <a:pPr algn="ctr">
                <a:lnSpc>
                  <a:spcPts val="3240"/>
                </a:lnSpc>
              </a:pPr>
            </a:p>
            <a:p>
              <a:pPr algn="ctr">
                <a:lnSpc>
                  <a:spcPts val="3240"/>
                </a:lnSpc>
              </a:pPr>
              <a:r>
                <a:rPr lang="en-US" sz="2700">
                  <a:solidFill>
                    <a:srgbClr val="000000"/>
                  </a:solidFill>
                  <a:latin typeface="Arimo"/>
                  <a:ea typeface="Arimo"/>
                  <a:cs typeface="Arimo"/>
                  <a:sym typeface="Arimo"/>
                </a:rPr>
                <a:t>시간 가속</a:t>
              </a:r>
            </a:p>
            <a:p>
              <a:pPr algn="ctr">
                <a:lnSpc>
                  <a:spcPts val="3240"/>
                </a:lnSpc>
              </a:pPr>
              <a:r>
                <a:rPr lang="en-US" sz="2700">
                  <a:solidFill>
                    <a:srgbClr val="000000"/>
                  </a:solidFill>
                  <a:latin typeface="Arimo"/>
                  <a:ea typeface="Arimo"/>
                  <a:cs typeface="Arimo"/>
                  <a:sym typeface="Arimo"/>
                </a:rPr>
                <a:t>시간 가속 2</a:t>
              </a:r>
            </a:p>
            <a:p>
              <a:pPr algn="ctr">
                <a:lnSpc>
                  <a:spcPts val="3240"/>
                </a:lnSpc>
              </a:pPr>
              <a:r>
                <a:rPr lang="en-US" sz="2700">
                  <a:solidFill>
                    <a:srgbClr val="000000"/>
                  </a:solidFill>
                  <a:latin typeface="Arimo"/>
                  <a:ea typeface="Arimo"/>
                  <a:cs typeface="Arimo"/>
                  <a:sym typeface="Arimo"/>
                </a:rPr>
                <a:t>부활</a:t>
              </a:r>
            </a:p>
            <a:p>
              <a:pPr algn="ctr">
                <a:lnSpc>
                  <a:spcPts val="3240"/>
                </a:lnSpc>
              </a:pPr>
            </a:p>
          </p:txBody>
        </p:sp>
      </p:grpSp>
      <p:sp>
        <p:nvSpPr>
          <p:cNvPr name="AutoShape 25" id="25"/>
          <p:cNvSpPr/>
          <p:nvPr/>
        </p:nvSpPr>
        <p:spPr>
          <a:xfrm rot="5232420">
            <a:off x="13399456" y="5592175"/>
            <a:ext cx="781983" cy="0"/>
          </a:xfrm>
          <a:prstGeom prst="line">
            <a:avLst/>
          </a:prstGeom>
          <a:ln cap="rnd" w="9525">
            <a:solidFill>
              <a:srgbClr val="5B9BD5"/>
            </a:solidFill>
            <a:prstDash val="solid"/>
            <a:headEnd type="triangle" len="med" w="lg"/>
            <a:tailEnd type="triangle" len="med" w="lg"/>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0125" y="299449"/>
            <a:ext cx="3944818" cy="3695341"/>
            <a:chOff x="0" y="0"/>
            <a:chExt cx="9524683" cy="8922326"/>
          </a:xfrm>
        </p:grpSpPr>
        <p:sp>
          <p:nvSpPr>
            <p:cNvPr name="Freeform 3" id="3"/>
            <p:cNvSpPr/>
            <p:nvPr/>
          </p:nvSpPr>
          <p:spPr>
            <a:xfrm flipH="false" flipV="false" rot="0">
              <a:off x="0" y="0"/>
              <a:ext cx="9524683" cy="8922331"/>
            </a:xfrm>
            <a:custGeom>
              <a:avLst/>
              <a:gdLst/>
              <a:ahLst/>
              <a:cxnLst/>
              <a:rect r="r" b="b" t="t" l="l"/>
              <a:pathLst>
                <a:path h="8922331" w="9524683">
                  <a:moveTo>
                    <a:pt x="0" y="0"/>
                  </a:moveTo>
                  <a:lnTo>
                    <a:pt x="9524683" y="0"/>
                  </a:lnTo>
                  <a:lnTo>
                    <a:pt x="9524683" y="8922331"/>
                  </a:lnTo>
                  <a:lnTo>
                    <a:pt x="0" y="8922331"/>
                  </a:lnTo>
                  <a:close/>
                </a:path>
              </a:pathLst>
            </a:custGeom>
            <a:solidFill>
              <a:srgbClr val="000000">
                <a:alpha val="0"/>
              </a:srgbClr>
            </a:solidFill>
          </p:spPr>
        </p:sp>
        <p:sp>
          <p:nvSpPr>
            <p:cNvPr name="TextBox 4" id="4"/>
            <p:cNvSpPr txBox="true"/>
            <p:nvPr/>
          </p:nvSpPr>
          <p:spPr>
            <a:xfrm>
              <a:off x="0" y="38100"/>
              <a:ext cx="9524683" cy="8884226"/>
            </a:xfrm>
            <a:prstGeom prst="rect">
              <a:avLst/>
            </a:prstGeom>
          </p:spPr>
          <p:txBody>
            <a:bodyPr anchor="ctr" rtlCol="false" tIns="0" lIns="0" bIns="0" rIns="0"/>
            <a:lstStyle/>
            <a:p>
              <a:pPr algn="l">
                <a:lnSpc>
                  <a:spcPts val="7128"/>
                </a:lnSpc>
              </a:pPr>
              <a:r>
                <a:rPr lang="en-US" sz="6600">
                  <a:solidFill>
                    <a:srgbClr val="000000"/>
                  </a:solidFill>
                  <a:latin typeface="Arimo"/>
                  <a:ea typeface="Arimo"/>
                  <a:cs typeface="Arimo"/>
                  <a:sym typeface="Arimo"/>
                </a:rPr>
                <a:t>애니메이션 </a:t>
              </a:r>
            </a:p>
            <a:p>
              <a:pPr algn="l">
                <a:lnSpc>
                  <a:spcPts val="7128"/>
                </a:lnSpc>
              </a:pPr>
              <a:r>
                <a:rPr lang="en-US" sz="6600">
                  <a:solidFill>
                    <a:srgbClr val="000000"/>
                  </a:solidFill>
                  <a:latin typeface="Arimo"/>
                  <a:ea typeface="Arimo"/>
                  <a:cs typeface="Arimo"/>
                  <a:sym typeface="Arimo"/>
                </a:rPr>
                <a:t>   리스트 </a:t>
              </a:r>
            </a:p>
          </p:txBody>
        </p:sp>
      </p:grpSp>
      <p:grpSp>
        <p:nvGrpSpPr>
          <p:cNvPr name="Group 5" id="5"/>
          <p:cNvGrpSpPr/>
          <p:nvPr/>
        </p:nvGrpSpPr>
        <p:grpSpPr>
          <a:xfrm rot="0">
            <a:off x="4944889" y="0"/>
            <a:ext cx="13343111" cy="11335936"/>
            <a:chOff x="0" y="0"/>
            <a:chExt cx="63411414" cy="53872574"/>
          </a:xfrm>
        </p:grpSpPr>
        <p:sp>
          <p:nvSpPr>
            <p:cNvPr name="Freeform 6" id="6"/>
            <p:cNvSpPr/>
            <p:nvPr/>
          </p:nvSpPr>
          <p:spPr>
            <a:xfrm flipH="false" flipV="false" rot="0">
              <a:off x="0" y="0"/>
              <a:ext cx="63411416" cy="53872575"/>
            </a:xfrm>
            <a:custGeom>
              <a:avLst/>
              <a:gdLst/>
              <a:ahLst/>
              <a:cxnLst/>
              <a:rect r="r" b="b" t="t" l="l"/>
              <a:pathLst>
                <a:path h="53872575" w="63411416">
                  <a:moveTo>
                    <a:pt x="0" y="0"/>
                  </a:moveTo>
                  <a:lnTo>
                    <a:pt x="63411416" y="0"/>
                  </a:lnTo>
                  <a:lnTo>
                    <a:pt x="63411416" y="53872575"/>
                  </a:lnTo>
                  <a:lnTo>
                    <a:pt x="0" y="53872575"/>
                  </a:lnTo>
                  <a:close/>
                </a:path>
              </a:pathLst>
            </a:custGeom>
            <a:blipFill>
              <a:blip r:embed="rId2">
                <a:alphaModFix amt="0"/>
              </a:blip>
              <a:stretch>
                <a:fillRect l="-11711" t="0" r="66505" b="79263"/>
              </a:stretch>
            </a:blipFill>
          </p:spPr>
        </p:sp>
        <p:sp>
          <p:nvSpPr>
            <p:cNvPr name="TextBox 7" id="7"/>
            <p:cNvSpPr txBox="true"/>
            <p:nvPr/>
          </p:nvSpPr>
          <p:spPr>
            <a:xfrm>
              <a:off x="0" y="19050"/>
              <a:ext cx="63411414" cy="53853524"/>
            </a:xfrm>
            <a:prstGeom prst="rect">
              <a:avLst/>
            </a:prstGeom>
          </p:spPr>
          <p:txBody>
            <a:bodyPr anchor="ctr" rtlCol="false" tIns="0" lIns="0" bIns="0" rIns="0"/>
            <a:lstStyle/>
            <a:p>
              <a:pPr algn="l">
                <a:lnSpc>
                  <a:spcPts val="2160"/>
                </a:lnSpc>
              </a:pPr>
            </a:p>
            <a:p>
              <a:pPr algn="l">
                <a:lnSpc>
                  <a:spcPts val="2160"/>
                </a:lnSpc>
              </a:pPr>
              <a:r>
                <a:rPr lang="en-US" sz="2000">
                  <a:solidFill>
                    <a:srgbClr val="000000"/>
                  </a:solidFill>
                  <a:latin typeface="Arimo"/>
                  <a:ea typeface="Arimo"/>
                  <a:cs typeface="Arimo"/>
                  <a:sym typeface="Arimo"/>
                </a:rPr>
                <a:t>전투 대기: 뒷짐 지고 서있음</a:t>
              </a:r>
            </a:p>
            <a:p>
              <a:pPr algn="l">
                <a:lnSpc>
                  <a:spcPts val="2160"/>
                </a:lnSpc>
              </a:pPr>
            </a:p>
            <a:p>
              <a:pPr algn="l">
                <a:lnSpc>
                  <a:spcPts val="2160"/>
                </a:lnSpc>
              </a:pPr>
              <a:r>
                <a:rPr lang="en-US" sz="2000">
                  <a:solidFill>
                    <a:srgbClr val="000000"/>
                  </a:solidFill>
                  <a:latin typeface="Arimo"/>
                  <a:ea typeface="Arimo"/>
                  <a:cs typeface="Arimo"/>
                  <a:sym typeface="Arimo"/>
                </a:rPr>
                <a:t>전투 이동</a:t>
              </a:r>
            </a:p>
            <a:p>
              <a:pPr algn="l">
                <a:lnSpc>
                  <a:spcPts val="2160"/>
                </a:lnSpc>
              </a:pPr>
            </a:p>
            <a:p>
              <a:pPr algn="l">
                <a:lnSpc>
                  <a:spcPts val="2160"/>
                </a:lnSpc>
              </a:pPr>
              <a:r>
                <a:rPr lang="en-US" sz="2000">
                  <a:solidFill>
                    <a:srgbClr val="000000"/>
                  </a:solidFill>
                  <a:latin typeface="Arimo"/>
                  <a:ea typeface="Arimo"/>
                  <a:cs typeface="Arimo"/>
                  <a:sym typeface="Arimo"/>
                </a:rPr>
                <a:t>텔레포트: 푸른색 파티클을 주변에 생성후 도착 지점에 푸른색 파티클 생성, 그후 도착 지점으로 이동</a:t>
              </a:r>
            </a:p>
            <a:p>
              <a:pPr algn="l">
                <a:lnSpc>
                  <a:spcPts val="2160"/>
                </a:lnSpc>
              </a:pPr>
            </a:p>
            <a:p>
              <a:pPr algn="l">
                <a:lnSpc>
                  <a:spcPts val="2160"/>
                </a:lnSpc>
              </a:pPr>
              <a:r>
                <a:rPr lang="en-US" sz="2000">
                  <a:solidFill>
                    <a:srgbClr val="000000"/>
                  </a:solidFill>
                  <a:latin typeface="Arimo"/>
                  <a:ea typeface="Arimo"/>
                  <a:cs typeface="Arimo"/>
                  <a:sym typeface="Arimo"/>
                </a:rPr>
                <a:t>기본 공격</a:t>
              </a:r>
            </a:p>
            <a:p>
              <a:pPr algn="l">
                <a:lnSpc>
                  <a:spcPts val="2160"/>
                </a:lnSpc>
              </a:pPr>
              <a:r>
                <a:rPr lang="en-US" sz="2000">
                  <a:solidFill>
                    <a:srgbClr val="000000"/>
                  </a:solidFill>
                  <a:latin typeface="Arimo"/>
                  <a:ea typeface="Arimo"/>
                  <a:cs typeface="Arimo"/>
                  <a:sym typeface="Arimo"/>
                </a:rPr>
                <a:t>손에서 마법 구체를 발사함</a:t>
              </a:r>
            </a:p>
            <a:p>
              <a:pPr algn="l">
                <a:lnSpc>
                  <a:spcPts val="2160"/>
                </a:lnSpc>
              </a:pPr>
            </a:p>
            <a:p>
              <a:pPr algn="l">
                <a:lnSpc>
                  <a:spcPts val="2160"/>
                </a:lnSpc>
              </a:pPr>
              <a:r>
                <a:rPr lang="en-US" sz="2000">
                  <a:solidFill>
                    <a:srgbClr val="000000"/>
                  </a:solidFill>
                  <a:latin typeface="Arimo"/>
                  <a:ea typeface="Arimo"/>
                  <a:cs typeface="Arimo"/>
                  <a:sym typeface="Arimo"/>
                </a:rPr>
                <a:t>데미지 기본 동작</a:t>
              </a:r>
            </a:p>
            <a:p>
              <a:pPr algn="l">
                <a:lnSpc>
                  <a:spcPts val="2160"/>
                </a:lnSpc>
              </a:pPr>
              <a:r>
                <a:rPr lang="en-US" sz="2000">
                  <a:solidFill>
                    <a:srgbClr val="000000"/>
                  </a:solidFill>
                  <a:latin typeface="Arimo"/>
                  <a:ea typeface="Arimo"/>
                  <a:cs typeface="Arimo"/>
                  <a:sym typeface="Arimo"/>
                </a:rPr>
                <a:t>피격: 기계 부스러기가 떨어짐</a:t>
              </a:r>
            </a:p>
            <a:p>
              <a:pPr algn="l">
                <a:lnSpc>
                  <a:spcPts val="2160"/>
                </a:lnSpc>
              </a:pPr>
            </a:p>
            <a:p>
              <a:pPr algn="l">
                <a:lnSpc>
                  <a:spcPts val="2160"/>
                </a:lnSpc>
              </a:pPr>
              <a:r>
                <a:rPr lang="en-US" sz="2000">
                  <a:solidFill>
                    <a:srgbClr val="000000"/>
                  </a:solidFill>
                  <a:latin typeface="Arimo"/>
                  <a:ea typeface="Arimo"/>
                  <a:cs typeface="Arimo"/>
                  <a:sym typeface="Arimo"/>
                </a:rPr>
                <a:t>데미지 추가 동작</a:t>
              </a:r>
            </a:p>
            <a:p>
              <a:pPr algn="l">
                <a:lnSpc>
                  <a:spcPts val="2160"/>
                </a:lnSpc>
              </a:pPr>
              <a:r>
                <a:rPr lang="en-US" sz="2000">
                  <a:solidFill>
                    <a:srgbClr val="000000"/>
                  </a:solidFill>
                  <a:latin typeface="Arimo"/>
                  <a:ea typeface="Arimo"/>
                  <a:cs typeface="Arimo"/>
                  <a:sym typeface="Arimo"/>
                </a:rPr>
                <a:t>죽음: 주인공 손에 잡힌 후 바스러짐</a:t>
              </a:r>
            </a:p>
            <a:p>
              <a:pPr algn="l">
                <a:lnSpc>
                  <a:spcPts val="2160"/>
                </a:lnSpc>
              </a:pPr>
              <a:r>
                <a:rPr lang="en-US" sz="2000">
                  <a:solidFill>
                    <a:srgbClr val="000000"/>
                  </a:solidFill>
                  <a:latin typeface="Arimo"/>
                  <a:ea typeface="Arimo"/>
                  <a:cs typeface="Arimo"/>
                  <a:sym typeface="Arimo"/>
                </a:rPr>
                <a:t>스턴: 번개 모양 파티클 생성</a:t>
              </a:r>
            </a:p>
            <a:p>
              <a:pPr algn="l">
                <a:lnSpc>
                  <a:spcPts val="2160"/>
                </a:lnSpc>
              </a:pPr>
            </a:p>
            <a:p>
              <a:pPr algn="l">
                <a:lnSpc>
                  <a:spcPts val="2160"/>
                </a:lnSpc>
              </a:pPr>
              <a:r>
                <a:rPr lang="en-US" sz="2000">
                  <a:solidFill>
                    <a:srgbClr val="000000"/>
                  </a:solidFill>
                  <a:latin typeface="Arimo"/>
                  <a:ea typeface="Arimo"/>
                  <a:cs typeface="Arimo"/>
                  <a:sym typeface="Arimo"/>
                </a:rPr>
                <a:t>스킬 동작</a:t>
              </a:r>
            </a:p>
            <a:p>
              <a:pPr algn="l">
                <a:lnSpc>
                  <a:spcPts val="2160"/>
                </a:lnSpc>
              </a:pPr>
            </a:p>
            <a:p>
              <a:pPr algn="l">
                <a:lnSpc>
                  <a:spcPts val="2160"/>
                </a:lnSpc>
              </a:pPr>
              <a:r>
                <a:rPr lang="en-US" sz="2000">
                  <a:solidFill>
                    <a:srgbClr val="000000"/>
                  </a:solidFill>
                  <a:latin typeface="Arimo"/>
                  <a:ea typeface="Arimo"/>
                  <a:cs typeface="Arimo"/>
                  <a:sym typeface="Arimo"/>
                </a:rPr>
                <a:t>시간 정지: 땅에 손을 짚은 후 3개의 구조물 소환, 구조물 파괴 실패시 맵이 회색으로 변함, 구조물 파괴 성공시 스턴 모션</a:t>
              </a:r>
            </a:p>
            <a:p>
              <a:pPr algn="l">
                <a:lnSpc>
                  <a:spcPts val="2160"/>
                </a:lnSpc>
              </a:pPr>
            </a:p>
            <a:p>
              <a:pPr algn="l">
                <a:lnSpc>
                  <a:spcPts val="2160"/>
                </a:lnSpc>
              </a:pPr>
              <a:r>
                <a:rPr lang="en-US" sz="2000">
                  <a:solidFill>
                    <a:srgbClr val="000000"/>
                  </a:solidFill>
                  <a:latin typeface="Arimo"/>
                  <a:ea typeface="Arimo"/>
                  <a:cs typeface="Arimo"/>
                  <a:sym typeface="Arimo"/>
                </a:rPr>
                <a:t>부하 소환: 품에서 구체를 손에 든 후 던짐, 던져진 구체는 2초후 부하로 변화</a:t>
              </a:r>
            </a:p>
            <a:p>
              <a:pPr algn="l">
                <a:lnSpc>
                  <a:spcPts val="2160"/>
                </a:lnSpc>
              </a:pPr>
            </a:p>
            <a:p>
              <a:pPr algn="l">
                <a:lnSpc>
                  <a:spcPts val="2160"/>
                </a:lnSpc>
              </a:pPr>
              <a:r>
                <a:rPr lang="en-US" sz="2000">
                  <a:solidFill>
                    <a:srgbClr val="000000"/>
                  </a:solidFill>
                  <a:latin typeface="Arimo"/>
                  <a:ea typeface="Arimo"/>
                  <a:cs typeface="Arimo"/>
                  <a:sym typeface="Arimo"/>
                </a:rPr>
                <a:t>시간 되감기(HP 회복): 오른손을 자기 몸에 가져다댐, 몸 주위 초록색 파티클 생성</a:t>
              </a:r>
            </a:p>
            <a:p>
              <a:pPr algn="l">
                <a:lnSpc>
                  <a:spcPts val="2160"/>
                </a:lnSpc>
              </a:pPr>
              <a:r>
                <a:rPr lang="en-US" sz="2000">
                  <a:solidFill>
                    <a:srgbClr val="000000"/>
                  </a:solidFill>
                  <a:latin typeface="Arimo"/>
                  <a:ea typeface="Arimo"/>
                  <a:cs typeface="Arimo"/>
                  <a:sym typeface="Arimo"/>
                </a:rPr>
                <a:t>발동 중 피격시 떨어졌던 기계 부스러기가 몸으로 돌아오고 , 발동 중지시 초록색 파티클 제거 후 뒤로 조금 밀려남</a:t>
              </a:r>
            </a:p>
            <a:p>
              <a:pPr algn="l">
                <a:lnSpc>
                  <a:spcPts val="2160"/>
                </a:lnSpc>
              </a:pPr>
            </a:p>
            <a:p>
              <a:pPr algn="l">
                <a:lnSpc>
                  <a:spcPts val="2160"/>
                </a:lnSpc>
              </a:pPr>
              <a:r>
                <a:rPr lang="en-US" sz="2000">
                  <a:solidFill>
                    <a:srgbClr val="000000"/>
                  </a:solidFill>
                  <a:latin typeface="Arimo"/>
                  <a:ea typeface="Arimo"/>
                  <a:cs typeface="Arimo"/>
                  <a:sym typeface="Arimo"/>
                </a:rPr>
                <a:t>비상 탈출: 몸에서 머리만 분리후 도주 그후 몸통은 부하가 가지고감</a:t>
              </a:r>
            </a:p>
            <a:p>
              <a:pPr algn="l">
                <a:lnSpc>
                  <a:spcPts val="2160"/>
                </a:lnSpc>
              </a:pPr>
            </a:p>
            <a:p>
              <a:pPr algn="l">
                <a:lnSpc>
                  <a:spcPts val="2160"/>
                </a:lnSpc>
              </a:pPr>
              <a:r>
                <a:rPr lang="en-US" sz="2000">
                  <a:solidFill>
                    <a:srgbClr val="000000"/>
                  </a:solidFill>
                  <a:latin typeface="Arimo"/>
                  <a:ea typeface="Arimo"/>
                  <a:cs typeface="Arimo"/>
                  <a:sym typeface="Arimo"/>
                </a:rPr>
                <a:t>회피 텔레포트: (매우 빠른 속도) 현재 위치와 뒤 쪽에 포탈 생성 후 이동</a:t>
              </a:r>
            </a:p>
            <a:p>
              <a:pPr algn="l">
                <a:lnSpc>
                  <a:spcPts val="2160"/>
                </a:lnSpc>
              </a:pPr>
            </a:p>
            <a:p>
              <a:pPr algn="l">
                <a:lnSpc>
                  <a:spcPts val="2160"/>
                </a:lnSpc>
              </a:pPr>
              <a:r>
                <a:rPr lang="en-US" sz="2000">
                  <a:solidFill>
                    <a:srgbClr val="000000"/>
                  </a:solidFill>
                  <a:latin typeface="Arimo"/>
                  <a:ea typeface="Arimo"/>
                  <a:cs typeface="Arimo"/>
                  <a:sym typeface="Arimo"/>
                </a:rPr>
                <a:t>연출 동작</a:t>
              </a:r>
            </a:p>
            <a:p>
              <a:pPr algn="l">
                <a:lnSpc>
                  <a:spcPts val="2160"/>
                </a:lnSpc>
              </a:pPr>
            </a:p>
            <a:p>
              <a:pPr algn="l">
                <a:lnSpc>
                  <a:spcPts val="2160"/>
                </a:lnSpc>
              </a:pPr>
              <a:r>
                <a:rPr lang="en-US" sz="2000">
                  <a:solidFill>
                    <a:srgbClr val="000000"/>
                  </a:solidFill>
                  <a:latin typeface="Arimo"/>
                  <a:ea typeface="Arimo"/>
                  <a:cs typeface="Arimo"/>
                  <a:sym typeface="Arimo"/>
                </a:rPr>
                <a:t>시간 가속: 컷신</a:t>
              </a:r>
            </a:p>
            <a:p>
              <a:pPr algn="l">
                <a:lnSpc>
                  <a:spcPts val="2160"/>
                </a:lnSpc>
              </a:pPr>
            </a:p>
            <a:p>
              <a:pPr algn="l">
                <a:lnSpc>
                  <a:spcPts val="2160"/>
                </a:lnSpc>
              </a:pPr>
              <a:r>
                <a:rPr lang="en-US" sz="2000">
                  <a:solidFill>
                    <a:srgbClr val="000000"/>
                  </a:solidFill>
                  <a:latin typeface="Arimo"/>
                  <a:ea typeface="Arimo"/>
                  <a:cs typeface="Arimo"/>
                  <a:sym typeface="Arimo"/>
                </a:rPr>
                <a:t>시간 가속2: 컷신</a:t>
              </a:r>
            </a:p>
            <a:p>
              <a:pPr algn="l">
                <a:lnSpc>
                  <a:spcPts val="2160"/>
                </a:lnSpc>
              </a:pPr>
            </a:p>
            <a:p>
              <a:pPr algn="l">
                <a:lnSpc>
                  <a:spcPts val="2160"/>
                </a:lnSpc>
              </a:pPr>
              <a:r>
                <a:rPr lang="en-US" sz="2000">
                  <a:solidFill>
                    <a:srgbClr val="000000"/>
                  </a:solidFill>
                  <a:latin typeface="Arimo"/>
                  <a:ea typeface="Arimo"/>
                  <a:cs typeface="Arimo"/>
                  <a:sym typeface="Arimo"/>
                </a:rPr>
                <a:t>부활: 몸통을 부하가 가지고 온 후 합체함</a:t>
              </a:r>
            </a:p>
            <a:p>
              <a:pPr algn="l">
                <a:lnSpc>
                  <a:spcPts val="2160"/>
                </a:lnSpc>
              </a:pPr>
            </a:p>
            <a:p>
              <a:pPr algn="l">
                <a:lnSpc>
                  <a:spcPts val="2160"/>
                </a:lnSpc>
              </a:pPr>
            </a:p>
            <a:p>
              <a:pPr algn="l">
                <a:lnSpc>
                  <a:spcPts val="2160"/>
                </a:lnSpc>
              </a:pPr>
            </a:p>
            <a:p>
              <a:pPr algn="l">
                <a:lnSpc>
                  <a:spcPts val="2160"/>
                </a:lnSpc>
              </a:pPr>
            </a:p>
            <a:p>
              <a:pPr algn="l">
                <a:lnSpc>
                  <a:spcPts val="2160"/>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7058" y="1194349"/>
            <a:ext cx="7856515" cy="8676875"/>
            <a:chOff x="0" y="0"/>
            <a:chExt cx="10475354" cy="11569167"/>
          </a:xfrm>
        </p:grpSpPr>
        <p:sp>
          <p:nvSpPr>
            <p:cNvPr name="Freeform 3" id="3"/>
            <p:cNvSpPr/>
            <p:nvPr/>
          </p:nvSpPr>
          <p:spPr>
            <a:xfrm flipH="false" flipV="false" rot="0">
              <a:off x="0" y="0"/>
              <a:ext cx="10475341" cy="11569192"/>
            </a:xfrm>
            <a:custGeom>
              <a:avLst/>
              <a:gdLst/>
              <a:ahLst/>
              <a:cxnLst/>
              <a:rect r="r" b="b" t="t" l="l"/>
              <a:pathLst>
                <a:path h="11569192" w="10475341">
                  <a:moveTo>
                    <a:pt x="0" y="0"/>
                  </a:moveTo>
                  <a:lnTo>
                    <a:pt x="10475341" y="0"/>
                  </a:lnTo>
                  <a:lnTo>
                    <a:pt x="10475341" y="11569192"/>
                  </a:lnTo>
                  <a:lnTo>
                    <a:pt x="0" y="11569192"/>
                  </a:lnTo>
                  <a:lnTo>
                    <a:pt x="0" y="0"/>
                  </a:lnTo>
                  <a:close/>
                </a:path>
              </a:pathLst>
            </a:custGeom>
            <a:blipFill>
              <a:blip r:embed="rId2"/>
              <a:stretch>
                <a:fillRect l="0" t="-14" r="0" b="-14"/>
              </a:stretch>
            </a:blipFill>
          </p:spPr>
        </p:sp>
      </p:grpSp>
      <p:grpSp>
        <p:nvGrpSpPr>
          <p:cNvPr name="Group 4" id="4"/>
          <p:cNvGrpSpPr/>
          <p:nvPr/>
        </p:nvGrpSpPr>
        <p:grpSpPr>
          <a:xfrm rot="-10800000">
            <a:off x="4705560" y="6954145"/>
            <a:ext cx="471449" cy="1657007"/>
            <a:chOff x="0" y="0"/>
            <a:chExt cx="628599" cy="2209343"/>
          </a:xfrm>
        </p:grpSpPr>
        <p:sp>
          <p:nvSpPr>
            <p:cNvPr name="Freeform 5" id="5"/>
            <p:cNvSpPr/>
            <p:nvPr/>
          </p:nvSpPr>
          <p:spPr>
            <a:xfrm flipH="false" flipV="false" rot="0">
              <a:off x="0" y="0"/>
              <a:ext cx="628650" cy="2209292"/>
            </a:xfrm>
            <a:custGeom>
              <a:avLst/>
              <a:gdLst/>
              <a:ahLst/>
              <a:cxnLst/>
              <a:rect r="r" b="b" t="t" l="l"/>
              <a:pathLst>
                <a:path h="2209292" w="628650">
                  <a:moveTo>
                    <a:pt x="0" y="0"/>
                  </a:moveTo>
                  <a:lnTo>
                    <a:pt x="628650" y="0"/>
                  </a:lnTo>
                  <a:lnTo>
                    <a:pt x="628650" y="2209292"/>
                  </a:lnTo>
                  <a:lnTo>
                    <a:pt x="0" y="2209292"/>
                  </a:lnTo>
                  <a:close/>
                </a:path>
              </a:pathLst>
            </a:custGeom>
            <a:solidFill>
              <a:srgbClr val="AFABAB">
                <a:alpha val="56078"/>
              </a:srgbClr>
            </a:solidFill>
            <a:ln w="23812" cap="sq">
              <a:solidFill>
                <a:srgbClr val="767171"/>
              </a:solidFill>
              <a:prstDash val="solid"/>
              <a:miter/>
            </a:ln>
          </p:spPr>
        </p:sp>
      </p:grpSp>
      <p:grpSp>
        <p:nvGrpSpPr>
          <p:cNvPr name="Group 6" id="6"/>
          <p:cNvGrpSpPr/>
          <p:nvPr/>
        </p:nvGrpSpPr>
        <p:grpSpPr>
          <a:xfrm rot="-2760000">
            <a:off x="3470481" y="4281449"/>
            <a:ext cx="521875" cy="2217010"/>
            <a:chOff x="0" y="0"/>
            <a:chExt cx="695833" cy="2956014"/>
          </a:xfrm>
        </p:grpSpPr>
        <p:sp>
          <p:nvSpPr>
            <p:cNvPr name="Freeform 7" id="7"/>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23812" cap="sq">
              <a:solidFill>
                <a:srgbClr val="767171"/>
              </a:solidFill>
              <a:prstDash val="solid"/>
              <a:miter/>
            </a:ln>
          </p:spPr>
        </p:sp>
      </p:grpSp>
      <p:grpSp>
        <p:nvGrpSpPr>
          <p:cNvPr name="Group 8" id="8"/>
          <p:cNvGrpSpPr/>
          <p:nvPr/>
        </p:nvGrpSpPr>
        <p:grpSpPr>
          <a:xfrm rot="5400000">
            <a:off x="4717247" y="6224292"/>
            <a:ext cx="488261" cy="3612137"/>
            <a:chOff x="0" y="0"/>
            <a:chExt cx="651015" cy="4816183"/>
          </a:xfrm>
        </p:grpSpPr>
        <p:sp>
          <p:nvSpPr>
            <p:cNvPr name="Freeform 9" id="9"/>
            <p:cNvSpPr/>
            <p:nvPr/>
          </p:nvSpPr>
          <p:spPr>
            <a:xfrm flipH="false" flipV="false" rot="0">
              <a:off x="0" y="0"/>
              <a:ext cx="651002" cy="4816221"/>
            </a:xfrm>
            <a:custGeom>
              <a:avLst/>
              <a:gdLst/>
              <a:ahLst/>
              <a:cxnLst/>
              <a:rect r="r" b="b" t="t" l="l"/>
              <a:pathLst>
                <a:path h="4816221" w="651002">
                  <a:moveTo>
                    <a:pt x="0" y="0"/>
                  </a:moveTo>
                  <a:lnTo>
                    <a:pt x="651002" y="0"/>
                  </a:lnTo>
                  <a:lnTo>
                    <a:pt x="651002" y="4816221"/>
                  </a:lnTo>
                  <a:lnTo>
                    <a:pt x="0" y="4816221"/>
                  </a:lnTo>
                  <a:close/>
                </a:path>
              </a:pathLst>
            </a:custGeom>
            <a:solidFill>
              <a:srgbClr val="AFABAB">
                <a:alpha val="56078"/>
              </a:srgbClr>
            </a:solidFill>
            <a:ln w="23812" cap="sq">
              <a:solidFill>
                <a:srgbClr val="767171"/>
              </a:solidFill>
              <a:prstDash val="solid"/>
              <a:miter/>
            </a:ln>
          </p:spPr>
        </p:sp>
      </p:grpSp>
      <p:grpSp>
        <p:nvGrpSpPr>
          <p:cNvPr name="Group 10" id="10"/>
          <p:cNvGrpSpPr/>
          <p:nvPr/>
        </p:nvGrpSpPr>
        <p:grpSpPr>
          <a:xfrm rot="2820000">
            <a:off x="3470481" y="1945024"/>
            <a:ext cx="521875" cy="2217010"/>
            <a:chOff x="0" y="0"/>
            <a:chExt cx="695833" cy="2956014"/>
          </a:xfrm>
        </p:grpSpPr>
        <p:sp>
          <p:nvSpPr>
            <p:cNvPr name="Freeform 11" id="11"/>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23812" cap="sq">
              <a:solidFill>
                <a:srgbClr val="767171"/>
              </a:solidFill>
              <a:prstDash val="solid"/>
              <a:miter/>
            </a:ln>
          </p:spPr>
        </p:sp>
      </p:grpSp>
      <p:grpSp>
        <p:nvGrpSpPr>
          <p:cNvPr name="Group 12" id="12"/>
          <p:cNvGrpSpPr/>
          <p:nvPr/>
        </p:nvGrpSpPr>
        <p:grpSpPr>
          <a:xfrm rot="-2520000">
            <a:off x="5790095" y="2045875"/>
            <a:ext cx="521875" cy="2217010"/>
            <a:chOff x="0" y="0"/>
            <a:chExt cx="695833" cy="2956014"/>
          </a:xfrm>
        </p:grpSpPr>
        <p:sp>
          <p:nvSpPr>
            <p:cNvPr name="Freeform 13" id="13"/>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23812" cap="sq">
              <a:solidFill>
                <a:srgbClr val="767171"/>
              </a:solidFill>
              <a:prstDash val="solid"/>
              <a:miter/>
            </a:ln>
          </p:spPr>
        </p:sp>
      </p:grpSp>
      <p:grpSp>
        <p:nvGrpSpPr>
          <p:cNvPr name="Group 14" id="14"/>
          <p:cNvGrpSpPr/>
          <p:nvPr/>
        </p:nvGrpSpPr>
        <p:grpSpPr>
          <a:xfrm rot="0">
            <a:off x="191938" y="6915"/>
            <a:ext cx="12963696" cy="1397489"/>
            <a:chOff x="0" y="0"/>
            <a:chExt cx="17284929" cy="1863319"/>
          </a:xfrm>
        </p:grpSpPr>
        <p:sp>
          <p:nvSpPr>
            <p:cNvPr name="Freeform 15" id="15"/>
            <p:cNvSpPr/>
            <p:nvPr/>
          </p:nvSpPr>
          <p:spPr>
            <a:xfrm flipH="false" flipV="false" rot="0">
              <a:off x="0" y="0"/>
              <a:ext cx="17284933" cy="1863320"/>
            </a:xfrm>
            <a:custGeom>
              <a:avLst/>
              <a:gdLst/>
              <a:ahLst/>
              <a:cxnLst/>
              <a:rect r="r" b="b" t="t" l="l"/>
              <a:pathLst>
                <a:path h="1863320" w="17284933">
                  <a:moveTo>
                    <a:pt x="0" y="0"/>
                  </a:moveTo>
                  <a:lnTo>
                    <a:pt x="17284933" y="0"/>
                  </a:lnTo>
                  <a:lnTo>
                    <a:pt x="17284933" y="1863320"/>
                  </a:lnTo>
                  <a:lnTo>
                    <a:pt x="0" y="1863320"/>
                  </a:lnTo>
                  <a:close/>
                </a:path>
              </a:pathLst>
            </a:custGeom>
            <a:blipFill>
              <a:blip r:embed="rId3">
                <a:alphaModFix amt="0"/>
              </a:blip>
              <a:stretch>
                <a:fillRect l="0" t="-130751" r="0" b="-130751"/>
              </a:stretch>
            </a:blipFill>
          </p:spPr>
        </p:sp>
        <p:sp>
          <p:nvSpPr>
            <p:cNvPr name="TextBox 16" id="16"/>
            <p:cNvSpPr txBox="true"/>
            <p:nvPr/>
          </p:nvSpPr>
          <p:spPr>
            <a:xfrm>
              <a:off x="0" y="38100"/>
              <a:ext cx="17284929" cy="1825219"/>
            </a:xfrm>
            <a:prstGeom prst="rect">
              <a:avLst/>
            </a:prstGeom>
          </p:spPr>
          <p:txBody>
            <a:bodyPr anchor="ctr" rtlCol="false" tIns="0" lIns="0" bIns="0" rIns="0"/>
            <a:lstStyle/>
            <a:p>
              <a:pPr algn="l">
                <a:lnSpc>
                  <a:spcPts val="7128"/>
                </a:lnSpc>
              </a:pPr>
              <a:r>
                <a:rPr lang="en-US" sz="6600">
                  <a:solidFill>
                    <a:srgbClr val="000000"/>
                  </a:solidFill>
                  <a:latin typeface="Arimo"/>
                  <a:ea typeface="Arimo"/>
                  <a:cs typeface="Arimo"/>
                  <a:sym typeface="Arimo"/>
                </a:rPr>
                <a:t>맵 컨셉 1 (시간 관리국)</a:t>
              </a:r>
            </a:p>
          </p:txBody>
        </p:sp>
      </p:grpSp>
      <p:grpSp>
        <p:nvGrpSpPr>
          <p:cNvPr name="Group 17" id="17"/>
          <p:cNvGrpSpPr/>
          <p:nvPr/>
        </p:nvGrpSpPr>
        <p:grpSpPr>
          <a:xfrm rot="0">
            <a:off x="4690520" y="2492731"/>
            <a:ext cx="471449" cy="1326137"/>
            <a:chOff x="0" y="0"/>
            <a:chExt cx="628599" cy="1768183"/>
          </a:xfrm>
        </p:grpSpPr>
        <p:sp>
          <p:nvSpPr>
            <p:cNvPr name="Freeform 18" id="18"/>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23812" cap="sq">
              <a:solidFill>
                <a:srgbClr val="767171"/>
              </a:solidFill>
              <a:prstDash val="solid"/>
              <a:miter/>
            </a:ln>
          </p:spPr>
        </p:sp>
      </p:grpSp>
      <p:grpSp>
        <p:nvGrpSpPr>
          <p:cNvPr name="Group 19" id="19"/>
          <p:cNvGrpSpPr/>
          <p:nvPr/>
        </p:nvGrpSpPr>
        <p:grpSpPr>
          <a:xfrm rot="0">
            <a:off x="4262161" y="1392050"/>
            <a:ext cx="1328176" cy="1314726"/>
            <a:chOff x="0" y="0"/>
            <a:chExt cx="1770901" cy="1752968"/>
          </a:xfrm>
        </p:grpSpPr>
        <p:sp>
          <p:nvSpPr>
            <p:cNvPr name="Freeform 20" id="20"/>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21" id="21"/>
          <p:cNvGrpSpPr/>
          <p:nvPr/>
        </p:nvGrpSpPr>
        <p:grpSpPr>
          <a:xfrm rot="5400000">
            <a:off x="5798791" y="3610518"/>
            <a:ext cx="471449" cy="1326137"/>
            <a:chOff x="0" y="0"/>
            <a:chExt cx="628599" cy="1768183"/>
          </a:xfrm>
        </p:grpSpPr>
        <p:sp>
          <p:nvSpPr>
            <p:cNvPr name="Freeform 22" id="22"/>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23812" cap="sq">
              <a:solidFill>
                <a:srgbClr val="767171"/>
              </a:solidFill>
              <a:prstDash val="solid"/>
              <a:miter/>
            </a:ln>
          </p:spPr>
        </p:sp>
      </p:grpSp>
      <p:grpSp>
        <p:nvGrpSpPr>
          <p:cNvPr name="Group 23" id="23"/>
          <p:cNvGrpSpPr/>
          <p:nvPr/>
        </p:nvGrpSpPr>
        <p:grpSpPr>
          <a:xfrm rot="-10800000">
            <a:off x="4690520" y="4728305"/>
            <a:ext cx="471449" cy="1326137"/>
            <a:chOff x="0" y="0"/>
            <a:chExt cx="628599" cy="1768183"/>
          </a:xfrm>
        </p:grpSpPr>
        <p:sp>
          <p:nvSpPr>
            <p:cNvPr name="Freeform 24" id="24"/>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23812" cap="sq">
              <a:solidFill>
                <a:srgbClr val="767171"/>
              </a:solidFill>
              <a:prstDash val="solid"/>
              <a:miter/>
            </a:ln>
          </p:spPr>
        </p:sp>
      </p:grpSp>
      <p:grpSp>
        <p:nvGrpSpPr>
          <p:cNvPr name="Group 25" id="25"/>
          <p:cNvGrpSpPr/>
          <p:nvPr/>
        </p:nvGrpSpPr>
        <p:grpSpPr>
          <a:xfrm rot="5400000">
            <a:off x="3515420" y="3610518"/>
            <a:ext cx="471449" cy="1326137"/>
            <a:chOff x="0" y="0"/>
            <a:chExt cx="628599" cy="1768183"/>
          </a:xfrm>
        </p:grpSpPr>
        <p:sp>
          <p:nvSpPr>
            <p:cNvPr name="Freeform 26" id="26"/>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23812" cap="sq">
              <a:solidFill>
                <a:srgbClr val="767171"/>
              </a:solidFill>
              <a:prstDash val="solid"/>
              <a:miter/>
            </a:ln>
          </p:spPr>
        </p:sp>
      </p:grpSp>
      <p:grpSp>
        <p:nvGrpSpPr>
          <p:cNvPr name="Group 27" id="27"/>
          <p:cNvGrpSpPr/>
          <p:nvPr/>
        </p:nvGrpSpPr>
        <p:grpSpPr>
          <a:xfrm rot="0">
            <a:off x="4262161" y="3616223"/>
            <a:ext cx="1328176" cy="1314726"/>
            <a:chOff x="0" y="0"/>
            <a:chExt cx="1770901" cy="1752968"/>
          </a:xfrm>
        </p:grpSpPr>
        <p:sp>
          <p:nvSpPr>
            <p:cNvPr name="Freeform 28" id="28"/>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29" id="29"/>
          <p:cNvGrpSpPr/>
          <p:nvPr/>
        </p:nvGrpSpPr>
        <p:grpSpPr>
          <a:xfrm rot="0">
            <a:off x="6476667" y="3616223"/>
            <a:ext cx="1328176" cy="1314726"/>
            <a:chOff x="0" y="0"/>
            <a:chExt cx="1770901" cy="1752968"/>
          </a:xfrm>
        </p:grpSpPr>
        <p:sp>
          <p:nvSpPr>
            <p:cNvPr name="Freeform 30" id="30"/>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31" id="31"/>
          <p:cNvGrpSpPr/>
          <p:nvPr/>
        </p:nvGrpSpPr>
        <p:grpSpPr>
          <a:xfrm rot="0">
            <a:off x="1980809" y="3616223"/>
            <a:ext cx="1328176" cy="1314726"/>
            <a:chOff x="0" y="0"/>
            <a:chExt cx="1770901" cy="1752968"/>
          </a:xfrm>
        </p:grpSpPr>
        <p:sp>
          <p:nvSpPr>
            <p:cNvPr name="Freeform 32" id="32"/>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33" id="33"/>
          <p:cNvGrpSpPr/>
          <p:nvPr/>
        </p:nvGrpSpPr>
        <p:grpSpPr>
          <a:xfrm rot="5400000">
            <a:off x="5853074" y="5875115"/>
            <a:ext cx="471449" cy="1326137"/>
            <a:chOff x="0" y="0"/>
            <a:chExt cx="628599" cy="1768183"/>
          </a:xfrm>
        </p:grpSpPr>
        <p:sp>
          <p:nvSpPr>
            <p:cNvPr name="Freeform 34" id="34"/>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23812" cap="sq">
              <a:solidFill>
                <a:srgbClr val="767171"/>
              </a:solidFill>
              <a:prstDash val="solid"/>
              <a:miter/>
            </a:ln>
          </p:spPr>
        </p:sp>
      </p:grpSp>
      <p:grpSp>
        <p:nvGrpSpPr>
          <p:cNvPr name="Group 35" id="35"/>
          <p:cNvGrpSpPr/>
          <p:nvPr/>
        </p:nvGrpSpPr>
        <p:grpSpPr>
          <a:xfrm rot="5400000">
            <a:off x="3484712" y="5863199"/>
            <a:ext cx="471449" cy="1326137"/>
            <a:chOff x="0" y="0"/>
            <a:chExt cx="628599" cy="1768183"/>
          </a:xfrm>
        </p:grpSpPr>
        <p:sp>
          <p:nvSpPr>
            <p:cNvPr name="Freeform 36" id="36"/>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23812" cap="sq">
              <a:solidFill>
                <a:srgbClr val="767171"/>
              </a:solidFill>
              <a:prstDash val="solid"/>
              <a:miter/>
            </a:ln>
          </p:spPr>
        </p:sp>
      </p:grpSp>
      <p:grpSp>
        <p:nvGrpSpPr>
          <p:cNvPr name="Group 37" id="37"/>
          <p:cNvGrpSpPr/>
          <p:nvPr/>
        </p:nvGrpSpPr>
        <p:grpSpPr>
          <a:xfrm rot="0">
            <a:off x="4262152" y="5868905"/>
            <a:ext cx="1328176" cy="1314726"/>
            <a:chOff x="0" y="0"/>
            <a:chExt cx="1770901" cy="1752968"/>
          </a:xfrm>
        </p:grpSpPr>
        <p:sp>
          <p:nvSpPr>
            <p:cNvPr name="Freeform 38" id="38"/>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39" id="39"/>
          <p:cNvGrpSpPr/>
          <p:nvPr/>
        </p:nvGrpSpPr>
        <p:grpSpPr>
          <a:xfrm rot="0">
            <a:off x="2420703" y="6954412"/>
            <a:ext cx="471449" cy="846773"/>
            <a:chOff x="0" y="0"/>
            <a:chExt cx="628599" cy="1129030"/>
          </a:xfrm>
        </p:grpSpPr>
        <p:sp>
          <p:nvSpPr>
            <p:cNvPr name="Freeform 40" id="40"/>
            <p:cNvSpPr/>
            <p:nvPr/>
          </p:nvSpPr>
          <p:spPr>
            <a:xfrm flipH="false" flipV="false" rot="0">
              <a:off x="0" y="0"/>
              <a:ext cx="628650" cy="1129030"/>
            </a:xfrm>
            <a:custGeom>
              <a:avLst/>
              <a:gdLst/>
              <a:ahLst/>
              <a:cxnLst/>
              <a:rect r="r" b="b" t="t" l="l"/>
              <a:pathLst>
                <a:path h="1129030" w="628650">
                  <a:moveTo>
                    <a:pt x="0" y="0"/>
                  </a:moveTo>
                  <a:lnTo>
                    <a:pt x="628650" y="0"/>
                  </a:lnTo>
                  <a:lnTo>
                    <a:pt x="628650" y="1129030"/>
                  </a:lnTo>
                  <a:lnTo>
                    <a:pt x="0" y="1129030"/>
                  </a:lnTo>
                  <a:close/>
                </a:path>
              </a:pathLst>
            </a:custGeom>
            <a:solidFill>
              <a:srgbClr val="AFABAB">
                <a:alpha val="56078"/>
              </a:srgbClr>
            </a:solidFill>
            <a:ln w="23812" cap="sq">
              <a:solidFill>
                <a:srgbClr val="767171"/>
              </a:solidFill>
              <a:prstDash val="solid"/>
              <a:miter/>
            </a:ln>
          </p:spPr>
        </p:sp>
      </p:grpSp>
      <p:grpSp>
        <p:nvGrpSpPr>
          <p:cNvPr name="Group 41" id="41"/>
          <p:cNvGrpSpPr/>
          <p:nvPr/>
        </p:nvGrpSpPr>
        <p:grpSpPr>
          <a:xfrm rot="0">
            <a:off x="6905034" y="6954412"/>
            <a:ext cx="471449" cy="846773"/>
            <a:chOff x="0" y="0"/>
            <a:chExt cx="628599" cy="1129030"/>
          </a:xfrm>
        </p:grpSpPr>
        <p:sp>
          <p:nvSpPr>
            <p:cNvPr name="Freeform 42" id="42"/>
            <p:cNvSpPr/>
            <p:nvPr/>
          </p:nvSpPr>
          <p:spPr>
            <a:xfrm flipH="false" flipV="false" rot="0">
              <a:off x="0" y="0"/>
              <a:ext cx="628650" cy="1129030"/>
            </a:xfrm>
            <a:custGeom>
              <a:avLst/>
              <a:gdLst/>
              <a:ahLst/>
              <a:cxnLst/>
              <a:rect r="r" b="b" t="t" l="l"/>
              <a:pathLst>
                <a:path h="1129030" w="628650">
                  <a:moveTo>
                    <a:pt x="0" y="0"/>
                  </a:moveTo>
                  <a:lnTo>
                    <a:pt x="628650" y="0"/>
                  </a:lnTo>
                  <a:lnTo>
                    <a:pt x="628650" y="1129030"/>
                  </a:lnTo>
                  <a:lnTo>
                    <a:pt x="0" y="1129030"/>
                  </a:lnTo>
                  <a:close/>
                </a:path>
              </a:pathLst>
            </a:custGeom>
            <a:solidFill>
              <a:srgbClr val="AFABAB">
                <a:alpha val="56078"/>
              </a:srgbClr>
            </a:solidFill>
            <a:ln w="23812" cap="sq">
              <a:solidFill>
                <a:srgbClr val="767171"/>
              </a:solidFill>
              <a:prstDash val="solid"/>
              <a:miter/>
            </a:ln>
          </p:spPr>
        </p:sp>
      </p:grpSp>
      <p:grpSp>
        <p:nvGrpSpPr>
          <p:cNvPr name="Group 43" id="43"/>
          <p:cNvGrpSpPr/>
          <p:nvPr/>
        </p:nvGrpSpPr>
        <p:grpSpPr>
          <a:xfrm rot="0">
            <a:off x="6476667" y="5876211"/>
            <a:ext cx="1328176" cy="1314726"/>
            <a:chOff x="0" y="0"/>
            <a:chExt cx="1770901" cy="1752968"/>
          </a:xfrm>
        </p:grpSpPr>
        <p:sp>
          <p:nvSpPr>
            <p:cNvPr name="Freeform 44" id="44"/>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45" id="45"/>
          <p:cNvGrpSpPr/>
          <p:nvPr/>
        </p:nvGrpSpPr>
        <p:grpSpPr>
          <a:xfrm rot="0">
            <a:off x="1985000" y="5868905"/>
            <a:ext cx="1328176" cy="1314726"/>
            <a:chOff x="0" y="0"/>
            <a:chExt cx="1770901" cy="1752968"/>
          </a:xfrm>
        </p:grpSpPr>
        <p:sp>
          <p:nvSpPr>
            <p:cNvPr name="Freeform 46" id="46"/>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47" id="47"/>
          <p:cNvGrpSpPr/>
          <p:nvPr/>
        </p:nvGrpSpPr>
        <p:grpSpPr>
          <a:xfrm rot="6769020">
            <a:off x="3525679" y="8023117"/>
            <a:ext cx="471449" cy="1435665"/>
            <a:chOff x="0" y="0"/>
            <a:chExt cx="628599" cy="1914220"/>
          </a:xfrm>
        </p:grpSpPr>
        <p:sp>
          <p:nvSpPr>
            <p:cNvPr name="Freeform 48" id="48"/>
            <p:cNvSpPr/>
            <p:nvPr/>
          </p:nvSpPr>
          <p:spPr>
            <a:xfrm flipH="false" flipV="false" rot="0">
              <a:off x="0" y="0"/>
              <a:ext cx="628650" cy="1914271"/>
            </a:xfrm>
            <a:custGeom>
              <a:avLst/>
              <a:gdLst/>
              <a:ahLst/>
              <a:cxnLst/>
              <a:rect r="r" b="b" t="t" l="l"/>
              <a:pathLst>
                <a:path h="1914271" w="628650">
                  <a:moveTo>
                    <a:pt x="0" y="0"/>
                  </a:moveTo>
                  <a:lnTo>
                    <a:pt x="628650" y="0"/>
                  </a:lnTo>
                  <a:lnTo>
                    <a:pt x="628650" y="1914271"/>
                  </a:lnTo>
                  <a:lnTo>
                    <a:pt x="0" y="1914271"/>
                  </a:lnTo>
                  <a:close/>
                </a:path>
              </a:pathLst>
            </a:custGeom>
            <a:solidFill>
              <a:srgbClr val="AFABAB">
                <a:alpha val="56078"/>
              </a:srgbClr>
            </a:solidFill>
            <a:ln w="23812" cap="sq">
              <a:solidFill>
                <a:srgbClr val="767171"/>
              </a:solidFill>
              <a:prstDash val="solid"/>
              <a:miter/>
            </a:ln>
          </p:spPr>
        </p:sp>
      </p:grpSp>
      <p:grpSp>
        <p:nvGrpSpPr>
          <p:cNvPr name="Group 49" id="49"/>
          <p:cNvGrpSpPr/>
          <p:nvPr/>
        </p:nvGrpSpPr>
        <p:grpSpPr>
          <a:xfrm rot="0">
            <a:off x="1992344" y="7591977"/>
            <a:ext cx="1328176" cy="1314726"/>
            <a:chOff x="0" y="0"/>
            <a:chExt cx="1770901" cy="1752968"/>
          </a:xfrm>
        </p:grpSpPr>
        <p:sp>
          <p:nvSpPr>
            <p:cNvPr name="Freeform 50" id="50"/>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51" id="51"/>
          <p:cNvGrpSpPr/>
          <p:nvPr/>
        </p:nvGrpSpPr>
        <p:grpSpPr>
          <a:xfrm rot="3998100">
            <a:off x="5845902" y="8044977"/>
            <a:ext cx="471449" cy="1435665"/>
            <a:chOff x="0" y="0"/>
            <a:chExt cx="628599" cy="1914220"/>
          </a:xfrm>
        </p:grpSpPr>
        <p:sp>
          <p:nvSpPr>
            <p:cNvPr name="Freeform 52" id="52"/>
            <p:cNvSpPr/>
            <p:nvPr/>
          </p:nvSpPr>
          <p:spPr>
            <a:xfrm flipH="false" flipV="false" rot="0">
              <a:off x="0" y="0"/>
              <a:ext cx="628650" cy="1914271"/>
            </a:xfrm>
            <a:custGeom>
              <a:avLst/>
              <a:gdLst/>
              <a:ahLst/>
              <a:cxnLst/>
              <a:rect r="r" b="b" t="t" l="l"/>
              <a:pathLst>
                <a:path h="1914271" w="628650">
                  <a:moveTo>
                    <a:pt x="0" y="0"/>
                  </a:moveTo>
                  <a:lnTo>
                    <a:pt x="628650" y="0"/>
                  </a:lnTo>
                  <a:lnTo>
                    <a:pt x="628650" y="1914271"/>
                  </a:lnTo>
                  <a:lnTo>
                    <a:pt x="0" y="1914271"/>
                  </a:lnTo>
                  <a:close/>
                </a:path>
              </a:pathLst>
            </a:custGeom>
            <a:solidFill>
              <a:srgbClr val="AFABAB">
                <a:alpha val="56078"/>
              </a:srgbClr>
            </a:solidFill>
            <a:ln w="23812" cap="sq">
              <a:solidFill>
                <a:srgbClr val="767171"/>
              </a:solidFill>
              <a:prstDash val="solid"/>
              <a:miter/>
            </a:ln>
          </p:spPr>
        </p:sp>
      </p:grpSp>
      <p:grpSp>
        <p:nvGrpSpPr>
          <p:cNvPr name="Group 53" id="53"/>
          <p:cNvGrpSpPr/>
          <p:nvPr/>
        </p:nvGrpSpPr>
        <p:grpSpPr>
          <a:xfrm rot="0">
            <a:off x="6476667" y="7581462"/>
            <a:ext cx="1328176" cy="1314726"/>
            <a:chOff x="0" y="0"/>
            <a:chExt cx="1770901" cy="1752968"/>
          </a:xfrm>
        </p:grpSpPr>
        <p:sp>
          <p:nvSpPr>
            <p:cNvPr name="Freeform 54" id="54"/>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grpSp>
        <p:nvGrpSpPr>
          <p:cNvPr name="Group 55" id="55"/>
          <p:cNvGrpSpPr/>
          <p:nvPr/>
        </p:nvGrpSpPr>
        <p:grpSpPr>
          <a:xfrm rot="0">
            <a:off x="4257770" y="8401469"/>
            <a:ext cx="1328176" cy="1314726"/>
            <a:chOff x="0" y="0"/>
            <a:chExt cx="1770901" cy="1752968"/>
          </a:xfrm>
        </p:grpSpPr>
        <p:sp>
          <p:nvSpPr>
            <p:cNvPr name="Freeform 56" id="56"/>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23812" cap="sq">
              <a:solidFill>
                <a:srgbClr val="767171"/>
              </a:solidFill>
              <a:prstDash val="solid"/>
              <a:miter/>
            </a:ln>
          </p:spPr>
        </p:sp>
      </p:grpSp>
      <p:sp>
        <p:nvSpPr>
          <p:cNvPr name="TextBox 57" id="57"/>
          <p:cNvSpPr txBox="true"/>
          <p:nvPr/>
        </p:nvSpPr>
        <p:spPr>
          <a:xfrm rot="0">
            <a:off x="4560675" y="1438932"/>
            <a:ext cx="800557"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입구</a:t>
            </a:r>
          </a:p>
        </p:txBody>
      </p:sp>
      <p:sp>
        <p:nvSpPr>
          <p:cNvPr name="TextBox 58" id="58"/>
          <p:cNvSpPr txBox="true"/>
          <p:nvPr/>
        </p:nvSpPr>
        <p:spPr>
          <a:xfrm rot="0">
            <a:off x="4383729" y="8808501"/>
            <a:ext cx="1251061" cy="481613"/>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크로노</a:t>
            </a:r>
          </a:p>
        </p:txBody>
      </p:sp>
      <p:sp>
        <p:nvSpPr>
          <p:cNvPr name="TextBox 59" id="59"/>
          <p:cNvSpPr txBox="true"/>
          <p:nvPr/>
        </p:nvSpPr>
        <p:spPr>
          <a:xfrm rot="0">
            <a:off x="9235440" y="1370695"/>
            <a:ext cx="1456420" cy="1091298"/>
          </a:xfrm>
          <a:prstGeom prst="rect">
            <a:avLst/>
          </a:prstGeom>
        </p:spPr>
        <p:txBody>
          <a:bodyPr anchor="t" rtlCol="false" tIns="0" lIns="0" bIns="0" rIns="0">
            <a:spAutoFit/>
          </a:bodyPr>
          <a:lstStyle/>
          <a:p>
            <a:pPr algn="l">
              <a:lnSpc>
                <a:spcPts val="3960"/>
              </a:lnSpc>
            </a:pPr>
            <a:r>
              <a:rPr lang="en-US" sz="3300">
                <a:solidFill>
                  <a:srgbClr val="000000"/>
                </a:solidFill>
                <a:latin typeface="Arimo"/>
                <a:ea typeface="Arimo"/>
                <a:cs typeface="Arimo"/>
                <a:sym typeface="Arimo"/>
              </a:rPr>
              <a:t>  내부</a:t>
            </a:r>
          </a:p>
          <a:p>
            <a:pPr algn="l">
              <a:lnSpc>
                <a:spcPts val="3960"/>
              </a:lnSpc>
            </a:pPr>
            <a:r>
              <a:rPr lang="en-US" sz="3300">
                <a:solidFill>
                  <a:srgbClr val="000000"/>
                </a:solidFill>
                <a:latin typeface="Arimo"/>
                <a:ea typeface="Arimo"/>
                <a:cs typeface="Arimo"/>
                <a:sym typeface="Arimo"/>
              </a:rPr>
              <a:t>청사진</a:t>
            </a:r>
          </a:p>
        </p:txBody>
      </p:sp>
      <p:sp>
        <p:nvSpPr>
          <p:cNvPr name="AutoShape 60" id="60"/>
          <p:cNvSpPr/>
          <p:nvPr/>
        </p:nvSpPr>
        <p:spPr>
          <a:xfrm rot="10745280">
            <a:off x="8988743" y="2604583"/>
            <a:ext cx="1543745" cy="0"/>
          </a:xfrm>
          <a:prstGeom prst="line">
            <a:avLst/>
          </a:prstGeom>
          <a:ln cap="rnd" w="9525">
            <a:solidFill>
              <a:srgbClr val="000000"/>
            </a:solidFill>
            <a:prstDash val="solid"/>
            <a:headEnd type="none" len="sm" w="sm"/>
            <a:tailEnd type="triangle" len="med" w="lg"/>
          </a:ln>
        </p:spPr>
      </p:sp>
      <p:sp>
        <p:nvSpPr>
          <p:cNvPr name="TextBox 61" id="61"/>
          <p:cNvSpPr txBox="true"/>
          <p:nvPr/>
        </p:nvSpPr>
        <p:spPr>
          <a:xfrm rot="0">
            <a:off x="9682201" y="6015914"/>
            <a:ext cx="1727130" cy="1312602"/>
          </a:xfrm>
          <a:prstGeom prst="rect">
            <a:avLst/>
          </a:prstGeom>
        </p:spPr>
        <p:txBody>
          <a:bodyPr anchor="t" rtlCol="false" tIns="0" lIns="0" bIns="0" rIns="0">
            <a:spAutoFit/>
          </a:bodyPr>
          <a:lstStyle/>
          <a:p>
            <a:pPr algn="l">
              <a:lnSpc>
                <a:spcPts val="3240"/>
              </a:lnSpc>
            </a:pPr>
            <a:r>
              <a:rPr lang="en-US" sz="2700">
                <a:solidFill>
                  <a:srgbClr val="000000"/>
                </a:solidFill>
                <a:latin typeface="Arimo"/>
                <a:ea typeface="Arimo"/>
                <a:cs typeface="Arimo"/>
                <a:sym typeface="Arimo"/>
              </a:rPr>
              <a:t> 모티브</a:t>
            </a:r>
          </a:p>
          <a:p>
            <a:pPr algn="l">
              <a:lnSpc>
                <a:spcPts val="3240"/>
              </a:lnSpc>
            </a:pPr>
            <a:r>
              <a:rPr lang="en-US" sz="2700">
                <a:solidFill>
                  <a:srgbClr val="000000"/>
                </a:solidFill>
                <a:latin typeface="Arimo"/>
                <a:ea typeface="Arimo"/>
                <a:cs typeface="Arimo"/>
                <a:sym typeface="Arimo"/>
              </a:rPr>
              <a:t>(세피로트의 나무)</a:t>
            </a:r>
          </a:p>
        </p:txBody>
      </p:sp>
      <p:sp>
        <p:nvSpPr>
          <p:cNvPr name="AutoShape 62" id="62"/>
          <p:cNvSpPr/>
          <p:nvPr/>
        </p:nvSpPr>
        <p:spPr>
          <a:xfrm rot="-20640">
            <a:off x="9585979" y="7443311"/>
            <a:ext cx="1588694" cy="0"/>
          </a:xfrm>
          <a:prstGeom prst="line">
            <a:avLst/>
          </a:prstGeom>
          <a:ln cap="rnd" w="9525">
            <a:solidFill>
              <a:srgbClr val="000000"/>
            </a:solidFill>
            <a:prstDash val="solid"/>
            <a:headEnd type="none" len="sm" w="sm"/>
            <a:tailEnd type="triangle" len="med" w="lg"/>
          </a:ln>
        </p:spPr>
      </p:sp>
      <p:grpSp>
        <p:nvGrpSpPr>
          <p:cNvPr name="Group 63" id="63"/>
          <p:cNvGrpSpPr/>
          <p:nvPr/>
        </p:nvGrpSpPr>
        <p:grpSpPr>
          <a:xfrm rot="0">
            <a:off x="4289108" y="1925260"/>
            <a:ext cx="203949" cy="203949"/>
            <a:chOff x="0" y="0"/>
            <a:chExt cx="271932" cy="271932"/>
          </a:xfrm>
        </p:grpSpPr>
        <p:sp>
          <p:nvSpPr>
            <p:cNvPr name="Freeform 64" id="64"/>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5" id="65"/>
          <p:cNvGrpSpPr/>
          <p:nvPr/>
        </p:nvGrpSpPr>
        <p:grpSpPr>
          <a:xfrm rot="0">
            <a:off x="4831413" y="4175874"/>
            <a:ext cx="203949" cy="203949"/>
            <a:chOff x="0" y="0"/>
            <a:chExt cx="271932" cy="271932"/>
          </a:xfrm>
        </p:grpSpPr>
        <p:sp>
          <p:nvSpPr>
            <p:cNvPr name="Freeform 66" id="66"/>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7" id="67"/>
          <p:cNvGrpSpPr/>
          <p:nvPr/>
        </p:nvGrpSpPr>
        <p:grpSpPr>
          <a:xfrm rot="0">
            <a:off x="2242852" y="3789264"/>
            <a:ext cx="203949" cy="203949"/>
            <a:chOff x="0" y="0"/>
            <a:chExt cx="271932" cy="271932"/>
          </a:xfrm>
        </p:grpSpPr>
        <p:sp>
          <p:nvSpPr>
            <p:cNvPr name="Freeform 68" id="68"/>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9" id="69"/>
          <p:cNvGrpSpPr/>
          <p:nvPr/>
        </p:nvGrpSpPr>
        <p:grpSpPr>
          <a:xfrm rot="0">
            <a:off x="7470400" y="3856501"/>
            <a:ext cx="203949" cy="203949"/>
            <a:chOff x="0" y="0"/>
            <a:chExt cx="271932" cy="271932"/>
          </a:xfrm>
        </p:grpSpPr>
        <p:sp>
          <p:nvSpPr>
            <p:cNvPr name="Freeform 70" id="70"/>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1" id="71"/>
          <p:cNvGrpSpPr/>
          <p:nvPr/>
        </p:nvGrpSpPr>
        <p:grpSpPr>
          <a:xfrm rot="0">
            <a:off x="4848225" y="6428251"/>
            <a:ext cx="203949" cy="203949"/>
            <a:chOff x="0" y="0"/>
            <a:chExt cx="271932" cy="271932"/>
          </a:xfrm>
        </p:grpSpPr>
        <p:sp>
          <p:nvSpPr>
            <p:cNvPr name="Freeform 72" id="72"/>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3" id="73"/>
          <p:cNvGrpSpPr/>
          <p:nvPr/>
        </p:nvGrpSpPr>
        <p:grpSpPr>
          <a:xfrm rot="0">
            <a:off x="2057962" y="6428251"/>
            <a:ext cx="203949" cy="203949"/>
            <a:chOff x="0" y="0"/>
            <a:chExt cx="271932" cy="271932"/>
          </a:xfrm>
        </p:grpSpPr>
        <p:sp>
          <p:nvSpPr>
            <p:cNvPr name="Freeform 74" id="74"/>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5" id="75"/>
          <p:cNvGrpSpPr/>
          <p:nvPr/>
        </p:nvGrpSpPr>
        <p:grpSpPr>
          <a:xfrm rot="0">
            <a:off x="7470400" y="6428251"/>
            <a:ext cx="203949" cy="203949"/>
            <a:chOff x="0" y="0"/>
            <a:chExt cx="271932" cy="271932"/>
          </a:xfrm>
        </p:grpSpPr>
        <p:sp>
          <p:nvSpPr>
            <p:cNvPr name="Freeform 76" id="76"/>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7" id="77"/>
          <p:cNvGrpSpPr/>
          <p:nvPr/>
        </p:nvGrpSpPr>
        <p:grpSpPr>
          <a:xfrm rot="0">
            <a:off x="2158813" y="8411689"/>
            <a:ext cx="203949" cy="203949"/>
            <a:chOff x="0" y="0"/>
            <a:chExt cx="271932" cy="271932"/>
          </a:xfrm>
        </p:grpSpPr>
        <p:sp>
          <p:nvSpPr>
            <p:cNvPr name="Freeform 78" id="78"/>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9" id="79"/>
          <p:cNvGrpSpPr/>
          <p:nvPr/>
        </p:nvGrpSpPr>
        <p:grpSpPr>
          <a:xfrm rot="0">
            <a:off x="7386352" y="8512550"/>
            <a:ext cx="203949" cy="203949"/>
            <a:chOff x="0" y="0"/>
            <a:chExt cx="271932" cy="271932"/>
          </a:xfrm>
        </p:grpSpPr>
        <p:sp>
          <p:nvSpPr>
            <p:cNvPr name="Freeform 80" id="80"/>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81" id="81"/>
          <p:cNvGrpSpPr/>
          <p:nvPr/>
        </p:nvGrpSpPr>
        <p:grpSpPr>
          <a:xfrm rot="0">
            <a:off x="4814602" y="9504264"/>
            <a:ext cx="203949" cy="203949"/>
            <a:chOff x="0" y="0"/>
            <a:chExt cx="271932" cy="271932"/>
          </a:xfrm>
        </p:grpSpPr>
        <p:sp>
          <p:nvSpPr>
            <p:cNvPr name="Freeform 82" id="82"/>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83" id="83"/>
          <p:cNvGrpSpPr/>
          <p:nvPr/>
        </p:nvGrpSpPr>
        <p:grpSpPr>
          <a:xfrm rot="0">
            <a:off x="12107818" y="838"/>
            <a:ext cx="6174724" cy="10285314"/>
            <a:chOff x="0" y="0"/>
            <a:chExt cx="8232966" cy="13713752"/>
          </a:xfrm>
        </p:grpSpPr>
        <p:sp>
          <p:nvSpPr>
            <p:cNvPr name="Freeform 84" id="84" descr="스케치, 그림, 라인 아트, 클립아트이(가) 표시된 사진  AI 생성 콘텐츠는 정확하지 않을 수 있습니다."/>
            <p:cNvSpPr/>
            <p:nvPr/>
          </p:nvSpPr>
          <p:spPr>
            <a:xfrm flipH="false" flipV="true" rot="0">
              <a:off x="0" y="0"/>
              <a:ext cx="8232902" cy="13713713"/>
            </a:xfrm>
            <a:custGeom>
              <a:avLst/>
              <a:gdLst/>
              <a:ahLst/>
              <a:cxnLst/>
              <a:rect r="r" b="b" t="t" l="l"/>
              <a:pathLst>
                <a:path h="13713713" w="8232902">
                  <a:moveTo>
                    <a:pt x="0" y="13713713"/>
                  </a:moveTo>
                  <a:lnTo>
                    <a:pt x="8232902" y="13713713"/>
                  </a:lnTo>
                  <a:lnTo>
                    <a:pt x="8232902" y="0"/>
                  </a:lnTo>
                  <a:lnTo>
                    <a:pt x="0" y="0"/>
                  </a:lnTo>
                  <a:lnTo>
                    <a:pt x="0" y="13713713"/>
                  </a:lnTo>
                  <a:close/>
                </a:path>
              </a:pathLst>
            </a:custGeom>
            <a:blipFill>
              <a:blip r:embed="rId4"/>
              <a:stretch>
                <a:fillRect l="-490" t="0" r="-490" b="0"/>
              </a:stretch>
            </a:blipFill>
          </p:spPr>
        </p:sp>
      </p:grpSp>
      <p:grpSp>
        <p:nvGrpSpPr>
          <p:cNvPr name="Group 85" id="85"/>
          <p:cNvGrpSpPr/>
          <p:nvPr/>
        </p:nvGrpSpPr>
        <p:grpSpPr>
          <a:xfrm rot="2820000">
            <a:off x="5846712" y="4291184"/>
            <a:ext cx="521875" cy="2217010"/>
            <a:chOff x="0" y="0"/>
            <a:chExt cx="695833" cy="2956014"/>
          </a:xfrm>
        </p:grpSpPr>
        <p:sp>
          <p:nvSpPr>
            <p:cNvPr name="Freeform 86" id="86"/>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23812" cap="sq">
              <a:solidFill>
                <a:srgbClr val="767171"/>
              </a:solidFill>
              <a:prstDash val="solid"/>
              <a:miter/>
            </a:ln>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32256" y="695647"/>
            <a:ext cx="9691288" cy="8895706"/>
            <a:chOff x="0" y="0"/>
            <a:chExt cx="2552438" cy="2342902"/>
          </a:xfrm>
        </p:grpSpPr>
        <p:sp>
          <p:nvSpPr>
            <p:cNvPr name="Freeform 3" id="3"/>
            <p:cNvSpPr/>
            <p:nvPr/>
          </p:nvSpPr>
          <p:spPr>
            <a:xfrm flipH="false" flipV="false" rot="0">
              <a:off x="0" y="0"/>
              <a:ext cx="2552438" cy="2342902"/>
            </a:xfrm>
            <a:custGeom>
              <a:avLst/>
              <a:gdLst/>
              <a:ahLst/>
              <a:cxnLst/>
              <a:rect r="r" b="b" t="t" l="l"/>
              <a:pathLst>
                <a:path h="2342902" w="2552438">
                  <a:moveTo>
                    <a:pt x="0" y="0"/>
                  </a:moveTo>
                  <a:lnTo>
                    <a:pt x="2552438" y="0"/>
                  </a:lnTo>
                  <a:lnTo>
                    <a:pt x="2552438" y="2342902"/>
                  </a:lnTo>
                  <a:lnTo>
                    <a:pt x="0" y="2342902"/>
                  </a:lnTo>
                  <a:close/>
                </a:path>
              </a:pathLst>
            </a:custGeom>
            <a:solidFill>
              <a:srgbClr val="AFABAB"/>
            </a:solidFill>
          </p:spPr>
        </p:sp>
        <p:sp>
          <p:nvSpPr>
            <p:cNvPr name="TextBox 4" id="4"/>
            <p:cNvSpPr txBox="true"/>
            <p:nvPr/>
          </p:nvSpPr>
          <p:spPr>
            <a:xfrm>
              <a:off x="0" y="-66675"/>
              <a:ext cx="2552438" cy="2409577"/>
            </a:xfrm>
            <a:prstGeom prst="rect">
              <a:avLst/>
            </a:prstGeom>
          </p:spPr>
          <p:txBody>
            <a:bodyPr anchor="ctr" rtlCol="false" tIns="50800" lIns="50800" bIns="50800" rIns="50800"/>
            <a:lstStyle/>
            <a:p>
              <a:pPr algn="ctr">
                <a:lnSpc>
                  <a:spcPts val="3150"/>
                </a:lnSpc>
              </a:pPr>
            </a:p>
          </p:txBody>
        </p:sp>
      </p:grpSp>
      <p:grpSp>
        <p:nvGrpSpPr>
          <p:cNvPr name="Group 5" id="5"/>
          <p:cNvGrpSpPr/>
          <p:nvPr/>
        </p:nvGrpSpPr>
        <p:grpSpPr>
          <a:xfrm rot="0">
            <a:off x="9733061" y="1028700"/>
            <a:ext cx="7451528" cy="8229600"/>
            <a:chOff x="0" y="0"/>
            <a:chExt cx="10475354" cy="11569167"/>
          </a:xfrm>
        </p:grpSpPr>
        <p:sp>
          <p:nvSpPr>
            <p:cNvPr name="Freeform 6" id="6"/>
            <p:cNvSpPr/>
            <p:nvPr/>
          </p:nvSpPr>
          <p:spPr>
            <a:xfrm flipH="false" flipV="false" rot="0">
              <a:off x="0" y="0"/>
              <a:ext cx="10475341" cy="11569192"/>
            </a:xfrm>
            <a:custGeom>
              <a:avLst/>
              <a:gdLst/>
              <a:ahLst/>
              <a:cxnLst/>
              <a:rect r="r" b="b" t="t" l="l"/>
              <a:pathLst>
                <a:path h="11569192" w="10475341">
                  <a:moveTo>
                    <a:pt x="0" y="0"/>
                  </a:moveTo>
                  <a:lnTo>
                    <a:pt x="10475341" y="0"/>
                  </a:lnTo>
                  <a:lnTo>
                    <a:pt x="10475341" y="11569192"/>
                  </a:lnTo>
                  <a:lnTo>
                    <a:pt x="0" y="11569192"/>
                  </a:lnTo>
                  <a:lnTo>
                    <a:pt x="0" y="0"/>
                  </a:lnTo>
                  <a:close/>
                </a:path>
              </a:pathLst>
            </a:custGeom>
            <a:blipFill>
              <a:blip r:embed="rId2"/>
              <a:stretch>
                <a:fillRect l="0" t="-14" r="0" b="-14"/>
              </a:stretch>
            </a:blipFill>
          </p:spPr>
        </p:sp>
      </p:grpSp>
      <p:grpSp>
        <p:nvGrpSpPr>
          <p:cNvPr name="Group 7" id="7"/>
          <p:cNvGrpSpPr/>
          <p:nvPr/>
        </p:nvGrpSpPr>
        <p:grpSpPr>
          <a:xfrm rot="-10800000">
            <a:off x="13250397" y="6491600"/>
            <a:ext cx="447147" cy="1571592"/>
            <a:chOff x="0" y="0"/>
            <a:chExt cx="628599" cy="2209343"/>
          </a:xfrm>
        </p:grpSpPr>
        <p:sp>
          <p:nvSpPr>
            <p:cNvPr name="Freeform 8" id="8"/>
            <p:cNvSpPr/>
            <p:nvPr/>
          </p:nvSpPr>
          <p:spPr>
            <a:xfrm flipH="false" flipV="false" rot="0">
              <a:off x="0" y="0"/>
              <a:ext cx="628650" cy="2209292"/>
            </a:xfrm>
            <a:custGeom>
              <a:avLst/>
              <a:gdLst/>
              <a:ahLst/>
              <a:cxnLst/>
              <a:rect r="r" b="b" t="t" l="l"/>
              <a:pathLst>
                <a:path h="2209292" w="628650">
                  <a:moveTo>
                    <a:pt x="0" y="0"/>
                  </a:moveTo>
                  <a:lnTo>
                    <a:pt x="628650" y="0"/>
                  </a:lnTo>
                  <a:lnTo>
                    <a:pt x="628650" y="2209292"/>
                  </a:lnTo>
                  <a:lnTo>
                    <a:pt x="0" y="2209292"/>
                  </a:lnTo>
                  <a:close/>
                </a:path>
              </a:pathLst>
            </a:custGeom>
            <a:solidFill>
              <a:srgbClr val="AFABAB">
                <a:alpha val="56078"/>
              </a:srgbClr>
            </a:solidFill>
            <a:ln w="19050" cap="sq">
              <a:solidFill>
                <a:srgbClr val="767171"/>
              </a:solidFill>
              <a:prstDash val="solid"/>
              <a:miter/>
            </a:ln>
          </p:spPr>
        </p:sp>
      </p:grpSp>
      <p:grpSp>
        <p:nvGrpSpPr>
          <p:cNvPr name="Group 9" id="9"/>
          <p:cNvGrpSpPr/>
          <p:nvPr/>
        </p:nvGrpSpPr>
        <p:grpSpPr>
          <a:xfrm rot="-2760000">
            <a:off x="12078984" y="3956676"/>
            <a:ext cx="494973" cy="2102728"/>
            <a:chOff x="0" y="0"/>
            <a:chExt cx="695833" cy="2956014"/>
          </a:xfrm>
        </p:grpSpPr>
        <p:sp>
          <p:nvSpPr>
            <p:cNvPr name="Freeform 10" id="10"/>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19050" cap="sq">
              <a:solidFill>
                <a:srgbClr val="767171"/>
              </a:solidFill>
              <a:prstDash val="solid"/>
              <a:miter/>
            </a:ln>
          </p:spPr>
        </p:sp>
      </p:grpSp>
      <p:grpSp>
        <p:nvGrpSpPr>
          <p:cNvPr name="Group 11" id="11"/>
          <p:cNvGrpSpPr/>
          <p:nvPr/>
        </p:nvGrpSpPr>
        <p:grpSpPr>
          <a:xfrm rot="5400000">
            <a:off x="13261482" y="5799360"/>
            <a:ext cx="463092" cy="3425939"/>
            <a:chOff x="0" y="0"/>
            <a:chExt cx="651015" cy="4816183"/>
          </a:xfrm>
        </p:grpSpPr>
        <p:sp>
          <p:nvSpPr>
            <p:cNvPr name="Freeform 12" id="12"/>
            <p:cNvSpPr/>
            <p:nvPr/>
          </p:nvSpPr>
          <p:spPr>
            <a:xfrm flipH="false" flipV="false" rot="0">
              <a:off x="0" y="0"/>
              <a:ext cx="651002" cy="4816221"/>
            </a:xfrm>
            <a:custGeom>
              <a:avLst/>
              <a:gdLst/>
              <a:ahLst/>
              <a:cxnLst/>
              <a:rect r="r" b="b" t="t" l="l"/>
              <a:pathLst>
                <a:path h="4816221" w="651002">
                  <a:moveTo>
                    <a:pt x="0" y="0"/>
                  </a:moveTo>
                  <a:lnTo>
                    <a:pt x="651002" y="0"/>
                  </a:lnTo>
                  <a:lnTo>
                    <a:pt x="651002" y="4816221"/>
                  </a:lnTo>
                  <a:lnTo>
                    <a:pt x="0" y="4816221"/>
                  </a:lnTo>
                  <a:close/>
                </a:path>
              </a:pathLst>
            </a:custGeom>
            <a:solidFill>
              <a:srgbClr val="AFABAB">
                <a:alpha val="56078"/>
              </a:srgbClr>
            </a:solidFill>
            <a:ln w="19050" cap="sq">
              <a:solidFill>
                <a:srgbClr val="767171"/>
              </a:solidFill>
              <a:prstDash val="solid"/>
              <a:miter/>
            </a:ln>
          </p:spPr>
        </p:sp>
      </p:grpSp>
      <p:grpSp>
        <p:nvGrpSpPr>
          <p:cNvPr name="Group 13" id="13"/>
          <p:cNvGrpSpPr/>
          <p:nvPr/>
        </p:nvGrpSpPr>
        <p:grpSpPr>
          <a:xfrm rot="2820000">
            <a:off x="12078984" y="1740679"/>
            <a:ext cx="494973" cy="2102728"/>
            <a:chOff x="0" y="0"/>
            <a:chExt cx="695833" cy="2956014"/>
          </a:xfrm>
        </p:grpSpPr>
        <p:sp>
          <p:nvSpPr>
            <p:cNvPr name="Freeform 14" id="14"/>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19050" cap="sq">
              <a:solidFill>
                <a:srgbClr val="767171"/>
              </a:solidFill>
              <a:prstDash val="solid"/>
              <a:miter/>
            </a:ln>
          </p:spPr>
        </p:sp>
      </p:grpSp>
      <p:grpSp>
        <p:nvGrpSpPr>
          <p:cNvPr name="Group 15" id="15"/>
          <p:cNvGrpSpPr/>
          <p:nvPr/>
        </p:nvGrpSpPr>
        <p:grpSpPr>
          <a:xfrm rot="-2520000">
            <a:off x="14279036" y="1836340"/>
            <a:ext cx="494973" cy="2102728"/>
            <a:chOff x="0" y="0"/>
            <a:chExt cx="695833" cy="2956014"/>
          </a:xfrm>
        </p:grpSpPr>
        <p:sp>
          <p:nvSpPr>
            <p:cNvPr name="Freeform 16" id="16"/>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19050" cap="sq">
              <a:solidFill>
                <a:srgbClr val="767171"/>
              </a:solidFill>
              <a:prstDash val="solid"/>
              <a:miter/>
            </a:ln>
          </p:spPr>
        </p:sp>
      </p:grpSp>
      <p:grpSp>
        <p:nvGrpSpPr>
          <p:cNvPr name="Group 17" id="17"/>
          <p:cNvGrpSpPr/>
          <p:nvPr/>
        </p:nvGrpSpPr>
        <p:grpSpPr>
          <a:xfrm rot="0">
            <a:off x="13236141" y="2260152"/>
            <a:ext cx="447147" cy="1257778"/>
            <a:chOff x="0" y="0"/>
            <a:chExt cx="628599" cy="1768183"/>
          </a:xfrm>
        </p:grpSpPr>
        <p:sp>
          <p:nvSpPr>
            <p:cNvPr name="Freeform 18" id="18"/>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19050" cap="sq">
              <a:solidFill>
                <a:srgbClr val="767171"/>
              </a:solidFill>
              <a:prstDash val="solid"/>
              <a:miter/>
            </a:ln>
          </p:spPr>
        </p:sp>
      </p:grpSp>
      <p:grpSp>
        <p:nvGrpSpPr>
          <p:cNvPr name="Group 19" id="19"/>
          <p:cNvGrpSpPr/>
          <p:nvPr/>
        </p:nvGrpSpPr>
        <p:grpSpPr>
          <a:xfrm rot="0">
            <a:off x="12829855" y="1216219"/>
            <a:ext cx="1259711" cy="1246955"/>
            <a:chOff x="0" y="0"/>
            <a:chExt cx="1770901" cy="1752968"/>
          </a:xfrm>
        </p:grpSpPr>
        <p:sp>
          <p:nvSpPr>
            <p:cNvPr name="Freeform 20" id="20"/>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21" id="21"/>
          <p:cNvGrpSpPr/>
          <p:nvPr/>
        </p:nvGrpSpPr>
        <p:grpSpPr>
          <a:xfrm rot="5400000">
            <a:off x="14287284" y="3320320"/>
            <a:ext cx="447147" cy="1257778"/>
            <a:chOff x="0" y="0"/>
            <a:chExt cx="628599" cy="1768183"/>
          </a:xfrm>
        </p:grpSpPr>
        <p:sp>
          <p:nvSpPr>
            <p:cNvPr name="Freeform 22" id="22"/>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19050" cap="sq">
              <a:solidFill>
                <a:srgbClr val="767171"/>
              </a:solidFill>
              <a:prstDash val="solid"/>
              <a:miter/>
            </a:ln>
          </p:spPr>
        </p:sp>
      </p:grpSp>
      <p:grpSp>
        <p:nvGrpSpPr>
          <p:cNvPr name="Group 23" id="23"/>
          <p:cNvGrpSpPr/>
          <p:nvPr/>
        </p:nvGrpSpPr>
        <p:grpSpPr>
          <a:xfrm rot="-10800000">
            <a:off x="13236141" y="4380497"/>
            <a:ext cx="447147" cy="1257778"/>
            <a:chOff x="0" y="0"/>
            <a:chExt cx="628599" cy="1768183"/>
          </a:xfrm>
        </p:grpSpPr>
        <p:sp>
          <p:nvSpPr>
            <p:cNvPr name="Freeform 24" id="24"/>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19050" cap="sq">
              <a:solidFill>
                <a:srgbClr val="767171"/>
              </a:solidFill>
              <a:prstDash val="solid"/>
              <a:miter/>
            </a:ln>
          </p:spPr>
        </p:sp>
      </p:grpSp>
      <p:grpSp>
        <p:nvGrpSpPr>
          <p:cNvPr name="Group 25" id="25"/>
          <p:cNvGrpSpPr/>
          <p:nvPr/>
        </p:nvGrpSpPr>
        <p:grpSpPr>
          <a:xfrm rot="5400000">
            <a:off x="12121607" y="3320320"/>
            <a:ext cx="447147" cy="1257778"/>
            <a:chOff x="0" y="0"/>
            <a:chExt cx="628599" cy="1768183"/>
          </a:xfrm>
        </p:grpSpPr>
        <p:sp>
          <p:nvSpPr>
            <p:cNvPr name="Freeform 26" id="26"/>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19050" cap="sq">
              <a:solidFill>
                <a:srgbClr val="767171"/>
              </a:solidFill>
              <a:prstDash val="solid"/>
              <a:miter/>
            </a:ln>
          </p:spPr>
        </p:sp>
      </p:grpSp>
      <p:grpSp>
        <p:nvGrpSpPr>
          <p:cNvPr name="Group 27" id="27"/>
          <p:cNvGrpSpPr/>
          <p:nvPr/>
        </p:nvGrpSpPr>
        <p:grpSpPr>
          <a:xfrm rot="0">
            <a:off x="12829855" y="3325732"/>
            <a:ext cx="1259711" cy="1246955"/>
            <a:chOff x="0" y="0"/>
            <a:chExt cx="1770901" cy="1752968"/>
          </a:xfrm>
        </p:grpSpPr>
        <p:sp>
          <p:nvSpPr>
            <p:cNvPr name="Freeform 28" id="28"/>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29" id="29"/>
          <p:cNvGrpSpPr/>
          <p:nvPr/>
        </p:nvGrpSpPr>
        <p:grpSpPr>
          <a:xfrm rot="0">
            <a:off x="14930216" y="3325732"/>
            <a:ext cx="1259711" cy="1246955"/>
            <a:chOff x="0" y="0"/>
            <a:chExt cx="1770901" cy="1752968"/>
          </a:xfrm>
        </p:grpSpPr>
        <p:sp>
          <p:nvSpPr>
            <p:cNvPr name="Freeform 30" id="30"/>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31" id="31"/>
          <p:cNvGrpSpPr/>
          <p:nvPr/>
        </p:nvGrpSpPr>
        <p:grpSpPr>
          <a:xfrm rot="0">
            <a:off x="10666111" y="3325732"/>
            <a:ext cx="1259711" cy="1246955"/>
            <a:chOff x="0" y="0"/>
            <a:chExt cx="1770901" cy="1752968"/>
          </a:xfrm>
        </p:grpSpPr>
        <p:sp>
          <p:nvSpPr>
            <p:cNvPr name="Freeform 32" id="32"/>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33" id="33"/>
          <p:cNvGrpSpPr/>
          <p:nvPr/>
        </p:nvGrpSpPr>
        <p:grpSpPr>
          <a:xfrm rot="5400000">
            <a:off x="14338769" y="5468182"/>
            <a:ext cx="447147" cy="1257778"/>
            <a:chOff x="0" y="0"/>
            <a:chExt cx="628599" cy="1768183"/>
          </a:xfrm>
        </p:grpSpPr>
        <p:sp>
          <p:nvSpPr>
            <p:cNvPr name="Freeform 34" id="34"/>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19050" cap="sq">
              <a:solidFill>
                <a:srgbClr val="767171"/>
              </a:solidFill>
              <a:prstDash val="solid"/>
              <a:miter/>
            </a:ln>
          </p:spPr>
        </p:sp>
      </p:grpSp>
      <p:grpSp>
        <p:nvGrpSpPr>
          <p:cNvPr name="Group 35" id="35"/>
          <p:cNvGrpSpPr/>
          <p:nvPr/>
        </p:nvGrpSpPr>
        <p:grpSpPr>
          <a:xfrm rot="5400000">
            <a:off x="12092481" y="5456881"/>
            <a:ext cx="447147" cy="1257778"/>
            <a:chOff x="0" y="0"/>
            <a:chExt cx="628599" cy="1768183"/>
          </a:xfrm>
        </p:grpSpPr>
        <p:sp>
          <p:nvSpPr>
            <p:cNvPr name="Freeform 36" id="36"/>
            <p:cNvSpPr/>
            <p:nvPr/>
          </p:nvSpPr>
          <p:spPr>
            <a:xfrm flipH="false" flipV="false" rot="0">
              <a:off x="0" y="0"/>
              <a:ext cx="628650" cy="1768221"/>
            </a:xfrm>
            <a:custGeom>
              <a:avLst/>
              <a:gdLst/>
              <a:ahLst/>
              <a:cxnLst/>
              <a:rect r="r" b="b" t="t" l="l"/>
              <a:pathLst>
                <a:path h="1768221" w="628650">
                  <a:moveTo>
                    <a:pt x="0" y="0"/>
                  </a:moveTo>
                  <a:lnTo>
                    <a:pt x="628650" y="0"/>
                  </a:lnTo>
                  <a:lnTo>
                    <a:pt x="628650" y="1768221"/>
                  </a:lnTo>
                  <a:lnTo>
                    <a:pt x="0" y="1768221"/>
                  </a:lnTo>
                  <a:close/>
                </a:path>
              </a:pathLst>
            </a:custGeom>
            <a:solidFill>
              <a:srgbClr val="AFABAB">
                <a:alpha val="56078"/>
              </a:srgbClr>
            </a:solidFill>
            <a:ln w="19050" cap="sq">
              <a:solidFill>
                <a:srgbClr val="767171"/>
              </a:solidFill>
              <a:prstDash val="solid"/>
              <a:miter/>
            </a:ln>
          </p:spPr>
        </p:sp>
      </p:grpSp>
      <p:grpSp>
        <p:nvGrpSpPr>
          <p:cNvPr name="Group 37" id="37"/>
          <p:cNvGrpSpPr/>
          <p:nvPr/>
        </p:nvGrpSpPr>
        <p:grpSpPr>
          <a:xfrm rot="0">
            <a:off x="12829855" y="5462292"/>
            <a:ext cx="1259711" cy="1246955"/>
            <a:chOff x="0" y="0"/>
            <a:chExt cx="1770901" cy="1752968"/>
          </a:xfrm>
        </p:grpSpPr>
        <p:sp>
          <p:nvSpPr>
            <p:cNvPr name="Freeform 38" id="38"/>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39" id="39"/>
          <p:cNvGrpSpPr/>
          <p:nvPr/>
        </p:nvGrpSpPr>
        <p:grpSpPr>
          <a:xfrm rot="0">
            <a:off x="11083329" y="6491843"/>
            <a:ext cx="447147" cy="803123"/>
            <a:chOff x="0" y="0"/>
            <a:chExt cx="628599" cy="1129030"/>
          </a:xfrm>
        </p:grpSpPr>
        <p:sp>
          <p:nvSpPr>
            <p:cNvPr name="Freeform 40" id="40"/>
            <p:cNvSpPr/>
            <p:nvPr/>
          </p:nvSpPr>
          <p:spPr>
            <a:xfrm flipH="false" flipV="false" rot="0">
              <a:off x="0" y="0"/>
              <a:ext cx="628650" cy="1129030"/>
            </a:xfrm>
            <a:custGeom>
              <a:avLst/>
              <a:gdLst/>
              <a:ahLst/>
              <a:cxnLst/>
              <a:rect r="r" b="b" t="t" l="l"/>
              <a:pathLst>
                <a:path h="1129030" w="628650">
                  <a:moveTo>
                    <a:pt x="0" y="0"/>
                  </a:moveTo>
                  <a:lnTo>
                    <a:pt x="628650" y="0"/>
                  </a:lnTo>
                  <a:lnTo>
                    <a:pt x="628650" y="1129030"/>
                  </a:lnTo>
                  <a:lnTo>
                    <a:pt x="0" y="1129030"/>
                  </a:lnTo>
                  <a:close/>
                </a:path>
              </a:pathLst>
            </a:custGeom>
            <a:solidFill>
              <a:srgbClr val="AFABAB">
                <a:alpha val="56078"/>
              </a:srgbClr>
            </a:solidFill>
            <a:ln w="19050" cap="sq">
              <a:solidFill>
                <a:srgbClr val="767171"/>
              </a:solidFill>
              <a:prstDash val="solid"/>
              <a:miter/>
            </a:ln>
          </p:spPr>
        </p:sp>
      </p:grpSp>
      <p:grpSp>
        <p:nvGrpSpPr>
          <p:cNvPr name="Group 41" id="41"/>
          <p:cNvGrpSpPr/>
          <p:nvPr/>
        </p:nvGrpSpPr>
        <p:grpSpPr>
          <a:xfrm rot="0">
            <a:off x="15336493" y="6491843"/>
            <a:ext cx="447147" cy="803123"/>
            <a:chOff x="0" y="0"/>
            <a:chExt cx="628599" cy="1129030"/>
          </a:xfrm>
        </p:grpSpPr>
        <p:sp>
          <p:nvSpPr>
            <p:cNvPr name="Freeform 42" id="42"/>
            <p:cNvSpPr/>
            <p:nvPr/>
          </p:nvSpPr>
          <p:spPr>
            <a:xfrm flipH="false" flipV="false" rot="0">
              <a:off x="0" y="0"/>
              <a:ext cx="628650" cy="1129030"/>
            </a:xfrm>
            <a:custGeom>
              <a:avLst/>
              <a:gdLst/>
              <a:ahLst/>
              <a:cxnLst/>
              <a:rect r="r" b="b" t="t" l="l"/>
              <a:pathLst>
                <a:path h="1129030" w="628650">
                  <a:moveTo>
                    <a:pt x="0" y="0"/>
                  </a:moveTo>
                  <a:lnTo>
                    <a:pt x="628650" y="0"/>
                  </a:lnTo>
                  <a:lnTo>
                    <a:pt x="628650" y="1129030"/>
                  </a:lnTo>
                  <a:lnTo>
                    <a:pt x="0" y="1129030"/>
                  </a:lnTo>
                  <a:close/>
                </a:path>
              </a:pathLst>
            </a:custGeom>
            <a:solidFill>
              <a:srgbClr val="AFABAB">
                <a:alpha val="56078"/>
              </a:srgbClr>
            </a:solidFill>
            <a:ln w="19050" cap="sq">
              <a:solidFill>
                <a:srgbClr val="767171"/>
              </a:solidFill>
              <a:prstDash val="solid"/>
              <a:miter/>
            </a:ln>
          </p:spPr>
        </p:sp>
      </p:grpSp>
      <p:grpSp>
        <p:nvGrpSpPr>
          <p:cNvPr name="Group 43" id="43"/>
          <p:cNvGrpSpPr/>
          <p:nvPr/>
        </p:nvGrpSpPr>
        <p:grpSpPr>
          <a:xfrm rot="0">
            <a:off x="14930216" y="5469221"/>
            <a:ext cx="1259711" cy="1246955"/>
            <a:chOff x="0" y="0"/>
            <a:chExt cx="1770901" cy="1752968"/>
          </a:xfrm>
        </p:grpSpPr>
        <p:sp>
          <p:nvSpPr>
            <p:cNvPr name="Freeform 44" id="44"/>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45" id="45"/>
          <p:cNvGrpSpPr/>
          <p:nvPr/>
        </p:nvGrpSpPr>
        <p:grpSpPr>
          <a:xfrm rot="0">
            <a:off x="10670077" y="5462292"/>
            <a:ext cx="1259711" cy="1246955"/>
            <a:chOff x="0" y="0"/>
            <a:chExt cx="1770901" cy="1752968"/>
          </a:xfrm>
        </p:grpSpPr>
        <p:sp>
          <p:nvSpPr>
            <p:cNvPr name="Freeform 46" id="46"/>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47" id="47"/>
          <p:cNvGrpSpPr/>
          <p:nvPr/>
        </p:nvGrpSpPr>
        <p:grpSpPr>
          <a:xfrm rot="6769020">
            <a:off x="12131346" y="7505459"/>
            <a:ext cx="447147" cy="1361660"/>
            <a:chOff x="0" y="0"/>
            <a:chExt cx="628599" cy="1914220"/>
          </a:xfrm>
        </p:grpSpPr>
        <p:sp>
          <p:nvSpPr>
            <p:cNvPr name="Freeform 48" id="48"/>
            <p:cNvSpPr/>
            <p:nvPr/>
          </p:nvSpPr>
          <p:spPr>
            <a:xfrm flipH="false" flipV="false" rot="0">
              <a:off x="0" y="0"/>
              <a:ext cx="628650" cy="1914271"/>
            </a:xfrm>
            <a:custGeom>
              <a:avLst/>
              <a:gdLst/>
              <a:ahLst/>
              <a:cxnLst/>
              <a:rect r="r" b="b" t="t" l="l"/>
              <a:pathLst>
                <a:path h="1914271" w="628650">
                  <a:moveTo>
                    <a:pt x="0" y="0"/>
                  </a:moveTo>
                  <a:lnTo>
                    <a:pt x="628650" y="0"/>
                  </a:lnTo>
                  <a:lnTo>
                    <a:pt x="628650" y="1914271"/>
                  </a:lnTo>
                  <a:lnTo>
                    <a:pt x="0" y="1914271"/>
                  </a:lnTo>
                  <a:close/>
                </a:path>
              </a:pathLst>
            </a:custGeom>
            <a:solidFill>
              <a:srgbClr val="AFABAB">
                <a:alpha val="56078"/>
              </a:srgbClr>
            </a:solidFill>
            <a:ln w="19050" cap="sq">
              <a:solidFill>
                <a:srgbClr val="767171"/>
              </a:solidFill>
              <a:prstDash val="solid"/>
              <a:miter/>
            </a:ln>
          </p:spPr>
        </p:sp>
      </p:grpSp>
      <p:grpSp>
        <p:nvGrpSpPr>
          <p:cNvPr name="Group 49" id="49"/>
          <p:cNvGrpSpPr/>
          <p:nvPr/>
        </p:nvGrpSpPr>
        <p:grpSpPr>
          <a:xfrm rot="0">
            <a:off x="10677051" y="7096544"/>
            <a:ext cx="1259711" cy="1246955"/>
            <a:chOff x="0" y="0"/>
            <a:chExt cx="1770901" cy="1752968"/>
          </a:xfrm>
        </p:grpSpPr>
        <p:sp>
          <p:nvSpPr>
            <p:cNvPr name="Freeform 50" id="50"/>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51" id="51"/>
          <p:cNvGrpSpPr/>
          <p:nvPr/>
        </p:nvGrpSpPr>
        <p:grpSpPr>
          <a:xfrm rot="3998100">
            <a:off x="14331966" y="7526192"/>
            <a:ext cx="447147" cy="1361660"/>
            <a:chOff x="0" y="0"/>
            <a:chExt cx="628599" cy="1914220"/>
          </a:xfrm>
        </p:grpSpPr>
        <p:sp>
          <p:nvSpPr>
            <p:cNvPr name="Freeform 52" id="52"/>
            <p:cNvSpPr/>
            <p:nvPr/>
          </p:nvSpPr>
          <p:spPr>
            <a:xfrm flipH="false" flipV="false" rot="0">
              <a:off x="0" y="0"/>
              <a:ext cx="628650" cy="1914271"/>
            </a:xfrm>
            <a:custGeom>
              <a:avLst/>
              <a:gdLst/>
              <a:ahLst/>
              <a:cxnLst/>
              <a:rect r="r" b="b" t="t" l="l"/>
              <a:pathLst>
                <a:path h="1914271" w="628650">
                  <a:moveTo>
                    <a:pt x="0" y="0"/>
                  </a:moveTo>
                  <a:lnTo>
                    <a:pt x="628650" y="0"/>
                  </a:lnTo>
                  <a:lnTo>
                    <a:pt x="628650" y="1914271"/>
                  </a:lnTo>
                  <a:lnTo>
                    <a:pt x="0" y="1914271"/>
                  </a:lnTo>
                  <a:close/>
                </a:path>
              </a:pathLst>
            </a:custGeom>
            <a:solidFill>
              <a:srgbClr val="AFABAB">
                <a:alpha val="56078"/>
              </a:srgbClr>
            </a:solidFill>
            <a:ln w="19050" cap="sq">
              <a:solidFill>
                <a:srgbClr val="767171"/>
              </a:solidFill>
              <a:prstDash val="solid"/>
              <a:miter/>
            </a:ln>
          </p:spPr>
        </p:sp>
      </p:grpSp>
      <p:grpSp>
        <p:nvGrpSpPr>
          <p:cNvPr name="Group 53" id="53"/>
          <p:cNvGrpSpPr/>
          <p:nvPr/>
        </p:nvGrpSpPr>
        <p:grpSpPr>
          <a:xfrm rot="0">
            <a:off x="14930216" y="7086570"/>
            <a:ext cx="1259711" cy="1246955"/>
            <a:chOff x="0" y="0"/>
            <a:chExt cx="1770901" cy="1752968"/>
          </a:xfrm>
        </p:grpSpPr>
        <p:sp>
          <p:nvSpPr>
            <p:cNvPr name="Freeform 54" id="54"/>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55" id="55"/>
          <p:cNvGrpSpPr/>
          <p:nvPr/>
        </p:nvGrpSpPr>
        <p:grpSpPr>
          <a:xfrm rot="0">
            <a:off x="12825699" y="7864308"/>
            <a:ext cx="1259711" cy="1246955"/>
            <a:chOff x="0" y="0"/>
            <a:chExt cx="1770901" cy="1752968"/>
          </a:xfrm>
        </p:grpSpPr>
        <p:sp>
          <p:nvSpPr>
            <p:cNvPr name="Freeform 56" id="56"/>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AFABAB">
                <a:alpha val="56078"/>
              </a:srgbClr>
            </a:solidFill>
            <a:ln w="19050" cap="sq">
              <a:solidFill>
                <a:srgbClr val="767171"/>
              </a:solidFill>
              <a:prstDash val="solid"/>
              <a:miter/>
            </a:ln>
          </p:spPr>
        </p:sp>
      </p:grpSp>
      <p:grpSp>
        <p:nvGrpSpPr>
          <p:cNvPr name="Group 57" id="57"/>
          <p:cNvGrpSpPr/>
          <p:nvPr/>
        </p:nvGrpSpPr>
        <p:grpSpPr>
          <a:xfrm rot="0">
            <a:off x="12855421" y="1721933"/>
            <a:ext cx="193436" cy="193436"/>
            <a:chOff x="0" y="0"/>
            <a:chExt cx="271932" cy="271932"/>
          </a:xfrm>
        </p:grpSpPr>
        <p:sp>
          <p:nvSpPr>
            <p:cNvPr name="Freeform 58" id="58"/>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59" id="59"/>
          <p:cNvGrpSpPr/>
          <p:nvPr/>
        </p:nvGrpSpPr>
        <p:grpSpPr>
          <a:xfrm rot="0">
            <a:off x="13369772" y="3856534"/>
            <a:ext cx="193436" cy="193436"/>
            <a:chOff x="0" y="0"/>
            <a:chExt cx="271932" cy="271932"/>
          </a:xfrm>
        </p:grpSpPr>
        <p:sp>
          <p:nvSpPr>
            <p:cNvPr name="Freeform 60" id="60"/>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1" id="61"/>
          <p:cNvGrpSpPr/>
          <p:nvPr/>
        </p:nvGrpSpPr>
        <p:grpSpPr>
          <a:xfrm rot="0">
            <a:off x="10914646" y="3489861"/>
            <a:ext cx="193436" cy="193436"/>
            <a:chOff x="0" y="0"/>
            <a:chExt cx="271932" cy="271932"/>
          </a:xfrm>
        </p:grpSpPr>
        <p:sp>
          <p:nvSpPr>
            <p:cNvPr name="Freeform 62" id="62"/>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3" id="63"/>
          <p:cNvGrpSpPr/>
          <p:nvPr/>
        </p:nvGrpSpPr>
        <p:grpSpPr>
          <a:xfrm rot="0">
            <a:off x="15872716" y="3553623"/>
            <a:ext cx="193436" cy="193436"/>
            <a:chOff x="0" y="0"/>
            <a:chExt cx="271932" cy="271932"/>
          </a:xfrm>
        </p:grpSpPr>
        <p:sp>
          <p:nvSpPr>
            <p:cNvPr name="Freeform 64" id="64"/>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5" id="65"/>
          <p:cNvGrpSpPr/>
          <p:nvPr/>
        </p:nvGrpSpPr>
        <p:grpSpPr>
          <a:xfrm rot="0">
            <a:off x="13385708" y="5992814"/>
            <a:ext cx="193436" cy="193436"/>
            <a:chOff x="0" y="0"/>
            <a:chExt cx="271932" cy="271932"/>
          </a:xfrm>
        </p:grpSpPr>
        <p:sp>
          <p:nvSpPr>
            <p:cNvPr name="Freeform 66" id="66"/>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7" id="67"/>
          <p:cNvGrpSpPr/>
          <p:nvPr/>
        </p:nvGrpSpPr>
        <p:grpSpPr>
          <a:xfrm rot="0">
            <a:off x="10739278" y="5992814"/>
            <a:ext cx="193436" cy="193436"/>
            <a:chOff x="0" y="0"/>
            <a:chExt cx="271932" cy="271932"/>
          </a:xfrm>
        </p:grpSpPr>
        <p:sp>
          <p:nvSpPr>
            <p:cNvPr name="Freeform 68" id="68"/>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69" id="69"/>
          <p:cNvGrpSpPr/>
          <p:nvPr/>
        </p:nvGrpSpPr>
        <p:grpSpPr>
          <a:xfrm rot="0">
            <a:off x="15872725" y="5992814"/>
            <a:ext cx="193436" cy="193436"/>
            <a:chOff x="0" y="0"/>
            <a:chExt cx="271932" cy="271932"/>
          </a:xfrm>
        </p:grpSpPr>
        <p:sp>
          <p:nvSpPr>
            <p:cNvPr name="Freeform 70" id="70"/>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1" id="71"/>
          <p:cNvGrpSpPr/>
          <p:nvPr/>
        </p:nvGrpSpPr>
        <p:grpSpPr>
          <a:xfrm rot="0">
            <a:off x="10834930" y="7874010"/>
            <a:ext cx="193436" cy="193436"/>
            <a:chOff x="0" y="0"/>
            <a:chExt cx="271932" cy="271932"/>
          </a:xfrm>
        </p:grpSpPr>
        <p:sp>
          <p:nvSpPr>
            <p:cNvPr name="Freeform 72" id="72"/>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3" id="73"/>
          <p:cNvGrpSpPr/>
          <p:nvPr/>
        </p:nvGrpSpPr>
        <p:grpSpPr>
          <a:xfrm rot="0">
            <a:off x="15793009" y="7969662"/>
            <a:ext cx="193436" cy="193436"/>
            <a:chOff x="0" y="0"/>
            <a:chExt cx="271932" cy="271932"/>
          </a:xfrm>
        </p:grpSpPr>
        <p:sp>
          <p:nvSpPr>
            <p:cNvPr name="Freeform 74" id="74"/>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5" id="75"/>
          <p:cNvGrpSpPr/>
          <p:nvPr/>
        </p:nvGrpSpPr>
        <p:grpSpPr>
          <a:xfrm rot="0">
            <a:off x="13353827" y="8910265"/>
            <a:ext cx="193436" cy="193436"/>
            <a:chOff x="0" y="0"/>
            <a:chExt cx="271932" cy="271932"/>
          </a:xfrm>
        </p:grpSpPr>
        <p:sp>
          <p:nvSpPr>
            <p:cNvPr name="Freeform 76" id="76"/>
            <p:cNvSpPr/>
            <p:nvPr/>
          </p:nvSpPr>
          <p:spPr>
            <a:xfrm flipH="false" flipV="false" rot="0">
              <a:off x="0" y="0"/>
              <a:ext cx="271907" cy="271907"/>
            </a:xfrm>
            <a:custGeom>
              <a:avLst/>
              <a:gdLst/>
              <a:ahLst/>
              <a:cxnLst/>
              <a:rect r="r" b="b" t="t" l="l"/>
              <a:pathLst>
                <a:path h="271907" w="271907">
                  <a:moveTo>
                    <a:pt x="0" y="0"/>
                  </a:moveTo>
                  <a:lnTo>
                    <a:pt x="271907" y="0"/>
                  </a:lnTo>
                  <a:lnTo>
                    <a:pt x="271907" y="271907"/>
                  </a:lnTo>
                  <a:lnTo>
                    <a:pt x="0" y="271907"/>
                  </a:lnTo>
                  <a:close/>
                </a:path>
              </a:pathLst>
            </a:custGeom>
            <a:solidFill>
              <a:srgbClr val="FF0000"/>
            </a:solidFill>
            <a:ln w="19050" cap="sq">
              <a:solidFill>
                <a:srgbClr val="223F59"/>
              </a:solidFill>
              <a:prstDash val="solid"/>
              <a:miter/>
            </a:ln>
          </p:spPr>
        </p:sp>
      </p:grpSp>
      <p:grpSp>
        <p:nvGrpSpPr>
          <p:cNvPr name="Group 77" id="77"/>
          <p:cNvGrpSpPr/>
          <p:nvPr/>
        </p:nvGrpSpPr>
        <p:grpSpPr>
          <a:xfrm rot="2820000">
            <a:off x="14332734" y="3965899"/>
            <a:ext cx="494973" cy="2102728"/>
            <a:chOff x="0" y="0"/>
            <a:chExt cx="695833" cy="2956014"/>
          </a:xfrm>
        </p:grpSpPr>
        <p:sp>
          <p:nvSpPr>
            <p:cNvPr name="Freeform 78" id="78"/>
            <p:cNvSpPr/>
            <p:nvPr/>
          </p:nvSpPr>
          <p:spPr>
            <a:xfrm flipH="false" flipV="false" rot="0">
              <a:off x="0" y="0"/>
              <a:ext cx="695833" cy="2956052"/>
            </a:xfrm>
            <a:custGeom>
              <a:avLst/>
              <a:gdLst/>
              <a:ahLst/>
              <a:cxnLst/>
              <a:rect r="r" b="b" t="t" l="l"/>
              <a:pathLst>
                <a:path h="2956052" w="695833">
                  <a:moveTo>
                    <a:pt x="0" y="0"/>
                  </a:moveTo>
                  <a:lnTo>
                    <a:pt x="695833" y="0"/>
                  </a:lnTo>
                  <a:lnTo>
                    <a:pt x="695833" y="2956052"/>
                  </a:lnTo>
                  <a:lnTo>
                    <a:pt x="0" y="2956052"/>
                  </a:lnTo>
                  <a:close/>
                </a:path>
              </a:pathLst>
            </a:custGeom>
            <a:solidFill>
              <a:srgbClr val="AFABAB">
                <a:alpha val="56078"/>
              </a:srgbClr>
            </a:solidFill>
            <a:ln w="19050" cap="sq">
              <a:solidFill>
                <a:srgbClr val="767171"/>
              </a:solidFill>
              <a:prstDash val="solid"/>
              <a:miter/>
            </a:ln>
          </p:spPr>
        </p:sp>
      </p:grpSp>
      <p:sp>
        <p:nvSpPr>
          <p:cNvPr name="TextBox 79" id="79"/>
          <p:cNvSpPr txBox="true"/>
          <p:nvPr/>
        </p:nvSpPr>
        <p:spPr>
          <a:xfrm rot="0">
            <a:off x="13341658" y="1515223"/>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1</a:t>
            </a:r>
          </a:p>
        </p:txBody>
      </p:sp>
      <p:sp>
        <p:nvSpPr>
          <p:cNvPr name="TextBox 80" id="80"/>
          <p:cNvSpPr txBox="true"/>
          <p:nvPr/>
        </p:nvSpPr>
        <p:spPr>
          <a:xfrm rot="0">
            <a:off x="13648471" y="3703838"/>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2</a:t>
            </a:r>
          </a:p>
        </p:txBody>
      </p:sp>
      <p:sp>
        <p:nvSpPr>
          <p:cNvPr name="TextBox 81" id="81"/>
          <p:cNvSpPr txBox="true"/>
          <p:nvPr/>
        </p:nvSpPr>
        <p:spPr>
          <a:xfrm rot="0">
            <a:off x="15427999" y="3765197"/>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3</a:t>
            </a:r>
          </a:p>
        </p:txBody>
      </p:sp>
      <p:sp>
        <p:nvSpPr>
          <p:cNvPr name="TextBox 82" id="82"/>
          <p:cNvSpPr txBox="true"/>
          <p:nvPr/>
        </p:nvSpPr>
        <p:spPr>
          <a:xfrm rot="0">
            <a:off x="11112138" y="3765197"/>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4</a:t>
            </a:r>
          </a:p>
        </p:txBody>
      </p:sp>
      <p:sp>
        <p:nvSpPr>
          <p:cNvPr name="TextBox 83" id="83"/>
          <p:cNvSpPr txBox="true"/>
          <p:nvPr/>
        </p:nvSpPr>
        <p:spPr>
          <a:xfrm rot="0">
            <a:off x="13321205" y="8285605"/>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10</a:t>
            </a:r>
          </a:p>
        </p:txBody>
      </p:sp>
      <p:sp>
        <p:nvSpPr>
          <p:cNvPr name="TextBox 84" id="84"/>
          <p:cNvSpPr txBox="true"/>
          <p:nvPr/>
        </p:nvSpPr>
        <p:spPr>
          <a:xfrm rot="0">
            <a:off x="11173497" y="7487885"/>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9</a:t>
            </a:r>
          </a:p>
        </p:txBody>
      </p:sp>
      <p:sp>
        <p:nvSpPr>
          <p:cNvPr name="TextBox 85" id="85"/>
          <p:cNvSpPr txBox="true"/>
          <p:nvPr/>
        </p:nvSpPr>
        <p:spPr>
          <a:xfrm rot="0">
            <a:off x="15468914" y="7487885"/>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8</a:t>
            </a:r>
          </a:p>
        </p:txBody>
      </p:sp>
      <p:sp>
        <p:nvSpPr>
          <p:cNvPr name="TextBox 86" id="86"/>
          <p:cNvSpPr txBox="true"/>
          <p:nvPr/>
        </p:nvSpPr>
        <p:spPr>
          <a:xfrm rot="0">
            <a:off x="11173497" y="5831084"/>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7</a:t>
            </a:r>
          </a:p>
        </p:txBody>
      </p:sp>
      <p:sp>
        <p:nvSpPr>
          <p:cNvPr name="TextBox 87" id="87"/>
          <p:cNvSpPr txBox="true"/>
          <p:nvPr/>
        </p:nvSpPr>
        <p:spPr>
          <a:xfrm rot="0">
            <a:off x="15489367" y="5892452"/>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6</a:t>
            </a:r>
          </a:p>
        </p:txBody>
      </p:sp>
      <p:sp>
        <p:nvSpPr>
          <p:cNvPr name="TextBox 88" id="88"/>
          <p:cNvSpPr txBox="true"/>
          <p:nvPr/>
        </p:nvSpPr>
        <p:spPr>
          <a:xfrm rot="0">
            <a:off x="13096205" y="5831084"/>
            <a:ext cx="619778" cy="448243"/>
          </a:xfrm>
          <a:prstGeom prst="rect">
            <a:avLst/>
          </a:prstGeom>
        </p:spPr>
        <p:txBody>
          <a:bodyPr anchor="t" rtlCol="false" tIns="0" lIns="0" bIns="0" rIns="0">
            <a:spAutoFit/>
          </a:bodyPr>
          <a:lstStyle/>
          <a:p>
            <a:pPr algn="l">
              <a:lnSpc>
                <a:spcPts val="3072"/>
              </a:lnSpc>
            </a:pPr>
            <a:r>
              <a:rPr lang="en-US" sz="2560">
                <a:solidFill>
                  <a:srgbClr val="000000"/>
                </a:solidFill>
                <a:latin typeface="Arimo"/>
                <a:ea typeface="Arimo"/>
                <a:cs typeface="Arimo"/>
                <a:sym typeface="Arimo"/>
              </a:rPr>
              <a:t>5</a:t>
            </a:r>
          </a:p>
        </p:txBody>
      </p:sp>
      <p:sp>
        <p:nvSpPr>
          <p:cNvPr name="TextBox 89" id="89"/>
          <p:cNvSpPr txBox="true"/>
          <p:nvPr/>
        </p:nvSpPr>
        <p:spPr>
          <a:xfrm rot="0">
            <a:off x="1384300" y="1827212"/>
            <a:ext cx="6299200" cy="1209677"/>
          </a:xfrm>
          <a:prstGeom prst="rect">
            <a:avLst/>
          </a:prstGeom>
        </p:spPr>
        <p:txBody>
          <a:bodyPr anchor="t" rtlCol="false" tIns="0" lIns="0" bIns="0" rIns="0">
            <a:spAutoFit/>
          </a:bodyPr>
          <a:lstStyle/>
          <a:p>
            <a:pPr algn="l" marL="0" indent="0" lvl="0">
              <a:lnSpc>
                <a:spcPts val="8925"/>
              </a:lnSpc>
            </a:pPr>
            <a:r>
              <a:rPr lang="en-US" sz="8500">
                <a:solidFill>
                  <a:srgbClr val="000000"/>
                </a:solidFill>
                <a:latin typeface="Arimo"/>
                <a:ea typeface="Arimo"/>
                <a:cs typeface="Arimo"/>
                <a:sym typeface="Arimo"/>
              </a:rPr>
              <a:t>맵기믹</a:t>
            </a:r>
          </a:p>
        </p:txBody>
      </p:sp>
      <p:sp>
        <p:nvSpPr>
          <p:cNvPr name="TextBox 90" id="90"/>
          <p:cNvSpPr txBox="true"/>
          <p:nvPr/>
        </p:nvSpPr>
        <p:spPr>
          <a:xfrm rot="0">
            <a:off x="1384300" y="5484812"/>
            <a:ext cx="6299200" cy="3060700"/>
          </a:xfrm>
          <a:prstGeom prst="rect">
            <a:avLst/>
          </a:prstGeom>
        </p:spPr>
        <p:txBody>
          <a:bodyPr anchor="t" rtlCol="false" tIns="0" lIns="0" bIns="0" rIns="0">
            <a:spAutoFit/>
          </a:bodyPr>
          <a:lstStyle/>
          <a:p>
            <a:pPr algn="l">
              <a:lnSpc>
                <a:spcPts val="3499"/>
              </a:lnSpc>
            </a:pPr>
            <a:r>
              <a:rPr lang="en-US" sz="2499">
                <a:solidFill>
                  <a:srgbClr val="000000"/>
                </a:solidFill>
                <a:latin typeface="Arimo"/>
                <a:ea typeface="Arimo"/>
                <a:cs typeface="Arimo"/>
                <a:sym typeface="Arimo"/>
              </a:rPr>
              <a:t>컨셉:</a:t>
            </a:r>
          </a:p>
          <a:p>
            <a:pPr algn="l">
              <a:lnSpc>
                <a:spcPts val="3499"/>
              </a:lnSpc>
            </a:pPr>
            <a:r>
              <a:rPr lang="en-US" sz="2499">
                <a:solidFill>
                  <a:srgbClr val="000000"/>
                </a:solidFill>
                <a:latin typeface="Arimo"/>
                <a:ea typeface="Arimo"/>
                <a:cs typeface="Arimo"/>
                <a:sym typeface="Arimo"/>
              </a:rPr>
              <a:t>'마음'에게 휘둘리는 상태에서 벗어나 제대로 된 세상의 모습을 볼 수 있게 되는 것</a:t>
            </a:r>
          </a:p>
          <a:p>
            <a:pPr algn="l">
              <a:lnSpc>
                <a:spcPts val="3499"/>
              </a:lnSpc>
            </a:pPr>
            <a:r>
              <a:rPr lang="en-US" sz="2499">
                <a:solidFill>
                  <a:srgbClr val="000000"/>
                </a:solidFill>
                <a:latin typeface="Arimo"/>
                <a:ea typeface="Arimo"/>
                <a:cs typeface="Arimo"/>
                <a:sym typeface="Arimo"/>
              </a:rPr>
              <a:t>순서는 불타는검의 역순</a:t>
            </a:r>
          </a:p>
          <a:p>
            <a:pPr algn="l">
              <a:lnSpc>
                <a:spcPts val="3499"/>
              </a:lnSpc>
            </a:pPr>
          </a:p>
          <a:p>
            <a:pPr algn="l" marL="0" indent="0" lvl="0">
              <a:lnSpc>
                <a:spcPts val="3499"/>
              </a:lnSpc>
            </a:pPr>
            <a:r>
              <a:rPr lang="en-US" sz="2499">
                <a:solidFill>
                  <a:srgbClr val="000000"/>
                </a:solidFill>
                <a:latin typeface="Arimo"/>
                <a:ea typeface="Arimo"/>
                <a:cs typeface="Arimo"/>
                <a:sym typeface="Arimo"/>
              </a:rPr>
              <a:t>순서대로 누를시 PC강화</a:t>
            </a:r>
          </a:p>
          <a:p>
            <a:pPr algn="l" marL="0" indent="0" lvl="0">
              <a:lnSpc>
                <a:spcPts val="3499"/>
              </a:lnSpc>
            </a:pPr>
          </a:p>
        </p:txBody>
      </p:sp>
      <p:sp>
        <p:nvSpPr>
          <p:cNvPr name="TextBox 91" id="91"/>
          <p:cNvSpPr txBox="true"/>
          <p:nvPr/>
        </p:nvSpPr>
        <p:spPr>
          <a:xfrm rot="0">
            <a:off x="1397001" y="4532312"/>
            <a:ext cx="6202892" cy="533400"/>
          </a:xfrm>
          <a:prstGeom prst="rect">
            <a:avLst/>
          </a:prstGeom>
        </p:spPr>
        <p:txBody>
          <a:bodyPr anchor="t" rtlCol="false" tIns="0" lIns="0" bIns="0" rIns="0">
            <a:spAutoFit/>
          </a:bodyPr>
          <a:lstStyle/>
          <a:p>
            <a:pPr algn="l" marL="0" indent="0" lvl="0">
              <a:lnSpc>
                <a:spcPts val="4200"/>
              </a:lnSpc>
            </a:pPr>
            <a:r>
              <a:rPr lang="en-US" sz="3000">
                <a:solidFill>
                  <a:srgbClr val="000000"/>
                </a:solidFill>
                <a:latin typeface="Arimo"/>
                <a:ea typeface="Arimo"/>
                <a:cs typeface="Arimo"/>
                <a:sym typeface="Arimo"/>
              </a:rPr>
              <a:t>지혜의 뱀(이스터에그)</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67" y="8534"/>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38100"/>
              <a:ext cx="21031200" cy="2613025"/>
            </a:xfrm>
            <a:prstGeom prst="rect">
              <a:avLst/>
            </a:prstGeom>
          </p:spPr>
          <p:txBody>
            <a:bodyPr anchor="ctr" rtlCol="false" tIns="0" lIns="0" bIns="0" rIns="0"/>
            <a:lstStyle/>
            <a:p>
              <a:pPr algn="l">
                <a:lnSpc>
                  <a:spcPts val="7128"/>
                </a:lnSpc>
              </a:pPr>
              <a:r>
                <a:rPr lang="en-US" sz="6600">
                  <a:solidFill>
                    <a:srgbClr val="000000"/>
                  </a:solidFill>
                  <a:latin typeface="Arimo"/>
                  <a:ea typeface="Arimo"/>
                  <a:cs typeface="Arimo"/>
                  <a:sym typeface="Arimo"/>
                </a:rPr>
                <a:t>맵 컨셉 2(시간 관리국)</a:t>
              </a:r>
            </a:p>
          </p:txBody>
        </p:sp>
      </p:grpSp>
      <p:grpSp>
        <p:nvGrpSpPr>
          <p:cNvPr name="Group 5" id="5"/>
          <p:cNvGrpSpPr/>
          <p:nvPr/>
        </p:nvGrpSpPr>
        <p:grpSpPr>
          <a:xfrm rot="0">
            <a:off x="6670257" y="3759994"/>
            <a:ext cx="11619195" cy="6527006"/>
            <a:chOff x="0" y="0"/>
            <a:chExt cx="15492260" cy="8702675"/>
          </a:xfrm>
        </p:grpSpPr>
        <p:sp>
          <p:nvSpPr>
            <p:cNvPr name="Freeform 6" id="6" descr="텍스트, 실내, 여러 가지, 다양함이(가) 표시된 사진  AI 생성 콘텐츠는 정확하지 않을 수 있습니다."/>
            <p:cNvSpPr/>
            <p:nvPr/>
          </p:nvSpPr>
          <p:spPr>
            <a:xfrm flipH="false" flipV="false" rot="0">
              <a:off x="0" y="0"/>
              <a:ext cx="15492222" cy="8702675"/>
            </a:xfrm>
            <a:custGeom>
              <a:avLst/>
              <a:gdLst/>
              <a:ahLst/>
              <a:cxnLst/>
              <a:rect r="r" b="b" t="t" l="l"/>
              <a:pathLst>
                <a:path h="8702675" w="15492222">
                  <a:moveTo>
                    <a:pt x="0" y="0"/>
                  </a:moveTo>
                  <a:lnTo>
                    <a:pt x="15492222" y="0"/>
                  </a:lnTo>
                  <a:lnTo>
                    <a:pt x="15492222" y="8702675"/>
                  </a:lnTo>
                  <a:lnTo>
                    <a:pt x="0" y="8702675"/>
                  </a:lnTo>
                  <a:lnTo>
                    <a:pt x="0" y="0"/>
                  </a:lnTo>
                  <a:close/>
                </a:path>
              </a:pathLst>
            </a:custGeom>
            <a:blipFill>
              <a:blip r:embed="rId3"/>
              <a:stretch>
                <a:fillRect l="0" t="0" r="0" b="0"/>
              </a:stretch>
            </a:blipFill>
          </p:spPr>
        </p:sp>
      </p:grpSp>
      <p:sp>
        <p:nvSpPr>
          <p:cNvPr name="TextBox 7" id="7"/>
          <p:cNvSpPr txBox="true"/>
          <p:nvPr/>
        </p:nvSpPr>
        <p:spPr>
          <a:xfrm rot="0">
            <a:off x="12001981" y="3189817"/>
            <a:ext cx="955749" cy="1121303"/>
          </a:xfrm>
          <a:prstGeom prst="rect">
            <a:avLst/>
          </a:prstGeom>
        </p:spPr>
        <p:txBody>
          <a:bodyPr anchor="t" rtlCol="false" tIns="0" lIns="0" bIns="0" rIns="0">
            <a:spAutoFit/>
          </a:bodyPr>
          <a:lstStyle/>
          <a:p>
            <a:pPr algn="l">
              <a:lnSpc>
                <a:spcPts val="4129"/>
              </a:lnSpc>
            </a:pPr>
            <a:r>
              <a:rPr lang="en-US" sz="3441">
                <a:solidFill>
                  <a:srgbClr val="000000"/>
                </a:solidFill>
                <a:latin typeface="Arimo"/>
                <a:ea typeface="Arimo"/>
                <a:cs typeface="Arimo"/>
                <a:sym typeface="Arimo"/>
              </a:rPr>
              <a:t>내견</a:t>
            </a:r>
          </a:p>
        </p:txBody>
      </p:sp>
      <p:grpSp>
        <p:nvGrpSpPr>
          <p:cNvPr name="Group 8" id="8"/>
          <p:cNvGrpSpPr/>
          <p:nvPr/>
        </p:nvGrpSpPr>
        <p:grpSpPr>
          <a:xfrm rot="0">
            <a:off x="1838" y="1977800"/>
            <a:ext cx="4458262" cy="8307800"/>
            <a:chOff x="0" y="0"/>
            <a:chExt cx="5944349" cy="11077067"/>
          </a:xfrm>
        </p:grpSpPr>
        <p:sp>
          <p:nvSpPr>
            <p:cNvPr name="Freeform 9" id="9" descr="시계, 하늘, 구름, 예술이(가) 표시된 사진  AI 생성 콘텐츠는 정확하지 않을 수 있습니다."/>
            <p:cNvSpPr/>
            <p:nvPr/>
          </p:nvSpPr>
          <p:spPr>
            <a:xfrm flipH="false" flipV="false" rot="0">
              <a:off x="0" y="0"/>
              <a:ext cx="5944362" cy="11077067"/>
            </a:xfrm>
            <a:custGeom>
              <a:avLst/>
              <a:gdLst/>
              <a:ahLst/>
              <a:cxnLst/>
              <a:rect r="r" b="b" t="t" l="l"/>
              <a:pathLst>
                <a:path h="11077067" w="5944362">
                  <a:moveTo>
                    <a:pt x="0" y="0"/>
                  </a:moveTo>
                  <a:lnTo>
                    <a:pt x="5944362" y="0"/>
                  </a:lnTo>
                  <a:lnTo>
                    <a:pt x="5944362" y="11077067"/>
                  </a:lnTo>
                  <a:lnTo>
                    <a:pt x="0" y="11077067"/>
                  </a:lnTo>
                  <a:lnTo>
                    <a:pt x="0" y="0"/>
                  </a:lnTo>
                  <a:close/>
                </a:path>
              </a:pathLst>
            </a:custGeom>
            <a:blipFill>
              <a:blip r:embed="rId4"/>
              <a:stretch>
                <a:fillRect l="-953" t="0" r="-953" b="0"/>
              </a:stretch>
            </a:blipFill>
          </p:spPr>
        </p:sp>
      </p:grpSp>
      <p:sp>
        <p:nvSpPr>
          <p:cNvPr name="TextBox 10" id="10"/>
          <p:cNvSpPr txBox="true"/>
          <p:nvPr/>
        </p:nvSpPr>
        <p:spPr>
          <a:xfrm rot="0">
            <a:off x="4862303" y="2107301"/>
            <a:ext cx="1043816" cy="1239317"/>
          </a:xfrm>
          <a:prstGeom prst="rect">
            <a:avLst/>
          </a:prstGeom>
        </p:spPr>
        <p:txBody>
          <a:bodyPr anchor="t" rtlCol="false" tIns="0" lIns="0" bIns="0" rIns="0">
            <a:spAutoFit/>
          </a:bodyPr>
          <a:lstStyle/>
          <a:p>
            <a:pPr algn="l">
              <a:lnSpc>
                <a:spcPts val="4500"/>
              </a:lnSpc>
            </a:pPr>
            <a:r>
              <a:rPr lang="en-US" sz="3750">
                <a:solidFill>
                  <a:srgbClr val="000000"/>
                </a:solidFill>
                <a:latin typeface="Arimo"/>
                <a:ea typeface="Arimo"/>
                <a:cs typeface="Arimo"/>
                <a:sym typeface="Arimo"/>
              </a:rPr>
              <a:t>외견</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35770" y="-17002"/>
            <a:ext cx="9178538" cy="10315632"/>
            <a:chOff x="0" y="0"/>
            <a:chExt cx="12238050" cy="13754176"/>
          </a:xfrm>
        </p:grpSpPr>
        <p:sp>
          <p:nvSpPr>
            <p:cNvPr name="Freeform 3" id="3" descr="사각형, 직사각형, 스크린샷, 라인이(가) 표시된 사진  AI 생성 콘텐츠는 정확하지 않을 수 있습니다."/>
            <p:cNvSpPr/>
            <p:nvPr/>
          </p:nvSpPr>
          <p:spPr>
            <a:xfrm flipH="false" flipV="false" rot="0">
              <a:off x="0" y="0"/>
              <a:ext cx="12238101" cy="13754227"/>
            </a:xfrm>
            <a:custGeom>
              <a:avLst/>
              <a:gdLst/>
              <a:ahLst/>
              <a:cxnLst/>
              <a:rect r="r" b="b" t="t" l="l"/>
              <a:pathLst>
                <a:path h="13754227" w="12238101">
                  <a:moveTo>
                    <a:pt x="0" y="0"/>
                  </a:moveTo>
                  <a:lnTo>
                    <a:pt x="12238101" y="0"/>
                  </a:lnTo>
                  <a:lnTo>
                    <a:pt x="12238101" y="13754227"/>
                  </a:lnTo>
                  <a:lnTo>
                    <a:pt x="0" y="13754227"/>
                  </a:lnTo>
                  <a:lnTo>
                    <a:pt x="0" y="0"/>
                  </a:lnTo>
                  <a:close/>
                </a:path>
              </a:pathLst>
            </a:custGeom>
            <a:blipFill>
              <a:blip r:embed="rId2"/>
              <a:stretch>
                <a:fillRect l="-866" t="0" r="-866" b="0"/>
              </a:stretch>
            </a:blipFill>
          </p:spPr>
        </p:sp>
      </p:grpSp>
      <p:grpSp>
        <p:nvGrpSpPr>
          <p:cNvPr name="Group 4" id="4"/>
          <p:cNvGrpSpPr/>
          <p:nvPr/>
        </p:nvGrpSpPr>
        <p:grpSpPr>
          <a:xfrm rot="0">
            <a:off x="3143212" y="1380477"/>
            <a:ext cx="2874426" cy="2029654"/>
            <a:chOff x="0" y="0"/>
            <a:chExt cx="3832568" cy="2706205"/>
          </a:xfrm>
        </p:grpSpPr>
        <p:sp>
          <p:nvSpPr>
            <p:cNvPr name="Freeform 5" id="5"/>
            <p:cNvSpPr/>
            <p:nvPr/>
          </p:nvSpPr>
          <p:spPr>
            <a:xfrm flipH="false" flipV="false" rot="0">
              <a:off x="0" y="0"/>
              <a:ext cx="3832566" cy="2706210"/>
            </a:xfrm>
            <a:custGeom>
              <a:avLst/>
              <a:gdLst/>
              <a:ahLst/>
              <a:cxnLst/>
              <a:rect r="r" b="b" t="t" l="l"/>
              <a:pathLst>
                <a:path h="2706210" w="3832566">
                  <a:moveTo>
                    <a:pt x="0" y="0"/>
                  </a:moveTo>
                  <a:lnTo>
                    <a:pt x="3832566" y="0"/>
                  </a:lnTo>
                  <a:lnTo>
                    <a:pt x="3832566" y="2706210"/>
                  </a:lnTo>
                  <a:lnTo>
                    <a:pt x="0" y="2706210"/>
                  </a:lnTo>
                  <a:close/>
                </a:path>
              </a:pathLst>
            </a:custGeom>
            <a:blipFill>
              <a:blip r:embed="rId3">
                <a:alphaModFix amt="0"/>
              </a:blip>
              <a:stretch>
                <a:fillRect l="-40596" t="0" r="-40596" b="0"/>
              </a:stretch>
            </a:blipFill>
          </p:spPr>
        </p:sp>
        <p:sp>
          <p:nvSpPr>
            <p:cNvPr name="TextBox 6" id="6"/>
            <p:cNvSpPr txBox="true"/>
            <p:nvPr/>
          </p:nvSpPr>
          <p:spPr>
            <a:xfrm>
              <a:off x="0" y="38100"/>
              <a:ext cx="3832568" cy="2668105"/>
            </a:xfrm>
            <a:prstGeom prst="rect">
              <a:avLst/>
            </a:prstGeom>
          </p:spPr>
          <p:txBody>
            <a:bodyPr anchor="ctr" rtlCol="false" tIns="0" lIns="0" bIns="0" rIns="0"/>
            <a:lstStyle/>
            <a:p>
              <a:pPr algn="l">
                <a:lnSpc>
                  <a:spcPts val="7128"/>
                </a:lnSpc>
              </a:pPr>
              <a:r>
                <a:rPr lang="en-US" sz="6600">
                  <a:solidFill>
                    <a:srgbClr val="000000"/>
                  </a:solidFill>
                  <a:latin typeface="Arimo"/>
                  <a:ea typeface="Arimo"/>
                  <a:cs typeface="Arimo"/>
                  <a:sym typeface="Arimo"/>
                </a:rPr>
                <a:t>보스방</a:t>
              </a:r>
            </a:p>
          </p:txBody>
        </p:sp>
      </p:grpSp>
      <p:grpSp>
        <p:nvGrpSpPr>
          <p:cNvPr name="Group 7" id="7"/>
          <p:cNvGrpSpPr/>
          <p:nvPr/>
        </p:nvGrpSpPr>
        <p:grpSpPr>
          <a:xfrm rot="0">
            <a:off x="9252623" y="459600"/>
            <a:ext cx="9076068" cy="9355293"/>
            <a:chOff x="0" y="0"/>
            <a:chExt cx="12101424" cy="12473724"/>
          </a:xfrm>
        </p:grpSpPr>
        <p:sp>
          <p:nvSpPr>
            <p:cNvPr name="Freeform 8" id="8"/>
            <p:cNvSpPr/>
            <p:nvPr/>
          </p:nvSpPr>
          <p:spPr>
            <a:xfrm flipH="false" flipV="false" rot="0">
              <a:off x="0" y="0"/>
              <a:ext cx="12101449" cy="12473686"/>
            </a:xfrm>
            <a:custGeom>
              <a:avLst/>
              <a:gdLst/>
              <a:ahLst/>
              <a:cxnLst/>
              <a:rect r="r" b="b" t="t" l="l"/>
              <a:pathLst>
                <a:path h="12473686" w="12101449">
                  <a:moveTo>
                    <a:pt x="0" y="6236843"/>
                  </a:moveTo>
                  <a:cubicBezTo>
                    <a:pt x="0" y="2792349"/>
                    <a:pt x="2709037" y="0"/>
                    <a:pt x="6050661" y="0"/>
                  </a:cubicBezTo>
                  <a:cubicBezTo>
                    <a:pt x="9392285" y="0"/>
                    <a:pt x="12101449" y="2792349"/>
                    <a:pt x="12101449" y="6236843"/>
                  </a:cubicBezTo>
                  <a:cubicBezTo>
                    <a:pt x="12101449" y="9681337"/>
                    <a:pt x="9392412" y="12473686"/>
                    <a:pt x="6050661" y="12473686"/>
                  </a:cubicBezTo>
                  <a:cubicBezTo>
                    <a:pt x="2708910" y="12473686"/>
                    <a:pt x="0" y="9681337"/>
                    <a:pt x="0" y="6236843"/>
                  </a:cubicBezTo>
                  <a:close/>
                </a:path>
              </a:pathLst>
            </a:custGeom>
            <a:blipFill>
              <a:blip r:embed="rId3">
                <a:alphaModFix amt="0"/>
              </a:blip>
              <a:stretch>
                <a:fillRect l="-82250" t="0" r="-82250" b="0"/>
              </a:stretch>
            </a:blipFill>
            <a:ln w="85725" cap="sq">
              <a:solidFill>
                <a:srgbClr val="FF0000"/>
              </a:solidFill>
              <a:prstDash val="solid"/>
              <a:miter/>
            </a:ln>
          </p:spPr>
        </p:sp>
      </p:grpSp>
      <p:grpSp>
        <p:nvGrpSpPr>
          <p:cNvPr name="Group 9" id="9"/>
          <p:cNvGrpSpPr/>
          <p:nvPr/>
        </p:nvGrpSpPr>
        <p:grpSpPr>
          <a:xfrm rot="-2460000">
            <a:off x="14328819" y="7699210"/>
            <a:ext cx="3187275" cy="2567902"/>
            <a:chOff x="0" y="0"/>
            <a:chExt cx="4249699" cy="3423869"/>
          </a:xfrm>
        </p:grpSpPr>
        <p:sp>
          <p:nvSpPr>
            <p:cNvPr name="Freeform 10" id="10"/>
            <p:cNvSpPr/>
            <p:nvPr/>
          </p:nvSpPr>
          <p:spPr>
            <a:xfrm flipH="false" flipV="false" rot="0">
              <a:off x="2124837" y="0"/>
              <a:ext cx="2124837" cy="1711960"/>
            </a:xfrm>
            <a:custGeom>
              <a:avLst/>
              <a:gdLst/>
              <a:ahLst/>
              <a:cxnLst/>
              <a:rect r="r" b="b" t="t" l="l"/>
              <a:pathLst>
                <a:path h="1711960" w="2124837">
                  <a:moveTo>
                    <a:pt x="0" y="0"/>
                  </a:moveTo>
                  <a:cubicBezTo>
                    <a:pt x="1173480" y="0"/>
                    <a:pt x="2124837" y="766445"/>
                    <a:pt x="2124837" y="1711960"/>
                  </a:cubicBezTo>
                  <a:lnTo>
                    <a:pt x="0" y="1711960"/>
                  </a:lnTo>
                  <a:close/>
                </a:path>
              </a:pathLst>
            </a:custGeom>
            <a:solidFill>
              <a:srgbClr val="AFABAB">
                <a:alpha val="56078"/>
              </a:srgbClr>
            </a:solidFill>
            <a:ln w="23812" cap="sq">
              <a:solidFill>
                <a:srgbClr val="767171"/>
              </a:solidFill>
              <a:prstDash val="solid"/>
              <a:miter/>
            </a:ln>
          </p:spPr>
        </p:sp>
        <p:sp>
          <p:nvSpPr>
            <p:cNvPr name="Freeform 11" id="11"/>
            <p:cNvSpPr/>
            <p:nvPr/>
          </p:nvSpPr>
          <p:spPr>
            <a:xfrm flipH="false" flipV="false" rot="0">
              <a:off x="2124837" y="0"/>
              <a:ext cx="2124837" cy="1711960"/>
            </a:xfrm>
            <a:custGeom>
              <a:avLst/>
              <a:gdLst/>
              <a:ahLst/>
              <a:cxnLst/>
              <a:rect r="r" b="b" t="t" l="l"/>
              <a:pathLst>
                <a:path h="1711960" w="2124837">
                  <a:moveTo>
                    <a:pt x="0" y="0"/>
                  </a:moveTo>
                  <a:cubicBezTo>
                    <a:pt x="1173480" y="0"/>
                    <a:pt x="2124837" y="766445"/>
                    <a:pt x="2124837" y="1711960"/>
                  </a:cubicBezTo>
                </a:path>
              </a:pathLst>
            </a:custGeom>
            <a:solidFill>
              <a:srgbClr val="AFABAB">
                <a:alpha val="56078"/>
              </a:srgbClr>
            </a:solidFill>
            <a:ln w="23812" cap="sq">
              <a:solidFill>
                <a:srgbClr val="767171"/>
              </a:solidFill>
              <a:prstDash val="solid"/>
              <a:miter/>
            </a:ln>
          </p:spPr>
        </p:sp>
        <p:sp>
          <p:nvSpPr>
            <p:cNvPr name="TextBox 12" id="12"/>
            <p:cNvSpPr txBox="true"/>
            <p:nvPr/>
          </p:nvSpPr>
          <p:spPr>
            <a:xfrm>
              <a:off x="0" y="-19050"/>
              <a:ext cx="4249699" cy="3442919"/>
            </a:xfrm>
            <a:prstGeom prst="rect">
              <a:avLst/>
            </a:prstGeom>
          </p:spPr>
          <p:txBody>
            <a:bodyPr anchor="ctr" rtlCol="false" tIns="50800" lIns="50800" bIns="50800" rIns="50800"/>
            <a:lstStyle/>
            <a:p>
              <a:pPr algn="ctr">
                <a:lnSpc>
                  <a:spcPts val="3240"/>
                </a:lnSpc>
              </a:pPr>
              <a:r>
                <a:rPr lang="en-US" sz="2700">
                  <a:solidFill>
                    <a:srgbClr val="FFFFFF"/>
                  </a:solidFill>
                  <a:latin typeface="Arimo"/>
                  <a:ea typeface="Arimo"/>
                  <a:cs typeface="Arimo"/>
                  <a:sym typeface="Arimo"/>
                </a:rPr>
                <a:t>문</a:t>
              </a:r>
            </a:p>
          </p:txBody>
        </p:sp>
      </p:grpSp>
      <p:grpSp>
        <p:nvGrpSpPr>
          <p:cNvPr name="Group 13" id="13"/>
          <p:cNvGrpSpPr/>
          <p:nvPr/>
        </p:nvGrpSpPr>
        <p:grpSpPr>
          <a:xfrm rot="2460000">
            <a:off x="10083886" y="7697245"/>
            <a:ext cx="3181283" cy="2567902"/>
            <a:chOff x="0" y="0"/>
            <a:chExt cx="4241711" cy="3423869"/>
          </a:xfrm>
        </p:grpSpPr>
        <p:sp>
          <p:nvSpPr>
            <p:cNvPr name="Freeform 14" id="14"/>
            <p:cNvSpPr/>
            <p:nvPr/>
          </p:nvSpPr>
          <p:spPr>
            <a:xfrm flipH="false" flipV="false" rot="0">
              <a:off x="0" y="0"/>
              <a:ext cx="2120900" cy="1711960"/>
            </a:xfrm>
            <a:custGeom>
              <a:avLst/>
              <a:gdLst/>
              <a:ahLst/>
              <a:cxnLst/>
              <a:rect r="r" b="b" t="t" l="l"/>
              <a:pathLst>
                <a:path h="1711960" w="2120900">
                  <a:moveTo>
                    <a:pt x="2120900" y="0"/>
                  </a:moveTo>
                  <a:cubicBezTo>
                    <a:pt x="949579" y="0"/>
                    <a:pt x="0" y="766445"/>
                    <a:pt x="0" y="1711960"/>
                  </a:cubicBezTo>
                  <a:lnTo>
                    <a:pt x="2120900" y="1711960"/>
                  </a:lnTo>
                  <a:close/>
                </a:path>
              </a:pathLst>
            </a:custGeom>
            <a:solidFill>
              <a:srgbClr val="AFABAB">
                <a:alpha val="56078"/>
              </a:srgbClr>
            </a:solidFill>
            <a:ln w="23812" cap="sq">
              <a:solidFill>
                <a:srgbClr val="767171"/>
              </a:solidFill>
              <a:prstDash val="solid"/>
              <a:miter/>
            </a:ln>
          </p:spPr>
        </p:sp>
        <p:sp>
          <p:nvSpPr>
            <p:cNvPr name="Freeform 15" id="15"/>
            <p:cNvSpPr/>
            <p:nvPr/>
          </p:nvSpPr>
          <p:spPr>
            <a:xfrm flipH="false" flipV="false" rot="0">
              <a:off x="0" y="0"/>
              <a:ext cx="2120900" cy="1711960"/>
            </a:xfrm>
            <a:custGeom>
              <a:avLst/>
              <a:gdLst/>
              <a:ahLst/>
              <a:cxnLst/>
              <a:rect r="r" b="b" t="t" l="l"/>
              <a:pathLst>
                <a:path h="1711960" w="2120900">
                  <a:moveTo>
                    <a:pt x="2120900" y="0"/>
                  </a:moveTo>
                  <a:cubicBezTo>
                    <a:pt x="949579" y="0"/>
                    <a:pt x="0" y="766445"/>
                    <a:pt x="0" y="1711960"/>
                  </a:cubicBezTo>
                </a:path>
              </a:pathLst>
            </a:custGeom>
            <a:solidFill>
              <a:srgbClr val="AFABAB">
                <a:alpha val="56078"/>
              </a:srgbClr>
            </a:solidFill>
            <a:ln w="23812" cap="sq">
              <a:solidFill>
                <a:srgbClr val="767171"/>
              </a:solidFill>
              <a:prstDash val="solid"/>
              <a:miter/>
            </a:ln>
          </p:spPr>
        </p:sp>
        <p:sp>
          <p:nvSpPr>
            <p:cNvPr name="TextBox 16" id="16"/>
            <p:cNvSpPr txBox="true"/>
            <p:nvPr/>
          </p:nvSpPr>
          <p:spPr>
            <a:xfrm>
              <a:off x="0" y="-19050"/>
              <a:ext cx="4241711" cy="3442919"/>
            </a:xfrm>
            <a:prstGeom prst="rect">
              <a:avLst/>
            </a:prstGeom>
          </p:spPr>
          <p:txBody>
            <a:bodyPr anchor="ctr" rtlCol="false" tIns="50800" lIns="50800" bIns="50800" rIns="50800"/>
            <a:lstStyle/>
            <a:p>
              <a:pPr algn="ctr">
                <a:lnSpc>
                  <a:spcPts val="3240"/>
                </a:lnSpc>
              </a:pPr>
              <a:r>
                <a:rPr lang="en-US" sz="2700">
                  <a:solidFill>
                    <a:srgbClr val="FFFFFF"/>
                  </a:solidFill>
                  <a:latin typeface="Arimo"/>
                  <a:ea typeface="Arimo"/>
                  <a:cs typeface="Arimo"/>
                  <a:sym typeface="Arimo"/>
                </a:rPr>
                <a:t>문</a:t>
              </a:r>
            </a:p>
          </p:txBody>
        </p:sp>
      </p:grpSp>
      <p:grpSp>
        <p:nvGrpSpPr>
          <p:cNvPr name="Group 17" id="17"/>
          <p:cNvGrpSpPr/>
          <p:nvPr/>
        </p:nvGrpSpPr>
        <p:grpSpPr>
          <a:xfrm rot="-2460000">
            <a:off x="15774781" y="8442846"/>
            <a:ext cx="1603600" cy="185499"/>
            <a:chOff x="0" y="0"/>
            <a:chExt cx="2138134" cy="247333"/>
          </a:xfrm>
        </p:grpSpPr>
        <p:sp>
          <p:nvSpPr>
            <p:cNvPr name="Freeform 18" id="18"/>
            <p:cNvSpPr/>
            <p:nvPr/>
          </p:nvSpPr>
          <p:spPr>
            <a:xfrm flipH="false" flipV="false" rot="0">
              <a:off x="0" y="0"/>
              <a:ext cx="2138172" cy="247396"/>
            </a:xfrm>
            <a:custGeom>
              <a:avLst/>
              <a:gdLst/>
              <a:ahLst/>
              <a:cxnLst/>
              <a:rect r="r" b="b" t="t" l="l"/>
              <a:pathLst>
                <a:path h="247396" w="2138172">
                  <a:moveTo>
                    <a:pt x="0" y="0"/>
                  </a:moveTo>
                  <a:lnTo>
                    <a:pt x="2138172" y="0"/>
                  </a:lnTo>
                  <a:lnTo>
                    <a:pt x="2138172" y="247396"/>
                  </a:lnTo>
                  <a:lnTo>
                    <a:pt x="0" y="247396"/>
                  </a:lnTo>
                  <a:close/>
                </a:path>
              </a:pathLst>
            </a:custGeom>
            <a:solidFill>
              <a:srgbClr val="843C0B"/>
            </a:solidFill>
            <a:ln w="23812" cap="sq">
              <a:solidFill>
                <a:srgbClr val="767171"/>
              </a:solidFill>
              <a:prstDash val="solid"/>
              <a:miter/>
            </a:ln>
          </p:spPr>
        </p:sp>
      </p:grpSp>
      <p:grpSp>
        <p:nvGrpSpPr>
          <p:cNvPr name="Group 19" id="19"/>
          <p:cNvGrpSpPr/>
          <p:nvPr/>
        </p:nvGrpSpPr>
        <p:grpSpPr>
          <a:xfrm rot="2460000">
            <a:off x="10211267" y="8456619"/>
            <a:ext cx="1603600" cy="171736"/>
            <a:chOff x="0" y="0"/>
            <a:chExt cx="2138134" cy="228981"/>
          </a:xfrm>
        </p:grpSpPr>
        <p:sp>
          <p:nvSpPr>
            <p:cNvPr name="Freeform 20" id="20"/>
            <p:cNvSpPr/>
            <p:nvPr/>
          </p:nvSpPr>
          <p:spPr>
            <a:xfrm flipH="false" flipV="false" rot="0">
              <a:off x="0" y="0"/>
              <a:ext cx="2138172" cy="228981"/>
            </a:xfrm>
            <a:custGeom>
              <a:avLst/>
              <a:gdLst/>
              <a:ahLst/>
              <a:cxnLst/>
              <a:rect r="r" b="b" t="t" l="l"/>
              <a:pathLst>
                <a:path h="228981" w="2138172">
                  <a:moveTo>
                    <a:pt x="0" y="0"/>
                  </a:moveTo>
                  <a:lnTo>
                    <a:pt x="2138172" y="0"/>
                  </a:lnTo>
                  <a:lnTo>
                    <a:pt x="2138172" y="228981"/>
                  </a:lnTo>
                  <a:lnTo>
                    <a:pt x="0" y="228981"/>
                  </a:lnTo>
                  <a:close/>
                </a:path>
              </a:pathLst>
            </a:custGeom>
            <a:solidFill>
              <a:srgbClr val="843C0B"/>
            </a:solidFill>
            <a:ln w="23812" cap="sq">
              <a:solidFill>
                <a:srgbClr val="767171"/>
              </a:solidFill>
              <a:prstDash val="solid"/>
              <a:miter/>
            </a:ln>
          </p:spPr>
        </p:sp>
      </p:grpSp>
      <p:grpSp>
        <p:nvGrpSpPr>
          <p:cNvPr name="Group 21" id="21"/>
          <p:cNvGrpSpPr/>
          <p:nvPr/>
        </p:nvGrpSpPr>
        <p:grpSpPr>
          <a:xfrm rot="0">
            <a:off x="13128107" y="1096118"/>
            <a:ext cx="1328176" cy="1314726"/>
            <a:chOff x="0" y="0"/>
            <a:chExt cx="1770901" cy="1752968"/>
          </a:xfrm>
        </p:grpSpPr>
        <p:sp>
          <p:nvSpPr>
            <p:cNvPr name="Freeform 22" id="22"/>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F55B5B"/>
            </a:solidFill>
            <a:ln w="23812" cap="sq">
              <a:solidFill>
                <a:srgbClr val="767171"/>
              </a:solidFill>
              <a:prstDash val="solid"/>
              <a:miter/>
            </a:ln>
          </p:spPr>
        </p:sp>
      </p:grpSp>
      <p:grpSp>
        <p:nvGrpSpPr>
          <p:cNvPr name="Group 23" id="23"/>
          <p:cNvGrpSpPr/>
          <p:nvPr/>
        </p:nvGrpSpPr>
        <p:grpSpPr>
          <a:xfrm rot="0">
            <a:off x="13269906" y="1270987"/>
            <a:ext cx="1057446" cy="955891"/>
            <a:chOff x="0" y="0"/>
            <a:chExt cx="1409929" cy="1274521"/>
          </a:xfrm>
        </p:grpSpPr>
        <p:sp>
          <p:nvSpPr>
            <p:cNvPr name="Freeform 24" id="24" descr="의류, 예술이(가) 표시된 사진  AI 생성 콘텐츠는 정확하지 않을 수 있습니다."/>
            <p:cNvSpPr/>
            <p:nvPr/>
          </p:nvSpPr>
          <p:spPr>
            <a:xfrm flipH="false" flipV="false" rot="0">
              <a:off x="0" y="0"/>
              <a:ext cx="1409954" cy="1274572"/>
            </a:xfrm>
            <a:custGeom>
              <a:avLst/>
              <a:gdLst/>
              <a:ahLst/>
              <a:cxnLst/>
              <a:rect r="r" b="b" t="t" l="l"/>
              <a:pathLst>
                <a:path h="1274572" w="1409954">
                  <a:moveTo>
                    <a:pt x="0" y="0"/>
                  </a:moveTo>
                  <a:lnTo>
                    <a:pt x="1409954" y="0"/>
                  </a:lnTo>
                  <a:lnTo>
                    <a:pt x="1409954" y="1274572"/>
                  </a:lnTo>
                  <a:lnTo>
                    <a:pt x="0" y="1274572"/>
                  </a:lnTo>
                  <a:lnTo>
                    <a:pt x="0" y="0"/>
                  </a:lnTo>
                  <a:close/>
                </a:path>
              </a:pathLst>
            </a:custGeom>
            <a:blipFill>
              <a:blip r:embed="rId4"/>
              <a:stretch>
                <a:fillRect l="-164" t="0" r="-163" b="3"/>
              </a:stretch>
            </a:blipFill>
          </p:spPr>
        </p:sp>
      </p:grpSp>
      <p:grpSp>
        <p:nvGrpSpPr>
          <p:cNvPr name="Group 25" id="25"/>
          <p:cNvGrpSpPr/>
          <p:nvPr/>
        </p:nvGrpSpPr>
        <p:grpSpPr>
          <a:xfrm rot="0">
            <a:off x="13155644" y="6439291"/>
            <a:ext cx="1328176" cy="1314726"/>
            <a:chOff x="0" y="0"/>
            <a:chExt cx="1770901" cy="1752968"/>
          </a:xfrm>
        </p:grpSpPr>
        <p:sp>
          <p:nvSpPr>
            <p:cNvPr name="Freeform 26" id="26"/>
            <p:cNvSpPr/>
            <p:nvPr/>
          </p:nvSpPr>
          <p:spPr>
            <a:xfrm flipH="false" flipV="false" rot="0">
              <a:off x="0" y="0"/>
              <a:ext cx="1770888" cy="1752854"/>
            </a:xfrm>
            <a:custGeom>
              <a:avLst/>
              <a:gdLst/>
              <a:ahLst/>
              <a:cxnLst/>
              <a:rect r="r" b="b" t="t" l="l"/>
              <a:pathLst>
                <a:path h="1752854" w="1770888">
                  <a:moveTo>
                    <a:pt x="0" y="876427"/>
                  </a:moveTo>
                  <a:cubicBezTo>
                    <a:pt x="0" y="392430"/>
                    <a:pt x="396367" y="0"/>
                    <a:pt x="885444" y="0"/>
                  </a:cubicBezTo>
                  <a:cubicBezTo>
                    <a:pt x="1374521" y="0"/>
                    <a:pt x="1770888" y="392430"/>
                    <a:pt x="1770888" y="876427"/>
                  </a:cubicBezTo>
                  <a:cubicBezTo>
                    <a:pt x="1770888" y="1360424"/>
                    <a:pt x="1374521" y="1752854"/>
                    <a:pt x="885444" y="1752854"/>
                  </a:cubicBezTo>
                  <a:cubicBezTo>
                    <a:pt x="396367" y="1752854"/>
                    <a:pt x="0" y="1360551"/>
                    <a:pt x="0" y="876427"/>
                  </a:cubicBezTo>
                  <a:close/>
                </a:path>
              </a:pathLst>
            </a:custGeom>
            <a:solidFill>
              <a:srgbClr val="B4C7E7"/>
            </a:solidFill>
            <a:ln w="23812" cap="sq">
              <a:solidFill>
                <a:srgbClr val="767171"/>
              </a:solidFill>
              <a:prstDash val="solid"/>
              <a:miter/>
            </a:ln>
          </p:spPr>
        </p:sp>
      </p:grpSp>
      <p:grpSp>
        <p:nvGrpSpPr>
          <p:cNvPr name="Group 27" id="27"/>
          <p:cNvGrpSpPr/>
          <p:nvPr/>
        </p:nvGrpSpPr>
        <p:grpSpPr>
          <a:xfrm rot="0">
            <a:off x="13295290" y="6593596"/>
            <a:ext cx="1034215" cy="1024566"/>
            <a:chOff x="0" y="0"/>
            <a:chExt cx="1378953" cy="1366088"/>
          </a:xfrm>
        </p:grpSpPr>
        <p:sp>
          <p:nvSpPr>
            <p:cNvPr name="Freeform 28" id="28" descr="만화 영화, 스케치, 일러스트레이션, 가상의 캐릭터이(가) 표시된 사진  AI 생성 콘텐츠는 정확하지 않을 수 있습니다."/>
            <p:cNvSpPr/>
            <p:nvPr/>
          </p:nvSpPr>
          <p:spPr>
            <a:xfrm flipH="false" flipV="false" rot="0">
              <a:off x="0" y="0"/>
              <a:ext cx="1378966" cy="1366139"/>
            </a:xfrm>
            <a:custGeom>
              <a:avLst/>
              <a:gdLst/>
              <a:ahLst/>
              <a:cxnLst/>
              <a:rect r="r" b="b" t="t" l="l"/>
              <a:pathLst>
                <a:path h="1366139" w="1378966">
                  <a:moveTo>
                    <a:pt x="0" y="0"/>
                  </a:moveTo>
                  <a:lnTo>
                    <a:pt x="1378966" y="0"/>
                  </a:lnTo>
                  <a:lnTo>
                    <a:pt x="1378966" y="1366139"/>
                  </a:lnTo>
                  <a:lnTo>
                    <a:pt x="0" y="1366139"/>
                  </a:lnTo>
                  <a:lnTo>
                    <a:pt x="0" y="0"/>
                  </a:lnTo>
                  <a:close/>
                </a:path>
              </a:pathLst>
            </a:custGeom>
            <a:blipFill>
              <a:blip r:embed="rId5"/>
              <a:stretch>
                <a:fillRect l="0" t="-3439" r="0" b="-3435"/>
              </a:stretch>
            </a:blipFill>
          </p:spPr>
        </p:sp>
      </p:grpSp>
      <p:grpSp>
        <p:nvGrpSpPr>
          <p:cNvPr name="Group 29" id="29"/>
          <p:cNvGrpSpPr/>
          <p:nvPr/>
        </p:nvGrpSpPr>
        <p:grpSpPr>
          <a:xfrm rot="0">
            <a:off x="3581" y="5048060"/>
            <a:ext cx="9153020" cy="5232235"/>
            <a:chOff x="0" y="0"/>
            <a:chExt cx="12204027" cy="6976313"/>
          </a:xfrm>
        </p:grpSpPr>
        <p:sp>
          <p:nvSpPr>
            <p:cNvPr name="Freeform 30" id="30" descr="건물, 예술, 비잔틴 건축, 실내이(가) 표시된 사진  AI 생성 콘텐츠는 정확하지 않을 수 있습니다."/>
            <p:cNvSpPr/>
            <p:nvPr/>
          </p:nvSpPr>
          <p:spPr>
            <a:xfrm flipH="false" flipV="false" rot="0">
              <a:off x="0" y="0"/>
              <a:ext cx="12204065" cy="6976364"/>
            </a:xfrm>
            <a:custGeom>
              <a:avLst/>
              <a:gdLst/>
              <a:ahLst/>
              <a:cxnLst/>
              <a:rect r="r" b="b" t="t" l="l"/>
              <a:pathLst>
                <a:path h="6976364" w="12204065">
                  <a:moveTo>
                    <a:pt x="0" y="0"/>
                  </a:moveTo>
                  <a:lnTo>
                    <a:pt x="12204065" y="0"/>
                  </a:lnTo>
                  <a:lnTo>
                    <a:pt x="12204065" y="6976364"/>
                  </a:lnTo>
                  <a:lnTo>
                    <a:pt x="0" y="6976364"/>
                  </a:lnTo>
                  <a:lnTo>
                    <a:pt x="0" y="0"/>
                  </a:lnTo>
                  <a:close/>
                </a:path>
              </a:pathLst>
            </a:custGeom>
            <a:blipFill>
              <a:blip r:embed="rId6"/>
              <a:stretch>
                <a:fillRect l="-812" t="0" r="-812" b="0"/>
              </a:stretch>
            </a:blipFill>
          </p:spPr>
        </p:sp>
      </p:grpSp>
      <p:grpSp>
        <p:nvGrpSpPr>
          <p:cNvPr name="Group 31" id="31"/>
          <p:cNvGrpSpPr/>
          <p:nvPr/>
        </p:nvGrpSpPr>
        <p:grpSpPr>
          <a:xfrm rot="0">
            <a:off x="13008607" y="9464259"/>
            <a:ext cx="1603600" cy="171736"/>
            <a:chOff x="0" y="0"/>
            <a:chExt cx="2138134" cy="228981"/>
          </a:xfrm>
        </p:grpSpPr>
        <p:sp>
          <p:nvSpPr>
            <p:cNvPr name="Freeform 32" id="32"/>
            <p:cNvSpPr/>
            <p:nvPr/>
          </p:nvSpPr>
          <p:spPr>
            <a:xfrm flipH="false" flipV="false" rot="0">
              <a:off x="0" y="0"/>
              <a:ext cx="2138172" cy="228981"/>
            </a:xfrm>
            <a:custGeom>
              <a:avLst/>
              <a:gdLst/>
              <a:ahLst/>
              <a:cxnLst/>
              <a:rect r="r" b="b" t="t" l="l"/>
              <a:pathLst>
                <a:path h="228981" w="2138172">
                  <a:moveTo>
                    <a:pt x="0" y="0"/>
                  </a:moveTo>
                  <a:lnTo>
                    <a:pt x="2138172" y="0"/>
                  </a:lnTo>
                  <a:lnTo>
                    <a:pt x="2138172" y="228981"/>
                  </a:lnTo>
                  <a:lnTo>
                    <a:pt x="0" y="228981"/>
                  </a:lnTo>
                  <a:close/>
                </a:path>
              </a:pathLst>
            </a:custGeom>
            <a:solidFill>
              <a:srgbClr val="843C0B"/>
            </a:solidFill>
            <a:ln w="23812" cap="sq">
              <a:solidFill>
                <a:srgbClr val="767171"/>
              </a:solidFill>
              <a:prstDash val="solid"/>
              <a:miter/>
            </a:ln>
          </p:spPr>
        </p:sp>
      </p:grpSp>
      <p:grpSp>
        <p:nvGrpSpPr>
          <p:cNvPr name="Group 33" id="33"/>
          <p:cNvGrpSpPr/>
          <p:nvPr/>
        </p:nvGrpSpPr>
        <p:grpSpPr>
          <a:xfrm rot="0">
            <a:off x="13002358" y="8631650"/>
            <a:ext cx="1782613" cy="1665532"/>
            <a:chOff x="0" y="0"/>
            <a:chExt cx="2376818" cy="2220709"/>
          </a:xfrm>
        </p:grpSpPr>
        <p:sp>
          <p:nvSpPr>
            <p:cNvPr name="Freeform 34" id="34"/>
            <p:cNvSpPr/>
            <p:nvPr/>
          </p:nvSpPr>
          <p:spPr>
            <a:xfrm flipH="false" flipV="false" rot="0">
              <a:off x="0" y="0"/>
              <a:ext cx="1188466" cy="1110361"/>
            </a:xfrm>
            <a:custGeom>
              <a:avLst/>
              <a:gdLst/>
              <a:ahLst/>
              <a:cxnLst/>
              <a:rect r="r" b="b" t="t" l="l"/>
              <a:pathLst>
                <a:path h="1110361" w="1188466">
                  <a:moveTo>
                    <a:pt x="1188466" y="0"/>
                  </a:moveTo>
                  <a:cubicBezTo>
                    <a:pt x="532130" y="0"/>
                    <a:pt x="0" y="497078"/>
                    <a:pt x="0" y="1110361"/>
                  </a:cubicBezTo>
                  <a:lnTo>
                    <a:pt x="1188466" y="1110361"/>
                  </a:lnTo>
                  <a:close/>
                </a:path>
              </a:pathLst>
            </a:custGeom>
            <a:solidFill>
              <a:srgbClr val="AFABAB">
                <a:alpha val="56078"/>
              </a:srgbClr>
            </a:solidFill>
            <a:ln w="23812" cap="sq">
              <a:solidFill>
                <a:srgbClr val="181717"/>
              </a:solidFill>
              <a:prstDash val="solid"/>
              <a:miter/>
            </a:ln>
          </p:spPr>
        </p:sp>
        <p:sp>
          <p:nvSpPr>
            <p:cNvPr name="Freeform 35" id="35"/>
            <p:cNvSpPr/>
            <p:nvPr/>
          </p:nvSpPr>
          <p:spPr>
            <a:xfrm flipH="false" flipV="false" rot="0">
              <a:off x="0" y="0"/>
              <a:ext cx="1188466" cy="1110361"/>
            </a:xfrm>
            <a:custGeom>
              <a:avLst/>
              <a:gdLst/>
              <a:ahLst/>
              <a:cxnLst/>
              <a:rect r="r" b="b" t="t" l="l"/>
              <a:pathLst>
                <a:path h="1110361" w="1188466">
                  <a:moveTo>
                    <a:pt x="1188466" y="0"/>
                  </a:moveTo>
                  <a:cubicBezTo>
                    <a:pt x="532130" y="0"/>
                    <a:pt x="0" y="497078"/>
                    <a:pt x="0" y="1110361"/>
                  </a:cubicBezTo>
                </a:path>
              </a:pathLst>
            </a:custGeom>
            <a:solidFill>
              <a:srgbClr val="AFABAB">
                <a:alpha val="56078"/>
              </a:srgbClr>
            </a:solidFill>
            <a:ln w="23812" cap="sq">
              <a:solidFill>
                <a:srgbClr val="181717"/>
              </a:solidFill>
              <a:prstDash val="solid"/>
              <a:miter/>
            </a:ln>
          </p:spPr>
        </p:sp>
        <p:sp>
          <p:nvSpPr>
            <p:cNvPr name="TextBox 36" id="36"/>
            <p:cNvSpPr txBox="true"/>
            <p:nvPr/>
          </p:nvSpPr>
          <p:spPr>
            <a:xfrm>
              <a:off x="0" y="-19050"/>
              <a:ext cx="2376818" cy="2239759"/>
            </a:xfrm>
            <a:prstGeom prst="rect">
              <a:avLst/>
            </a:prstGeom>
          </p:spPr>
          <p:txBody>
            <a:bodyPr anchor="ctr" rtlCol="false" tIns="50800" lIns="50800" bIns="50800" rIns="50800"/>
            <a:lstStyle/>
            <a:p>
              <a:pPr algn="ctr">
                <a:lnSpc>
                  <a:spcPts val="3240"/>
                </a:lnSpc>
              </a:pPr>
              <a:r>
                <a:rPr lang="en-US" sz="2700">
                  <a:solidFill>
                    <a:srgbClr val="FFFFFF"/>
                  </a:solidFill>
                  <a:latin typeface="Arimo"/>
                  <a:ea typeface="Arimo"/>
                  <a:cs typeface="Arimo"/>
                  <a:sym typeface="Arimo"/>
                </a:rPr>
                <a:t>문</a:t>
              </a:r>
            </a:p>
          </p:txBody>
        </p:sp>
      </p:grpSp>
      <p:grpSp>
        <p:nvGrpSpPr>
          <p:cNvPr name="Group 37" id="37"/>
          <p:cNvGrpSpPr/>
          <p:nvPr/>
        </p:nvGrpSpPr>
        <p:grpSpPr>
          <a:xfrm rot="0">
            <a:off x="13125660" y="8631650"/>
            <a:ext cx="1487815" cy="1665532"/>
            <a:chOff x="0" y="0"/>
            <a:chExt cx="1983753" cy="2220709"/>
          </a:xfrm>
        </p:grpSpPr>
        <p:sp>
          <p:nvSpPr>
            <p:cNvPr name="Freeform 38" id="38"/>
            <p:cNvSpPr/>
            <p:nvPr/>
          </p:nvSpPr>
          <p:spPr>
            <a:xfrm flipH="false" flipV="false" rot="0">
              <a:off x="991870" y="0"/>
              <a:ext cx="991870" cy="1110361"/>
            </a:xfrm>
            <a:custGeom>
              <a:avLst/>
              <a:gdLst/>
              <a:ahLst/>
              <a:cxnLst/>
              <a:rect r="r" b="b" t="t" l="l"/>
              <a:pathLst>
                <a:path h="1110361" w="991870">
                  <a:moveTo>
                    <a:pt x="0" y="0"/>
                  </a:moveTo>
                  <a:cubicBezTo>
                    <a:pt x="547751" y="0"/>
                    <a:pt x="991870" y="497078"/>
                    <a:pt x="991870" y="1110361"/>
                  </a:cubicBezTo>
                  <a:lnTo>
                    <a:pt x="0" y="1110361"/>
                  </a:lnTo>
                  <a:close/>
                </a:path>
              </a:pathLst>
            </a:custGeom>
            <a:solidFill>
              <a:srgbClr val="AFABAB">
                <a:alpha val="56078"/>
              </a:srgbClr>
            </a:solidFill>
            <a:ln w="23812" cap="sq">
              <a:solidFill>
                <a:srgbClr val="181717"/>
              </a:solidFill>
              <a:prstDash val="solid"/>
              <a:miter/>
            </a:ln>
          </p:spPr>
        </p:sp>
        <p:sp>
          <p:nvSpPr>
            <p:cNvPr name="Freeform 39" id="39"/>
            <p:cNvSpPr/>
            <p:nvPr/>
          </p:nvSpPr>
          <p:spPr>
            <a:xfrm flipH="false" flipV="false" rot="0">
              <a:off x="991870" y="0"/>
              <a:ext cx="991870" cy="1110361"/>
            </a:xfrm>
            <a:custGeom>
              <a:avLst/>
              <a:gdLst/>
              <a:ahLst/>
              <a:cxnLst/>
              <a:rect r="r" b="b" t="t" l="l"/>
              <a:pathLst>
                <a:path h="1110361" w="991870">
                  <a:moveTo>
                    <a:pt x="0" y="0"/>
                  </a:moveTo>
                  <a:cubicBezTo>
                    <a:pt x="547751" y="0"/>
                    <a:pt x="991870" y="497078"/>
                    <a:pt x="991870" y="1110361"/>
                  </a:cubicBezTo>
                </a:path>
              </a:pathLst>
            </a:custGeom>
            <a:solidFill>
              <a:srgbClr val="AFABAB">
                <a:alpha val="56078"/>
              </a:srgbClr>
            </a:solidFill>
            <a:ln w="23812" cap="sq">
              <a:solidFill>
                <a:srgbClr val="181717"/>
              </a:solidFill>
              <a:prstDash val="solid"/>
              <a:miter/>
            </a:ln>
          </p:spPr>
        </p:sp>
        <p:sp>
          <p:nvSpPr>
            <p:cNvPr name="TextBox 40" id="40"/>
            <p:cNvSpPr txBox="true"/>
            <p:nvPr/>
          </p:nvSpPr>
          <p:spPr>
            <a:xfrm>
              <a:off x="0" y="-19050"/>
              <a:ext cx="1983753" cy="2239759"/>
            </a:xfrm>
            <a:prstGeom prst="rect">
              <a:avLst/>
            </a:prstGeom>
          </p:spPr>
          <p:txBody>
            <a:bodyPr anchor="ctr" rtlCol="false" tIns="50800" lIns="50800" bIns="50800" rIns="50800"/>
            <a:lstStyle/>
            <a:p>
              <a:pPr algn="ctr">
                <a:lnSpc>
                  <a:spcPts val="3240"/>
                </a:lnSpc>
              </a:pPr>
              <a:r>
                <a:rPr lang="en-US" sz="2700">
                  <a:solidFill>
                    <a:srgbClr val="FFFFFF"/>
                  </a:solidFill>
                  <a:latin typeface="Arimo"/>
                  <a:ea typeface="Arimo"/>
                  <a:cs typeface="Arimo"/>
                  <a:sym typeface="Arimo"/>
                </a:rPr>
                <a:t>문</a:t>
              </a:r>
            </a:p>
          </p:txBody>
        </p:sp>
      </p:grpSp>
      <p:sp>
        <p:nvSpPr>
          <p:cNvPr name="AutoShape 41" id="41"/>
          <p:cNvSpPr/>
          <p:nvPr/>
        </p:nvSpPr>
        <p:spPr>
          <a:xfrm rot="5299080">
            <a:off x="13425307" y="9041482"/>
            <a:ext cx="837057" cy="0"/>
          </a:xfrm>
          <a:prstGeom prst="line">
            <a:avLst/>
          </a:prstGeom>
          <a:ln cap="rnd" w="9525">
            <a:solidFill>
              <a:srgbClr val="E7E6E6"/>
            </a:solidFill>
            <a:prstDash val="solid"/>
            <a:headEnd type="none" len="sm" w="sm"/>
            <a:tailEnd type="none" len="sm" w="sm"/>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77627"/>
            <a:ext cx="18288000" cy="1104824"/>
            <a:chOff x="0" y="0"/>
            <a:chExt cx="24384000" cy="1473098"/>
          </a:xfrm>
        </p:grpSpPr>
        <p:sp>
          <p:nvSpPr>
            <p:cNvPr name="Freeform 3" id="3"/>
            <p:cNvSpPr/>
            <p:nvPr/>
          </p:nvSpPr>
          <p:spPr>
            <a:xfrm flipH="false" flipV="false" rot="0">
              <a:off x="0" y="0"/>
              <a:ext cx="24384000" cy="1473073"/>
            </a:xfrm>
            <a:custGeom>
              <a:avLst/>
              <a:gdLst/>
              <a:ahLst/>
              <a:cxnLst/>
              <a:rect r="r" b="b" t="t" l="l"/>
              <a:pathLst>
                <a:path h="1473073" w="24384000">
                  <a:moveTo>
                    <a:pt x="0" y="0"/>
                  </a:moveTo>
                  <a:lnTo>
                    <a:pt x="24384000" y="0"/>
                  </a:lnTo>
                  <a:lnTo>
                    <a:pt x="24384000" y="1473073"/>
                  </a:lnTo>
                  <a:lnTo>
                    <a:pt x="0" y="1473073"/>
                  </a:lnTo>
                  <a:close/>
                </a:path>
              </a:pathLst>
            </a:custGeom>
            <a:solidFill>
              <a:srgbClr val="000000"/>
            </a:solidFill>
          </p:spPr>
        </p:sp>
      </p:grpSp>
      <p:grpSp>
        <p:nvGrpSpPr>
          <p:cNvPr name="Group 4" id="4"/>
          <p:cNvGrpSpPr/>
          <p:nvPr/>
        </p:nvGrpSpPr>
        <p:grpSpPr>
          <a:xfrm rot="0">
            <a:off x="834800" y="965197"/>
            <a:ext cx="16816388" cy="1117254"/>
            <a:chOff x="0" y="0"/>
            <a:chExt cx="22421850" cy="1489672"/>
          </a:xfrm>
        </p:grpSpPr>
        <p:sp>
          <p:nvSpPr>
            <p:cNvPr name="Freeform 5" id="5"/>
            <p:cNvSpPr/>
            <p:nvPr/>
          </p:nvSpPr>
          <p:spPr>
            <a:xfrm flipH="false" flipV="false" rot="0">
              <a:off x="0" y="0"/>
              <a:ext cx="22421850" cy="1489672"/>
            </a:xfrm>
            <a:custGeom>
              <a:avLst/>
              <a:gdLst/>
              <a:ahLst/>
              <a:cxnLst/>
              <a:rect r="r" b="b" t="t" l="l"/>
              <a:pathLst>
                <a:path h="1489672" w="22421850">
                  <a:moveTo>
                    <a:pt x="0" y="0"/>
                  </a:moveTo>
                  <a:lnTo>
                    <a:pt x="22421850" y="0"/>
                  </a:lnTo>
                  <a:lnTo>
                    <a:pt x="22421850" y="1489672"/>
                  </a:lnTo>
                  <a:lnTo>
                    <a:pt x="0" y="1489672"/>
                  </a:lnTo>
                  <a:close/>
                </a:path>
              </a:pathLst>
            </a:custGeom>
            <a:blipFill>
              <a:blip r:embed="rId2">
                <a:alphaModFix amt="0"/>
              </a:blip>
              <a:stretch>
                <a:fillRect l="0" t="-243279" r="0" b="-243279"/>
              </a:stretch>
            </a:blipFill>
          </p:spPr>
        </p:sp>
        <p:sp>
          <p:nvSpPr>
            <p:cNvPr name="TextBox 6" id="6"/>
            <p:cNvSpPr txBox="true"/>
            <p:nvPr/>
          </p:nvSpPr>
          <p:spPr>
            <a:xfrm>
              <a:off x="0" y="38100"/>
              <a:ext cx="22421850" cy="1451572"/>
            </a:xfrm>
            <a:prstGeom prst="rect">
              <a:avLst/>
            </a:prstGeom>
          </p:spPr>
          <p:txBody>
            <a:bodyPr anchor="ctr" rtlCol="false" tIns="0" lIns="0" bIns="0" rIns="0"/>
            <a:lstStyle/>
            <a:p>
              <a:pPr algn="ctr">
                <a:lnSpc>
                  <a:spcPts val="5184"/>
                </a:lnSpc>
              </a:pPr>
              <a:r>
                <a:rPr lang="en-US" sz="4800">
                  <a:solidFill>
                    <a:srgbClr val="FFFFFF"/>
                  </a:solidFill>
                  <a:latin typeface="Arimo"/>
                  <a:ea typeface="Arimo"/>
                  <a:cs typeface="Arimo"/>
                  <a:sym typeface="Arimo"/>
                </a:rPr>
                <a:t>상황별 위험도 (페이즈 1)</a:t>
              </a:r>
            </a:p>
          </p:txBody>
        </p:sp>
      </p:grpSp>
      <p:grpSp>
        <p:nvGrpSpPr>
          <p:cNvPr name="Group 7" id="7"/>
          <p:cNvGrpSpPr/>
          <p:nvPr/>
        </p:nvGrpSpPr>
        <p:grpSpPr>
          <a:xfrm rot="0">
            <a:off x="1524000" y="2512838"/>
            <a:ext cx="15240000" cy="6591300"/>
            <a:chOff x="0" y="0"/>
            <a:chExt cx="20320000" cy="8788400"/>
          </a:xfrm>
        </p:grpSpPr>
        <p:sp>
          <p:nvSpPr>
            <p:cNvPr name="Freeform 8" id="8" descr="스크린샷, 도표, 라인, 그래프이(가) 표시된 사진"/>
            <p:cNvSpPr/>
            <p:nvPr/>
          </p:nvSpPr>
          <p:spPr>
            <a:xfrm flipH="false" flipV="false" rot="0">
              <a:off x="0" y="0"/>
              <a:ext cx="20320000" cy="8788400"/>
            </a:xfrm>
            <a:custGeom>
              <a:avLst/>
              <a:gdLst/>
              <a:ahLst/>
              <a:cxnLst/>
              <a:rect r="r" b="b" t="t" l="l"/>
              <a:pathLst>
                <a:path h="8788400" w="20320000">
                  <a:moveTo>
                    <a:pt x="0" y="0"/>
                  </a:moveTo>
                  <a:lnTo>
                    <a:pt x="20320000" y="0"/>
                  </a:lnTo>
                  <a:lnTo>
                    <a:pt x="20320000" y="8788400"/>
                  </a:lnTo>
                  <a:lnTo>
                    <a:pt x="0" y="8788400"/>
                  </a:lnTo>
                  <a:lnTo>
                    <a:pt x="0" y="0"/>
                  </a:lnTo>
                  <a:close/>
                </a:path>
              </a:pathLst>
            </a:custGeom>
            <a:blipFill>
              <a:blip r:embed="rId3"/>
              <a:stretch>
                <a:fillRect l="0" t="-45" r="0" b="-45"/>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77627"/>
            <a:ext cx="18288000" cy="1104824"/>
            <a:chOff x="0" y="0"/>
            <a:chExt cx="24384000" cy="1473098"/>
          </a:xfrm>
        </p:grpSpPr>
        <p:sp>
          <p:nvSpPr>
            <p:cNvPr name="Freeform 3" id="3"/>
            <p:cNvSpPr/>
            <p:nvPr/>
          </p:nvSpPr>
          <p:spPr>
            <a:xfrm flipH="false" flipV="false" rot="0">
              <a:off x="0" y="0"/>
              <a:ext cx="24384000" cy="1473073"/>
            </a:xfrm>
            <a:custGeom>
              <a:avLst/>
              <a:gdLst/>
              <a:ahLst/>
              <a:cxnLst/>
              <a:rect r="r" b="b" t="t" l="l"/>
              <a:pathLst>
                <a:path h="1473073" w="24384000">
                  <a:moveTo>
                    <a:pt x="0" y="0"/>
                  </a:moveTo>
                  <a:lnTo>
                    <a:pt x="24384000" y="0"/>
                  </a:lnTo>
                  <a:lnTo>
                    <a:pt x="24384000" y="1473073"/>
                  </a:lnTo>
                  <a:lnTo>
                    <a:pt x="0" y="1473073"/>
                  </a:lnTo>
                  <a:close/>
                </a:path>
              </a:pathLst>
            </a:custGeom>
            <a:solidFill>
              <a:srgbClr val="000000"/>
            </a:solidFill>
          </p:spPr>
        </p:sp>
      </p:grpSp>
      <p:grpSp>
        <p:nvGrpSpPr>
          <p:cNvPr name="Group 4" id="4"/>
          <p:cNvGrpSpPr/>
          <p:nvPr/>
        </p:nvGrpSpPr>
        <p:grpSpPr>
          <a:xfrm rot="0">
            <a:off x="834800" y="965197"/>
            <a:ext cx="16816388" cy="1117254"/>
            <a:chOff x="0" y="0"/>
            <a:chExt cx="22421850" cy="1489672"/>
          </a:xfrm>
        </p:grpSpPr>
        <p:sp>
          <p:nvSpPr>
            <p:cNvPr name="Freeform 5" id="5"/>
            <p:cNvSpPr/>
            <p:nvPr/>
          </p:nvSpPr>
          <p:spPr>
            <a:xfrm flipH="false" flipV="false" rot="0">
              <a:off x="0" y="0"/>
              <a:ext cx="22421850" cy="1489672"/>
            </a:xfrm>
            <a:custGeom>
              <a:avLst/>
              <a:gdLst/>
              <a:ahLst/>
              <a:cxnLst/>
              <a:rect r="r" b="b" t="t" l="l"/>
              <a:pathLst>
                <a:path h="1489672" w="22421850">
                  <a:moveTo>
                    <a:pt x="0" y="0"/>
                  </a:moveTo>
                  <a:lnTo>
                    <a:pt x="22421850" y="0"/>
                  </a:lnTo>
                  <a:lnTo>
                    <a:pt x="22421850" y="1489672"/>
                  </a:lnTo>
                  <a:lnTo>
                    <a:pt x="0" y="1489672"/>
                  </a:lnTo>
                  <a:close/>
                </a:path>
              </a:pathLst>
            </a:custGeom>
            <a:blipFill>
              <a:blip r:embed="rId2">
                <a:alphaModFix amt="0"/>
              </a:blip>
              <a:stretch>
                <a:fillRect l="0" t="-243279" r="0" b="-243279"/>
              </a:stretch>
            </a:blipFill>
          </p:spPr>
        </p:sp>
        <p:sp>
          <p:nvSpPr>
            <p:cNvPr name="TextBox 6" id="6"/>
            <p:cNvSpPr txBox="true"/>
            <p:nvPr/>
          </p:nvSpPr>
          <p:spPr>
            <a:xfrm>
              <a:off x="0" y="38100"/>
              <a:ext cx="22421850" cy="1451572"/>
            </a:xfrm>
            <a:prstGeom prst="rect">
              <a:avLst/>
            </a:prstGeom>
          </p:spPr>
          <p:txBody>
            <a:bodyPr anchor="ctr" rtlCol="false" tIns="0" lIns="0" bIns="0" rIns="0"/>
            <a:lstStyle/>
            <a:p>
              <a:pPr algn="ctr">
                <a:lnSpc>
                  <a:spcPts val="5184"/>
                </a:lnSpc>
              </a:pPr>
              <a:r>
                <a:rPr lang="en-US" sz="4800">
                  <a:solidFill>
                    <a:srgbClr val="FFFFFF"/>
                  </a:solidFill>
                  <a:latin typeface="Arimo"/>
                  <a:ea typeface="Arimo"/>
                  <a:cs typeface="Arimo"/>
                  <a:sym typeface="Arimo"/>
                </a:rPr>
                <a:t>상황별 위험도 (페이즈 2)</a:t>
              </a:r>
            </a:p>
          </p:txBody>
        </p:sp>
      </p:grpSp>
      <p:grpSp>
        <p:nvGrpSpPr>
          <p:cNvPr name="Group 7" id="7"/>
          <p:cNvGrpSpPr/>
          <p:nvPr/>
        </p:nvGrpSpPr>
        <p:grpSpPr>
          <a:xfrm rot="0">
            <a:off x="1757067" y="2512838"/>
            <a:ext cx="14773866" cy="6591300"/>
            <a:chOff x="0" y="0"/>
            <a:chExt cx="19698487" cy="8788400"/>
          </a:xfrm>
        </p:grpSpPr>
        <p:sp>
          <p:nvSpPr>
            <p:cNvPr name="Freeform 8" id="8"/>
            <p:cNvSpPr/>
            <p:nvPr/>
          </p:nvSpPr>
          <p:spPr>
            <a:xfrm flipH="false" flipV="false" rot="0">
              <a:off x="0" y="0"/>
              <a:ext cx="19698463" cy="8788400"/>
            </a:xfrm>
            <a:custGeom>
              <a:avLst/>
              <a:gdLst/>
              <a:ahLst/>
              <a:cxnLst/>
              <a:rect r="r" b="b" t="t" l="l"/>
              <a:pathLst>
                <a:path h="8788400" w="19698463">
                  <a:moveTo>
                    <a:pt x="0" y="0"/>
                  </a:moveTo>
                  <a:lnTo>
                    <a:pt x="19698463" y="0"/>
                  </a:lnTo>
                  <a:lnTo>
                    <a:pt x="19698463" y="8788400"/>
                  </a:lnTo>
                  <a:lnTo>
                    <a:pt x="0" y="8788400"/>
                  </a:lnTo>
                  <a:lnTo>
                    <a:pt x="0" y="0"/>
                  </a:lnTo>
                  <a:close/>
                </a:path>
              </a:pathLst>
            </a:custGeom>
            <a:blipFill>
              <a:blip r:embed="rId3"/>
              <a:stretch>
                <a:fillRect l="-606" t="681" r="-100" b="-173"/>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77627"/>
            <a:ext cx="18288000" cy="1104824"/>
            <a:chOff x="0" y="0"/>
            <a:chExt cx="24384000" cy="1473098"/>
          </a:xfrm>
        </p:grpSpPr>
        <p:sp>
          <p:nvSpPr>
            <p:cNvPr name="Freeform 3" id="3"/>
            <p:cNvSpPr/>
            <p:nvPr/>
          </p:nvSpPr>
          <p:spPr>
            <a:xfrm flipH="false" flipV="false" rot="0">
              <a:off x="0" y="0"/>
              <a:ext cx="24384000" cy="1473073"/>
            </a:xfrm>
            <a:custGeom>
              <a:avLst/>
              <a:gdLst/>
              <a:ahLst/>
              <a:cxnLst/>
              <a:rect r="r" b="b" t="t" l="l"/>
              <a:pathLst>
                <a:path h="1473073" w="24384000">
                  <a:moveTo>
                    <a:pt x="0" y="0"/>
                  </a:moveTo>
                  <a:lnTo>
                    <a:pt x="24384000" y="0"/>
                  </a:lnTo>
                  <a:lnTo>
                    <a:pt x="24384000" y="1473073"/>
                  </a:lnTo>
                  <a:lnTo>
                    <a:pt x="0" y="1473073"/>
                  </a:lnTo>
                  <a:close/>
                </a:path>
              </a:pathLst>
            </a:custGeom>
            <a:solidFill>
              <a:srgbClr val="000000"/>
            </a:solidFill>
          </p:spPr>
        </p:sp>
      </p:grpSp>
      <p:grpSp>
        <p:nvGrpSpPr>
          <p:cNvPr name="Group 4" id="4"/>
          <p:cNvGrpSpPr/>
          <p:nvPr/>
        </p:nvGrpSpPr>
        <p:grpSpPr>
          <a:xfrm rot="0">
            <a:off x="834800" y="965197"/>
            <a:ext cx="16816388" cy="1117254"/>
            <a:chOff x="0" y="0"/>
            <a:chExt cx="22421850" cy="1489672"/>
          </a:xfrm>
        </p:grpSpPr>
        <p:sp>
          <p:nvSpPr>
            <p:cNvPr name="Freeform 5" id="5"/>
            <p:cNvSpPr/>
            <p:nvPr/>
          </p:nvSpPr>
          <p:spPr>
            <a:xfrm flipH="false" flipV="false" rot="0">
              <a:off x="0" y="0"/>
              <a:ext cx="22421850" cy="1489672"/>
            </a:xfrm>
            <a:custGeom>
              <a:avLst/>
              <a:gdLst/>
              <a:ahLst/>
              <a:cxnLst/>
              <a:rect r="r" b="b" t="t" l="l"/>
              <a:pathLst>
                <a:path h="1489672" w="22421850">
                  <a:moveTo>
                    <a:pt x="0" y="0"/>
                  </a:moveTo>
                  <a:lnTo>
                    <a:pt x="22421850" y="0"/>
                  </a:lnTo>
                  <a:lnTo>
                    <a:pt x="22421850" y="1489672"/>
                  </a:lnTo>
                  <a:lnTo>
                    <a:pt x="0" y="1489672"/>
                  </a:lnTo>
                  <a:close/>
                </a:path>
              </a:pathLst>
            </a:custGeom>
            <a:blipFill>
              <a:blip r:embed="rId2">
                <a:alphaModFix amt="0"/>
              </a:blip>
              <a:stretch>
                <a:fillRect l="0" t="-243279" r="0" b="-243279"/>
              </a:stretch>
            </a:blipFill>
          </p:spPr>
        </p:sp>
        <p:sp>
          <p:nvSpPr>
            <p:cNvPr name="TextBox 6" id="6"/>
            <p:cNvSpPr txBox="true"/>
            <p:nvPr/>
          </p:nvSpPr>
          <p:spPr>
            <a:xfrm>
              <a:off x="0" y="38100"/>
              <a:ext cx="22421850" cy="1451572"/>
            </a:xfrm>
            <a:prstGeom prst="rect">
              <a:avLst/>
            </a:prstGeom>
          </p:spPr>
          <p:txBody>
            <a:bodyPr anchor="ctr" rtlCol="false" tIns="0" lIns="0" bIns="0" rIns="0"/>
            <a:lstStyle/>
            <a:p>
              <a:pPr algn="ctr">
                <a:lnSpc>
                  <a:spcPts val="5184"/>
                </a:lnSpc>
              </a:pPr>
              <a:r>
                <a:rPr lang="en-US" sz="4800">
                  <a:solidFill>
                    <a:srgbClr val="FFFFFF"/>
                  </a:solidFill>
                  <a:latin typeface="Arimo"/>
                  <a:ea typeface="Arimo"/>
                  <a:cs typeface="Arimo"/>
                  <a:sym typeface="Arimo"/>
                </a:rPr>
                <a:t>상황별 위험도 (페이즈 3)</a:t>
              </a:r>
            </a:p>
          </p:txBody>
        </p:sp>
      </p:grpSp>
      <p:grpSp>
        <p:nvGrpSpPr>
          <p:cNvPr name="Group 7" id="7"/>
          <p:cNvGrpSpPr/>
          <p:nvPr/>
        </p:nvGrpSpPr>
        <p:grpSpPr>
          <a:xfrm rot="0">
            <a:off x="1389536" y="2512838"/>
            <a:ext cx="15508938" cy="6591300"/>
            <a:chOff x="0" y="0"/>
            <a:chExt cx="20678584" cy="8788400"/>
          </a:xfrm>
        </p:grpSpPr>
        <p:sp>
          <p:nvSpPr>
            <p:cNvPr name="Freeform 8" id="8" descr="스크린샷, 텍스트, 라인, 도표이(가) 표시된 사진  AI 생성 콘텐츠는 정확하지 않을 수 있습니다."/>
            <p:cNvSpPr/>
            <p:nvPr/>
          </p:nvSpPr>
          <p:spPr>
            <a:xfrm flipH="false" flipV="false" rot="0">
              <a:off x="0" y="0"/>
              <a:ext cx="20678521" cy="8788400"/>
            </a:xfrm>
            <a:custGeom>
              <a:avLst/>
              <a:gdLst/>
              <a:ahLst/>
              <a:cxnLst/>
              <a:rect r="r" b="b" t="t" l="l"/>
              <a:pathLst>
                <a:path h="8788400" w="20678521">
                  <a:moveTo>
                    <a:pt x="0" y="0"/>
                  </a:moveTo>
                  <a:lnTo>
                    <a:pt x="20678521" y="0"/>
                  </a:lnTo>
                  <a:lnTo>
                    <a:pt x="20678521" y="8788400"/>
                  </a:lnTo>
                  <a:lnTo>
                    <a:pt x="0" y="8788400"/>
                  </a:lnTo>
                  <a:lnTo>
                    <a:pt x="0" y="0"/>
                  </a:lnTo>
                  <a:close/>
                </a:path>
              </a:pathLst>
            </a:custGeom>
            <a:blipFill>
              <a:blip r:embed="rId3"/>
              <a:stretch>
                <a:fillRect l="0" t="-32" r="0" b="-32"/>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19297" y="2580019"/>
            <a:ext cx="1064217" cy="1064217"/>
          </a:xfrm>
          <a:custGeom>
            <a:avLst/>
            <a:gdLst/>
            <a:ahLst/>
            <a:cxnLst/>
            <a:rect r="r" b="b" t="t" l="l"/>
            <a:pathLst>
              <a:path h="1064217" w="1064217">
                <a:moveTo>
                  <a:pt x="0" y="0"/>
                </a:moveTo>
                <a:lnTo>
                  <a:pt x="1064217" y="0"/>
                </a:lnTo>
                <a:lnTo>
                  <a:pt x="1064217" y="1064217"/>
                </a:lnTo>
                <a:lnTo>
                  <a:pt x="0" y="1064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019297" y="4365875"/>
            <a:ext cx="1064217" cy="1064217"/>
          </a:xfrm>
          <a:custGeom>
            <a:avLst/>
            <a:gdLst/>
            <a:ahLst/>
            <a:cxnLst/>
            <a:rect r="r" b="b" t="t" l="l"/>
            <a:pathLst>
              <a:path h="1064217" w="1064217">
                <a:moveTo>
                  <a:pt x="0" y="0"/>
                </a:moveTo>
                <a:lnTo>
                  <a:pt x="1064217" y="0"/>
                </a:lnTo>
                <a:lnTo>
                  <a:pt x="1064217" y="1064217"/>
                </a:lnTo>
                <a:lnTo>
                  <a:pt x="0" y="1064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019297" y="6461688"/>
            <a:ext cx="1064217" cy="1064217"/>
          </a:xfrm>
          <a:custGeom>
            <a:avLst/>
            <a:gdLst/>
            <a:ahLst/>
            <a:cxnLst/>
            <a:rect r="r" b="b" t="t" l="l"/>
            <a:pathLst>
              <a:path h="1064217" w="1064217">
                <a:moveTo>
                  <a:pt x="0" y="0"/>
                </a:moveTo>
                <a:lnTo>
                  <a:pt x="1064217" y="0"/>
                </a:lnTo>
                <a:lnTo>
                  <a:pt x="1064217" y="1064218"/>
                </a:lnTo>
                <a:lnTo>
                  <a:pt x="0" y="1064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28700" y="3592667"/>
            <a:ext cx="7324149" cy="2512223"/>
            <a:chOff x="0" y="0"/>
            <a:chExt cx="9765532" cy="3349631"/>
          </a:xfrm>
        </p:grpSpPr>
        <p:sp>
          <p:nvSpPr>
            <p:cNvPr name="TextBox 6" id="6"/>
            <p:cNvSpPr txBox="true"/>
            <p:nvPr/>
          </p:nvSpPr>
          <p:spPr>
            <a:xfrm rot="0">
              <a:off x="0" y="-238125"/>
              <a:ext cx="9765532" cy="1701165"/>
            </a:xfrm>
            <a:prstGeom prst="rect">
              <a:avLst/>
            </a:prstGeom>
          </p:spPr>
          <p:txBody>
            <a:bodyPr anchor="t" rtlCol="false" tIns="0" lIns="0" bIns="0" rIns="0">
              <a:spAutoFit/>
            </a:bodyPr>
            <a:lstStyle/>
            <a:p>
              <a:pPr algn="l" marL="0" indent="0" lvl="0">
                <a:lnSpc>
                  <a:spcPts val="10800"/>
                </a:lnSpc>
              </a:pPr>
              <a:r>
                <a:rPr lang="en-US" sz="7200">
                  <a:solidFill>
                    <a:srgbClr val="000000"/>
                  </a:solidFill>
                  <a:latin typeface="Arimo"/>
                  <a:ea typeface="Arimo"/>
                  <a:cs typeface="Arimo"/>
                  <a:sym typeface="Arimo"/>
                </a:rPr>
                <a:t>보스 공략 보상</a:t>
              </a:r>
            </a:p>
          </p:txBody>
        </p:sp>
        <p:sp>
          <p:nvSpPr>
            <p:cNvPr name="TextBox 7" id="7"/>
            <p:cNvSpPr txBox="true"/>
            <p:nvPr/>
          </p:nvSpPr>
          <p:spPr>
            <a:xfrm rot="0">
              <a:off x="0" y="1827747"/>
              <a:ext cx="9765532" cy="1521883"/>
            </a:xfrm>
            <a:prstGeom prst="rect">
              <a:avLst/>
            </a:prstGeom>
          </p:spPr>
          <p:txBody>
            <a:bodyPr anchor="t" rtlCol="false" tIns="0" lIns="0" bIns="0" rIns="0">
              <a:spAutoFit/>
            </a:bodyPr>
            <a:lstStyle/>
            <a:p>
              <a:pPr algn="l" marL="0" indent="0" lvl="0">
                <a:lnSpc>
                  <a:spcPts val="4550"/>
                </a:lnSpc>
              </a:pPr>
              <a:r>
                <a:rPr lang="en-US" sz="3500">
                  <a:solidFill>
                    <a:srgbClr val="000000"/>
                  </a:solidFill>
                  <a:latin typeface="Arimo"/>
                  <a:ea typeface="Arimo"/>
                  <a:cs typeface="Arimo"/>
                  <a:sym typeface="Arimo"/>
                </a:rPr>
                <a:t>스토리(부모님의 복수) 완결 + DLC 추가 스토리 개방(보류)</a:t>
              </a:r>
            </a:p>
          </p:txBody>
        </p:sp>
      </p:grpSp>
      <p:sp>
        <p:nvSpPr>
          <p:cNvPr name="TextBox 8" id="8"/>
          <p:cNvSpPr txBox="true"/>
          <p:nvPr/>
        </p:nvSpPr>
        <p:spPr>
          <a:xfrm rot="0">
            <a:off x="11405100" y="2838414"/>
            <a:ext cx="5854200" cy="504825"/>
          </a:xfrm>
          <a:prstGeom prst="rect">
            <a:avLst/>
          </a:prstGeom>
        </p:spPr>
        <p:txBody>
          <a:bodyPr anchor="t" rtlCol="false" tIns="0" lIns="0" bIns="0" rIns="0">
            <a:spAutoFit/>
          </a:bodyPr>
          <a:lstStyle/>
          <a:p>
            <a:pPr algn="l" marL="0" indent="0" lvl="0">
              <a:lnSpc>
                <a:spcPts val="3900"/>
              </a:lnSpc>
            </a:pPr>
            <a:r>
              <a:rPr lang="en-US" sz="3000">
                <a:solidFill>
                  <a:srgbClr val="000000"/>
                </a:solidFill>
                <a:latin typeface="Arimo"/>
                <a:ea typeface="Arimo"/>
                <a:cs typeface="Arimo"/>
                <a:sym typeface="Arimo"/>
              </a:rPr>
              <a:t>종결 스팩 무기 강화 재료</a:t>
            </a:r>
          </a:p>
        </p:txBody>
      </p:sp>
      <p:sp>
        <p:nvSpPr>
          <p:cNvPr name="TextBox 9" id="9"/>
          <p:cNvSpPr txBox="true"/>
          <p:nvPr/>
        </p:nvSpPr>
        <p:spPr>
          <a:xfrm rot="0">
            <a:off x="11405100" y="4621759"/>
            <a:ext cx="5854200" cy="504825"/>
          </a:xfrm>
          <a:prstGeom prst="rect">
            <a:avLst/>
          </a:prstGeom>
        </p:spPr>
        <p:txBody>
          <a:bodyPr anchor="t" rtlCol="false" tIns="0" lIns="0" bIns="0" rIns="0">
            <a:spAutoFit/>
          </a:bodyPr>
          <a:lstStyle/>
          <a:p>
            <a:pPr algn="l" marL="0" indent="0" lvl="0">
              <a:lnSpc>
                <a:spcPts val="3900"/>
              </a:lnSpc>
            </a:pPr>
            <a:r>
              <a:rPr lang="en-US" sz="3000">
                <a:solidFill>
                  <a:srgbClr val="000000"/>
                </a:solidFill>
                <a:latin typeface="Arimo"/>
                <a:ea typeface="Arimo"/>
                <a:cs typeface="Arimo"/>
                <a:sym typeface="Arimo"/>
              </a:rPr>
              <a:t>종결 스팩 방어구 강화 재료</a:t>
            </a:r>
          </a:p>
        </p:txBody>
      </p:sp>
      <p:sp>
        <p:nvSpPr>
          <p:cNvPr name="TextBox 10" id="10"/>
          <p:cNvSpPr txBox="true"/>
          <p:nvPr/>
        </p:nvSpPr>
        <p:spPr>
          <a:xfrm rot="0">
            <a:off x="11405100" y="6469922"/>
            <a:ext cx="5854200" cy="1000125"/>
          </a:xfrm>
          <a:prstGeom prst="rect">
            <a:avLst/>
          </a:prstGeom>
        </p:spPr>
        <p:txBody>
          <a:bodyPr anchor="t" rtlCol="false" tIns="0" lIns="0" bIns="0" rIns="0">
            <a:spAutoFit/>
          </a:bodyPr>
          <a:lstStyle/>
          <a:p>
            <a:pPr algn="l" marL="0" indent="0" lvl="0">
              <a:lnSpc>
                <a:spcPts val="3900"/>
              </a:lnSpc>
            </a:pPr>
            <a:r>
              <a:rPr lang="en-US" sz="3000">
                <a:solidFill>
                  <a:srgbClr val="000000"/>
                </a:solidFill>
                <a:latin typeface="Arimo"/>
                <a:ea typeface="Arimo"/>
                <a:cs typeface="Arimo"/>
                <a:sym typeface="Arimo"/>
              </a:rPr>
              <a:t>엔드컨텐츠(가제: 보스 강화 전투) 개방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DAHL-cZtIzw</dc:identifier>
  <dcterms:modified xsi:type="dcterms:W3CDTF">2011-08-01T06:04:30Z</dcterms:modified>
  <cp:revision>1</cp:revision>
  <dc:title>크로노</dc:title>
</cp:coreProperties>
</file>