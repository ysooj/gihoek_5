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6" r:id="rId10"/>
    <p:sldId id="267" r:id="rId11"/>
    <p:sldId id="268" r:id="rId12"/>
    <p:sldId id="265" r:id="rId13"/>
    <p:sldId id="269" r:id="rId14"/>
    <p:sldId id="272" r:id="rId15"/>
    <p:sldId id="270" r:id="rId16"/>
    <p:sldId id="273" r:id="rId17"/>
    <p:sldId id="275" r:id="rId18"/>
    <p:sldId id="271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4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77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24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006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02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78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76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58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80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35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1B534-B66B-4964-A7BE-D6BACC6A820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D71A3-824D-4517-98B3-D3F92F995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05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4.wdp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몬스터 배치의 기획 의도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 </a:t>
            </a:r>
            <a:r>
              <a:rPr lang="ko-KR" altLang="en-US"/>
              <a:t>몬스터를 먼저 보여주고</a:t>
            </a:r>
            <a:endParaRPr lang="en-US" altLang="ko-KR"/>
          </a:p>
          <a:p>
            <a:r>
              <a:rPr lang="ko-KR" altLang="en-US"/>
              <a:t>다음에는 </a:t>
            </a:r>
            <a:r>
              <a:rPr lang="en-US" altLang="ko-KR"/>
              <a:t>B </a:t>
            </a:r>
            <a:r>
              <a:rPr lang="ko-KR" altLang="en-US"/>
              <a:t>몬스터를 보여준다</a:t>
            </a:r>
            <a:r>
              <a:rPr lang="en-US" altLang="ko-KR"/>
              <a:t>.</a:t>
            </a:r>
          </a:p>
          <a:p>
            <a:r>
              <a:rPr lang="ko-KR" altLang="en-US"/>
              <a:t>그 대음에는 </a:t>
            </a:r>
            <a:r>
              <a:rPr lang="en-US" altLang="ko-KR"/>
              <a:t>A+B </a:t>
            </a:r>
            <a:r>
              <a:rPr lang="ko-KR" altLang="en-US"/>
              <a:t>몬스터를 같이 보여준다</a:t>
            </a:r>
            <a:r>
              <a:rPr lang="en-US" altLang="ko-KR"/>
              <a:t>.</a:t>
            </a:r>
          </a:p>
          <a:p>
            <a:r>
              <a:rPr lang="ko-KR" altLang="en-US"/>
              <a:t>이건 이제 당연한 것</a:t>
            </a:r>
            <a:r>
              <a:rPr lang="en-US" altLang="ko-KR"/>
              <a:t>.</a:t>
            </a:r>
          </a:p>
          <a:p>
            <a:r>
              <a:rPr lang="ko-KR" altLang="en-US"/>
              <a:t>따라서 재미없음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9847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플레이 시간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재미없기 때문에</a:t>
            </a:r>
            <a:r>
              <a:rPr lang="en-US" altLang="ko-KR"/>
              <a:t>, </a:t>
            </a:r>
            <a:r>
              <a:rPr lang="ko-KR" altLang="en-US"/>
              <a:t>플레이 시간에 따른 보상이 필요하다</a:t>
            </a:r>
            <a:r>
              <a:rPr lang="en-US" altLang="ko-KR"/>
              <a:t>.</a:t>
            </a:r>
          </a:p>
          <a:p>
            <a:r>
              <a:rPr lang="ko-KR" altLang="en-US"/>
              <a:t>플레이 사이사이에 혹은 몬스터 처치 후 이벤트 연출을 하거나 하는 식으로 재미를 더한다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31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chemeClr val="accent4"/>
                </a:solidFill>
              </a:rPr>
              <a:t>레벨을 소모하는 흐름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흐름을 관리하는 방법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라프코스터의 재미 이론</a:t>
            </a:r>
            <a:endParaRPr lang="en-US" altLang="ko-KR"/>
          </a:p>
          <a:p>
            <a:r>
              <a:rPr lang="ko-KR" altLang="en-US"/>
              <a:t>적절한 시련과 고난을 통한 난이도의 흐름</a:t>
            </a:r>
          </a:p>
        </p:txBody>
      </p:sp>
    </p:spTree>
    <p:extLst>
      <p:ext uri="{BB962C8B-B14F-4D97-AF65-F5344CB8AC3E}">
        <p14:creationId xmlns:p14="http://schemas.microsoft.com/office/powerpoint/2010/main" val="354699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</a:t>
            </a:r>
            <a:r>
              <a:rPr lang="ko-KR" altLang="en-US"/>
              <a:t>차 플레이 유도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IP </a:t>
            </a:r>
            <a:r>
              <a:rPr lang="ko-KR" altLang="en-US"/>
              <a:t>충성도가 높아질 수록</a:t>
            </a:r>
            <a:endParaRPr lang="en-US" altLang="ko-KR"/>
          </a:p>
          <a:p>
            <a:r>
              <a:rPr lang="ko-KR" altLang="en-US"/>
              <a:t>콘텐츠 이해도가 높아질 수록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이스터에그</a:t>
            </a:r>
          </a:p>
        </p:txBody>
      </p:sp>
    </p:spTree>
    <p:extLst>
      <p:ext uri="{BB962C8B-B14F-4D97-AF65-F5344CB8AC3E}">
        <p14:creationId xmlns:p14="http://schemas.microsoft.com/office/powerpoint/2010/main" val="368699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상황의 기차칸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이야기의 흐름</a:t>
            </a:r>
            <a:endParaRPr lang="en-US" altLang="ko-KR"/>
          </a:p>
          <a:p>
            <a:r>
              <a:rPr lang="ko-KR" altLang="en-US"/>
              <a:t>난이도의 흐름</a:t>
            </a:r>
            <a:endParaRPr lang="en-US" altLang="ko-KR"/>
          </a:p>
          <a:p>
            <a:r>
              <a:rPr lang="ko-KR" altLang="en-US"/>
              <a:t>학습의 흐름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재미의 흐름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플레이 동선에 따른 이 </a:t>
            </a:r>
            <a:r>
              <a:rPr lang="en-US" altLang="ko-KR"/>
              <a:t>4</a:t>
            </a:r>
            <a:r>
              <a:rPr lang="ko-KR" altLang="en-US"/>
              <a:t>가지의 흐름을 잘 설계하는 게 레벨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4" name="포인트가 5개인 별 3"/>
          <p:cNvSpPr/>
          <p:nvPr/>
        </p:nvSpPr>
        <p:spPr>
          <a:xfrm>
            <a:off x="9938084" y="365125"/>
            <a:ext cx="1415716" cy="1325563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4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96" y="55992"/>
            <a:ext cx="9833808" cy="67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9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상호작용 구조물 </a:t>
            </a:r>
            <a:r>
              <a:rPr lang="en-US" altLang="ko-KR"/>
              <a:t>(Interaction Object)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5"/>
            <a:ext cx="1110113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트리거 </a:t>
            </a:r>
            <a:r>
              <a:rPr lang="en-US" altLang="ko-KR"/>
              <a:t>(Trigger)]</a:t>
            </a:r>
          </a:p>
          <a:p>
            <a:r>
              <a:rPr lang="ko-KR" altLang="en-US"/>
              <a:t>예시</a:t>
            </a:r>
            <a:r>
              <a:rPr lang="en-US" altLang="ko-KR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레버 </a:t>
            </a:r>
            <a:r>
              <a:rPr lang="en-US" altLang="ko-KR"/>
              <a:t>on(/off) (</a:t>
            </a:r>
            <a:r>
              <a:rPr lang="ko-KR" altLang="en-US"/>
              <a:t>가 </a:t>
            </a:r>
            <a:r>
              <a:rPr lang="en-US" altLang="ko-KR"/>
              <a:t>2</a:t>
            </a:r>
            <a:r>
              <a:rPr lang="ko-KR" altLang="en-US"/>
              <a:t>개 이상 연결된 경우도 있다</a:t>
            </a:r>
            <a:r>
              <a:rPr lang="en-US" altLang="ko-KR"/>
              <a:t>.)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배터리같은 아이템을 장착시키면 트리거가 </a:t>
            </a:r>
            <a:r>
              <a:rPr lang="en-US" altLang="ko-KR"/>
              <a:t>on/off </a:t>
            </a:r>
            <a:r>
              <a:rPr lang="ko-KR" altLang="en-US"/>
              <a:t>되는 경우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버튼 </a:t>
            </a:r>
            <a:r>
              <a:rPr lang="en-US" altLang="ko-KR"/>
              <a:t>on/off</a:t>
            </a:r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19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상호작용 구조물 </a:t>
            </a:r>
            <a:r>
              <a:rPr lang="en-US" altLang="ko-KR"/>
              <a:t>(Interaction Object)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5"/>
            <a:ext cx="1110113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[NPC]</a:t>
            </a:r>
          </a:p>
          <a:p>
            <a:r>
              <a:rPr lang="ko-KR" altLang="en-US"/>
              <a:t>예시</a:t>
            </a:r>
            <a:r>
              <a:rPr lang="en-US" altLang="ko-KR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모든 </a:t>
            </a:r>
            <a:r>
              <a:rPr lang="en-US" altLang="ko-KR"/>
              <a:t>NPC</a:t>
            </a:r>
            <a:r>
              <a:rPr lang="ko-KR" altLang="en-US"/>
              <a:t>들을 트럭에 다 태우면 트럭이 출발한다</a:t>
            </a:r>
            <a:r>
              <a:rPr lang="en-US" altLang="ko-KR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높은 곳에 올라갈 때</a:t>
            </a:r>
            <a:r>
              <a:rPr lang="en-US" altLang="ko-KR"/>
              <a:t>, </a:t>
            </a:r>
            <a:r>
              <a:rPr lang="ko-KR" altLang="en-US"/>
              <a:t>플레이어가 밑에서 받쳐줘서 </a:t>
            </a:r>
            <a:r>
              <a:rPr lang="en-US" altLang="ko-KR"/>
              <a:t>NPC</a:t>
            </a:r>
            <a:r>
              <a:rPr lang="ko-KR" altLang="en-US"/>
              <a:t>가 올라가고 나면</a:t>
            </a:r>
            <a:r>
              <a:rPr lang="en-US" altLang="ko-KR"/>
              <a:t>, NPC</a:t>
            </a:r>
            <a:r>
              <a:rPr lang="ko-KR" altLang="en-US"/>
              <a:t>가 위에서 플레이어를 잡아준다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9410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 상호작용 구조물 아이디어 스케치하기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/>
              <a:t>[ </a:t>
            </a:r>
            <a:r>
              <a:rPr lang="ko-KR" altLang="en-US" b="1"/>
              <a:t>대장 고양이 영역 지나가기 </a:t>
            </a:r>
            <a:r>
              <a:rPr lang="en-US" altLang="ko-KR" b="1"/>
              <a:t>– </a:t>
            </a:r>
            <a:r>
              <a:rPr lang="ko-KR" altLang="en-US" b="1"/>
              <a:t>예쁜 고양이 구출하기 </a:t>
            </a:r>
            <a:r>
              <a:rPr lang="en-US" altLang="ko-KR" b="1"/>
              <a:t>]</a:t>
            </a:r>
          </a:p>
          <a:p>
            <a:pPr marL="0" indent="0">
              <a:buNone/>
            </a:pPr>
            <a:r>
              <a:rPr lang="en-US" altLang="ko-KR"/>
              <a:t>1-1. </a:t>
            </a:r>
            <a:r>
              <a:rPr lang="ko-KR" altLang="en-US"/>
              <a:t>대장 고양이 영역 지나가기 </a:t>
            </a:r>
            <a:r>
              <a:rPr lang="en-US" altLang="ko-KR"/>
              <a:t>– </a:t>
            </a:r>
            <a:r>
              <a:rPr lang="ko-KR" altLang="en-US"/>
              <a:t>지나갈 수 없음</a:t>
            </a:r>
            <a:endParaRPr lang="en-US" altLang="ko-KR" b="1"/>
          </a:p>
          <a:p>
            <a:r>
              <a:rPr lang="ko-KR" altLang="en-US"/>
              <a:t>도시 외곽으로 가야 하는 퀘스트를 받고 플레이어가 가야 하는 길은 대장 고양이의 영역이다</a:t>
            </a:r>
            <a:r>
              <a:rPr lang="en-US" altLang="ko-KR"/>
              <a:t>.</a:t>
            </a:r>
          </a:p>
          <a:p>
            <a:r>
              <a:rPr lang="ko-KR" altLang="en-US"/>
              <a:t>플레이어가 근처에 오면 대장 고양이가 편의점 방향에서 자신의 영역으로 뛰어와서 아무도 자신의 영역을 지나가지 못하게 한다</a:t>
            </a:r>
            <a:r>
              <a:rPr lang="en-US" altLang="ko-KR"/>
              <a:t>. </a:t>
            </a:r>
            <a:r>
              <a:rPr lang="ko-KR" altLang="en-US"/>
              <a:t>다른 고양이들도 함께 하악질하면서 경계한다</a:t>
            </a:r>
            <a:r>
              <a:rPr lang="en-US" altLang="ko-KR"/>
              <a:t>.</a:t>
            </a:r>
          </a:p>
          <a:p>
            <a:r>
              <a:rPr lang="ko-KR" altLang="en-US"/>
              <a:t>플레이어가 방법을 찾기 위해 잠시 그곳을 떠나면 대장 고양이가 다시 편의점 쪽으로 달려간다</a:t>
            </a:r>
            <a:r>
              <a:rPr lang="en-US" altLang="ko-KR"/>
              <a:t>. </a:t>
            </a:r>
            <a:r>
              <a:rPr lang="ko-KR" altLang="en-US"/>
              <a:t>작은 야옹 소리가 들린다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3260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 상호작용 구조물 아이디어 스케치하기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/>
              <a:t>[ </a:t>
            </a:r>
            <a:r>
              <a:rPr lang="ko-KR" altLang="en-US" b="1"/>
              <a:t>대장 고양이 영역 지나가기 </a:t>
            </a:r>
            <a:r>
              <a:rPr lang="en-US" altLang="ko-KR" b="1"/>
              <a:t>– </a:t>
            </a:r>
            <a:r>
              <a:rPr lang="ko-KR" altLang="en-US" b="1"/>
              <a:t>예쁜 고양이 구출하기 </a:t>
            </a:r>
            <a:r>
              <a:rPr lang="en-US" altLang="ko-KR" b="1"/>
              <a:t>]</a:t>
            </a:r>
          </a:p>
          <a:p>
            <a:pPr marL="0" indent="0">
              <a:buNone/>
            </a:pPr>
            <a:r>
              <a:rPr lang="en-US" altLang="ko-KR"/>
              <a:t>1-2. </a:t>
            </a:r>
            <a:r>
              <a:rPr lang="ko-KR" altLang="en-US"/>
              <a:t>편의점 쪽</a:t>
            </a:r>
            <a:endParaRPr lang="en-US" altLang="ko-KR"/>
          </a:p>
          <a:p>
            <a:r>
              <a:rPr lang="ko-KR" altLang="en-US"/>
              <a:t>대장 고양이가 달려간 편의점쪽으로 가면</a:t>
            </a:r>
            <a:r>
              <a:rPr lang="en-US" altLang="ko-KR"/>
              <a:t>, </a:t>
            </a:r>
            <a:r>
              <a:rPr lang="ko-KR" altLang="en-US"/>
              <a:t>촘촘한 창살로 만들어진 문 너머로 갇힌 예쁜 고양이가 보인다</a:t>
            </a:r>
            <a:r>
              <a:rPr lang="en-US" altLang="ko-KR"/>
              <a:t>.</a:t>
            </a:r>
          </a:p>
          <a:p>
            <a:r>
              <a:rPr lang="ko-KR" altLang="en-US"/>
              <a:t>문 오른쪽편에 편의점 물류용 플라스틱 박스 더미가 있고</a:t>
            </a:r>
            <a:r>
              <a:rPr lang="en-US" altLang="ko-KR"/>
              <a:t>, </a:t>
            </a:r>
            <a:r>
              <a:rPr lang="ko-KR" altLang="en-US"/>
              <a:t>그 위에 대장 고양이가 올라가서 먹이를 주려고 하고 있다</a:t>
            </a:r>
            <a:r>
              <a:rPr lang="en-US" altLang="ko-KR"/>
              <a:t>.</a:t>
            </a:r>
          </a:p>
          <a:p>
            <a:r>
              <a:rPr lang="ko-KR" altLang="en-US"/>
              <a:t>창살이 너무 촘촘해서 먹이가 예쁜 고양이에게 전달되지 않는다</a:t>
            </a:r>
            <a:r>
              <a:rPr lang="en-US" altLang="ko-KR"/>
              <a:t>. </a:t>
            </a:r>
            <a:r>
              <a:rPr lang="ko-KR" altLang="en-US"/>
              <a:t>꼬르륵 소리가 들린다</a:t>
            </a:r>
            <a:r>
              <a:rPr lang="en-US" altLang="ko-KR"/>
              <a:t>.</a:t>
            </a:r>
          </a:p>
          <a:p>
            <a:r>
              <a:rPr lang="ko-KR" altLang="en-US"/>
              <a:t>플레이어는 편의점에 가서 츄르를 사온다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0134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 상호작용 구조물 아이디어 스케치하기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/>
              <a:t>[ </a:t>
            </a:r>
            <a:r>
              <a:rPr lang="ko-KR" altLang="en-US" b="1"/>
              <a:t>대장 고양이 영역 지나가기 </a:t>
            </a:r>
            <a:r>
              <a:rPr lang="en-US" altLang="ko-KR" b="1"/>
              <a:t>– </a:t>
            </a:r>
            <a:r>
              <a:rPr lang="ko-KR" altLang="en-US" b="1"/>
              <a:t>예쁜 고양이 구출하기 </a:t>
            </a:r>
            <a:r>
              <a:rPr lang="en-US" altLang="ko-KR" b="1"/>
              <a:t>]</a:t>
            </a:r>
          </a:p>
          <a:p>
            <a:pPr marL="0" indent="0">
              <a:buNone/>
            </a:pPr>
            <a:r>
              <a:rPr lang="en-US" altLang="ko-KR"/>
              <a:t>1-3. </a:t>
            </a:r>
            <a:r>
              <a:rPr lang="ko-KR" altLang="en-US"/>
              <a:t>친밀감</a:t>
            </a:r>
            <a:endParaRPr lang="en-US" altLang="ko-KR"/>
          </a:p>
          <a:p>
            <a:r>
              <a:rPr lang="ko-KR" altLang="en-US"/>
              <a:t>먹이를 주다가 대장 고양이에게 할큄을 당하지만</a:t>
            </a:r>
            <a:r>
              <a:rPr lang="en-US" altLang="ko-KR"/>
              <a:t>, </a:t>
            </a:r>
            <a:r>
              <a:rPr lang="ko-KR" altLang="en-US"/>
              <a:t>결국 고양이들의 마음을 얻게 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6224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 상호작용 구조물 아이디어 스케치하기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/>
              <a:t>[ </a:t>
            </a:r>
            <a:r>
              <a:rPr lang="ko-KR" altLang="en-US" b="1"/>
              <a:t>대장 고양이 영역 지나가기 </a:t>
            </a:r>
            <a:r>
              <a:rPr lang="en-US" altLang="ko-KR" b="1"/>
              <a:t>– </a:t>
            </a:r>
            <a:r>
              <a:rPr lang="ko-KR" altLang="en-US" b="1"/>
              <a:t>예쁜 고양이 구출하기 </a:t>
            </a:r>
            <a:r>
              <a:rPr lang="en-US" altLang="ko-KR" b="1"/>
              <a:t>]</a:t>
            </a:r>
          </a:p>
          <a:p>
            <a:pPr marL="0" indent="0">
              <a:buNone/>
            </a:pPr>
            <a:r>
              <a:rPr lang="en-US" altLang="ko-KR"/>
              <a:t>2. </a:t>
            </a:r>
            <a:r>
              <a:rPr lang="ko-KR" altLang="en-US"/>
              <a:t>예쁜 고양이 구출하기</a:t>
            </a:r>
            <a:endParaRPr lang="en-US" altLang="ko-KR"/>
          </a:p>
          <a:p>
            <a:r>
              <a:rPr lang="ko-KR" altLang="en-US"/>
              <a:t>촘촘한 창살로 만들어진 문</a:t>
            </a:r>
            <a:r>
              <a:rPr lang="en-US" altLang="ko-KR"/>
              <a:t>. </a:t>
            </a:r>
            <a:r>
              <a:rPr lang="ko-KR" altLang="en-US"/>
              <a:t>오른쪽 편에 편의점 물류용 플라스틱 박스 더미가 있다</a:t>
            </a:r>
            <a:r>
              <a:rPr lang="en-US" altLang="ko-KR"/>
              <a:t>.</a:t>
            </a:r>
          </a:p>
          <a:p>
            <a:r>
              <a:rPr lang="ko-KR" altLang="en-US"/>
              <a:t>플레이어는 이 박스 더미를 옮겨서 예쁜 고양이가 탈출하게 도울 수 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8978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 상호작용 구조물 아이디어 스케치하기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/>
              <a:t>[ </a:t>
            </a:r>
            <a:r>
              <a:rPr lang="ko-KR" altLang="en-US" b="1"/>
              <a:t>대장 고양이 영역 지나가기 </a:t>
            </a:r>
            <a:r>
              <a:rPr lang="en-US" altLang="ko-KR" b="1"/>
              <a:t>– </a:t>
            </a:r>
            <a:r>
              <a:rPr lang="ko-KR" altLang="en-US" b="1"/>
              <a:t>예쁜 고양이 구출하기 </a:t>
            </a:r>
            <a:r>
              <a:rPr lang="en-US" altLang="ko-KR" b="1"/>
              <a:t>]</a:t>
            </a:r>
          </a:p>
          <a:p>
            <a:pPr marL="0" indent="0">
              <a:buNone/>
            </a:pPr>
            <a:r>
              <a:rPr lang="en-US" altLang="ko-KR"/>
              <a:t>2-2. </a:t>
            </a:r>
            <a:r>
              <a:rPr lang="ko-KR" altLang="en-US"/>
              <a:t>대장 고양이 영역 지나가기</a:t>
            </a:r>
            <a:endParaRPr lang="en-US" altLang="ko-KR"/>
          </a:p>
          <a:p>
            <a:r>
              <a:rPr lang="ko-KR" altLang="en-US"/>
              <a:t>고양이들과 친밀도를 쌓고</a:t>
            </a:r>
            <a:r>
              <a:rPr lang="en-US" altLang="ko-KR"/>
              <a:t>, </a:t>
            </a:r>
            <a:r>
              <a:rPr lang="ko-KR" altLang="en-US"/>
              <a:t>예쁜 고양이도 구출해서</a:t>
            </a:r>
            <a:endParaRPr lang="en-US" altLang="ko-KR"/>
          </a:p>
          <a:p>
            <a:r>
              <a:rPr lang="ko-KR" altLang="en-US"/>
              <a:t>플레이어는 대장 고양이 영역으로 간다</a:t>
            </a:r>
            <a:r>
              <a:rPr lang="en-US" altLang="ko-KR"/>
              <a:t>.</a:t>
            </a:r>
          </a:p>
          <a:p>
            <a:r>
              <a:rPr lang="ko-KR" altLang="en-US"/>
              <a:t>대장 고양이와 예쁜 고양이 커프로가 함께 가니까</a:t>
            </a:r>
            <a:endParaRPr lang="en-US" altLang="ko-KR"/>
          </a:p>
          <a:p>
            <a:r>
              <a:rPr lang="ko-KR" altLang="en-US"/>
              <a:t>다른 고양이들도 경계를 해제한다</a:t>
            </a:r>
            <a:r>
              <a:rPr lang="en-US" altLang="ko-KR"/>
              <a:t>.</a:t>
            </a:r>
          </a:p>
          <a:p>
            <a:r>
              <a:rPr lang="ko-KR" altLang="en-US"/>
              <a:t>플레이어는 대장 고양이의 영역을 지나갈 수 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37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맵 이미지 예시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7" t="6378" r="4218" b="6834"/>
          <a:stretch/>
        </p:blipFill>
        <p:spPr>
          <a:xfrm>
            <a:off x="1315397" y="1557337"/>
            <a:ext cx="9561206" cy="5062537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E62EE4-D94F-38AE-882E-7825CA05E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235" y="5605678"/>
            <a:ext cx="627836" cy="10141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5C3753-3749-9F58-B23F-2D33581E8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864"/>
          <a:stretch>
            <a:fillRect/>
          </a:stretch>
        </p:blipFill>
        <p:spPr>
          <a:xfrm>
            <a:off x="10549274" y="5605678"/>
            <a:ext cx="327329" cy="1014196"/>
          </a:xfrm>
          <a:prstGeom prst="rect">
            <a:avLst/>
          </a:prstGeom>
        </p:spPr>
      </p:pic>
      <p:pic>
        <p:nvPicPr>
          <p:cNvPr id="5" name="그림 4"/>
          <p:cNvPicPr preferRelativeResize="0">
            <a:picLocks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4172" b="69083" l="38522" r="50537">
                        <a14:foregroundMark x1="47729" y1="47189" x2="48183" y2="35429"/>
                        <a14:foregroundMark x1="49009" y1="35281" x2="45252" y2="36243"/>
                        <a14:foregroundMark x1="45665" y1="35133" x2="43600" y2="45784"/>
                        <a14:foregroundMark x1="44055" y1="44083" x2="39182" y2="49852"/>
                        <a14:foregroundMark x1="43889" y1="43861" x2="42031" y2="46080"/>
                        <a14:foregroundMark x1="39430" y1="48891" x2="39595" y2="56953"/>
                        <a14:foregroundMark x1="47316" y1="46746" x2="49959" y2="48077"/>
                        <a14:foregroundMark x1="49546" y1="46967" x2="49505" y2="54808"/>
                        <a14:foregroundMark x1="49670" y1="54216" x2="50289" y2="57914"/>
                        <a14:foregroundMark x1="49917" y1="57618" x2="49959" y2="64275"/>
                        <a14:foregroundMark x1="39719" y1="56805" x2="39637" y2="65680"/>
                        <a14:foregroundMark x1="39389" y1="64793" x2="40999" y2="65976"/>
                        <a14:foregroundMark x1="50206" y1="61760" x2="49959" y2="63240"/>
                        <a14:foregroundMark x1="49794" y1="63462" x2="49216" y2="63979"/>
                        <a14:foregroundMark x1="45417" y1="35281" x2="45169" y2="36908"/>
                        <a14:backgroundMark x1="49381" y1="64497" x2="44922" y2="69009"/>
                        <a14:backgroundMark x1="39802" y1="66124" x2="43518" y2="69822"/>
                        <a14:backgroundMark x1="33196" y1="59911" x2="33196" y2="599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56" t="33992" r="49521" b="30904"/>
          <a:stretch/>
        </p:blipFill>
        <p:spPr>
          <a:xfrm flipH="1">
            <a:off x="9067800" y="3883532"/>
            <a:ext cx="1211140" cy="202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57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 게임의 상호작용 구조물 </a:t>
            </a:r>
            <a:r>
              <a:rPr lang="en-US" altLang="ko-KR"/>
              <a:t>- </a:t>
            </a:r>
            <a:r>
              <a:rPr lang="ko-KR" altLang="en-US"/>
              <a:t>오브젝트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27947" y="1825625"/>
            <a:ext cx="844616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[ </a:t>
            </a:r>
            <a:r>
              <a:rPr lang="ko-KR" altLang="en-US"/>
              <a:t>편의점 물류용 플라스틱 박스 더미</a:t>
            </a:r>
            <a:r>
              <a:rPr lang="en-US" altLang="ko-KR"/>
              <a:t> ]</a:t>
            </a:r>
          </a:p>
          <a:p>
            <a:r>
              <a:rPr lang="ko-KR" altLang="en-US"/>
              <a:t>부서진 창살 부분을 가리고 있는 역할</a:t>
            </a:r>
            <a:endParaRPr lang="en-US" altLang="ko-KR"/>
          </a:p>
          <a:p>
            <a:r>
              <a:rPr lang="ko-KR" altLang="en-US"/>
              <a:t>박스 더미를 치우면 철창 문의 부서진 부분이 있다</a:t>
            </a:r>
            <a:r>
              <a:rPr lang="en-US" altLang="ko-KR"/>
              <a:t>.</a:t>
            </a:r>
          </a:p>
          <a:p>
            <a:r>
              <a:rPr lang="ko-KR" altLang="en-US"/>
              <a:t>그 구멍으로 예쁜 고양이가 나올 수 있다</a:t>
            </a:r>
            <a:r>
              <a:rPr lang="en-US" altLang="ko-KR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56" t="33991" r="49521" b="15003"/>
          <a:stretch/>
        </p:blipFill>
        <p:spPr>
          <a:xfrm>
            <a:off x="838200" y="1608976"/>
            <a:ext cx="1880937" cy="456798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94" t="56534" r="11722" b="17748"/>
          <a:stretch/>
        </p:blipFill>
        <p:spPr>
          <a:xfrm>
            <a:off x="9625264" y="3865896"/>
            <a:ext cx="1848852" cy="231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51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 게임의 상호작용 구조물 </a:t>
            </a:r>
            <a:r>
              <a:rPr lang="en-US" altLang="ko-KR"/>
              <a:t>- NPC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[ </a:t>
            </a:r>
            <a:r>
              <a:rPr lang="ko-KR" altLang="en-US"/>
              <a:t>고양이 영역 </a:t>
            </a:r>
            <a:r>
              <a:rPr lang="en-US" altLang="ko-KR"/>
              <a:t>]</a:t>
            </a:r>
          </a:p>
          <a:p>
            <a:r>
              <a:rPr lang="ko-KR" altLang="en-US"/>
              <a:t>예쁜 고양이를 구출하면 고양이 커플이 플레이어를 고양이 영역으로 이끈다</a:t>
            </a:r>
            <a:r>
              <a:rPr lang="en-US" altLang="ko-KR"/>
              <a:t>.</a:t>
            </a:r>
          </a:p>
          <a:p>
            <a:r>
              <a:rPr lang="ko-KR" altLang="en-US"/>
              <a:t>대장 고양이와 예쁜 고양이 커플과 함께 고양이 영역으로 가면 다른 고양이들이 경계를 해제한다</a:t>
            </a:r>
            <a:r>
              <a:rPr lang="en-US" altLang="ko-KR"/>
              <a:t>.</a:t>
            </a:r>
          </a:p>
          <a:p>
            <a:r>
              <a:rPr lang="ko-KR" altLang="en-US"/>
              <a:t>플레이어는 고양이 영역을 지나갈 수 있다</a:t>
            </a:r>
            <a:r>
              <a:rPr lang="en-US" altLang="ko-KR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6E268A"/>
              </a:clrFrom>
              <a:clrTo>
                <a:srgbClr val="6E268A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5" b="89941" l="9992" r="91206">
                        <a14:foregroundMark x1="49463" y1="34689" x2="50743" y2="28772"/>
                        <a14:foregroundMark x1="43476" y1="39867" x2="45334" y2="36538"/>
                        <a14:foregroundMark x1="50330" y1="33210" x2="45128" y2="37278"/>
                        <a14:foregroundMark x1="13832" y1="38388" x2="17465" y2="44527"/>
                        <a14:foregroundMark x1="18084" y1="52441" x2="20768" y2="57470"/>
                        <a14:foregroundMark x1="50537" y1="43195" x2="51775" y2="45784"/>
                        <a14:foregroundMark x1="53922" y1="47115" x2="51858" y2="46006"/>
                        <a14:foregroundMark x1="51363" y1="45414" x2="54872" y2="48003"/>
                        <a14:foregroundMark x1="77168" y1="48003" x2="79356" y2="46006"/>
                        <a14:foregroundMark x1="86994" y1="44527" x2="89678" y2="40607"/>
                        <a14:foregroundMark x1="86251" y1="26701" x2="89265" y2="31361"/>
                        <a14:foregroundMark x1="10859" y1="41938" x2="14162" y2="47485"/>
                        <a14:foregroundMark x1="72832" y1="23373" x2="80182" y2="27071"/>
                        <a14:foregroundMark x1="80801" y1="26553" x2="85012" y2="22263"/>
                        <a14:foregroundMark x1="52684" y1="26183" x2="50206" y2="30251"/>
                        <a14:foregroundMark x1="34600" y1="38979" x2="39141" y2="42086"/>
                        <a14:foregroundMark x1="38852" y1="41716" x2="40504" y2="44675"/>
                        <a14:foregroundMark x1="33567" y1="49852" x2="37490" y2="56879"/>
                        <a14:backgroundMark x1="54748" y1="49704" x2="67671" y2="50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5" y="4555769"/>
            <a:ext cx="3302647" cy="184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72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1C7E8-A1A4-4C91-6801-B7269ED2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이미지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B45A3E-E7C6-F0BE-CFEC-AB2CFE37A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고양이들이 경계              </a:t>
            </a:r>
            <a:r>
              <a:rPr lang="en-US" altLang="ko-KR" dirty="0"/>
              <a:t>-&gt;               </a:t>
            </a:r>
            <a:r>
              <a:rPr lang="ko-KR" altLang="en-US" dirty="0"/>
              <a:t>고양이들의 경계 해제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6596C9-6E1F-362E-907C-920520D95C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71" y="2655777"/>
            <a:ext cx="5307106" cy="29621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A0D8A7-7612-05A8-8BBE-E48FEB4A36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24346" y1="19792" x2="32522" y2="72591"/>
                        <a14:backgroundMark x1="32522" y1="72591" x2="46330" y2="88411"/>
                        <a14:backgroundMark x1="46330" y1="88411" x2="62173" y2="77930"/>
                        <a14:backgroundMark x1="62173" y1="77930" x2="67624" y2="47982"/>
                        <a14:backgroundMark x1="67624" y1="47982" x2="61337" y2="22982"/>
                        <a14:backgroundMark x1="61337" y1="22982" x2="46076" y2="17708"/>
                        <a14:backgroundMark x1="46076" y1="17708" x2="27289" y2="215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716" t="20513" r="37794" b="26879"/>
          <a:stretch>
            <a:fillRect/>
          </a:stretch>
        </p:blipFill>
        <p:spPr>
          <a:xfrm rot="21016328">
            <a:off x="2887210" y="3145187"/>
            <a:ext cx="463918" cy="5343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0B6C64E-64A3-F462-3787-CE91FA3F2E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825" y="2655776"/>
            <a:ext cx="5307105" cy="29621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4973102-742B-A41E-3E5C-F1FFE623C2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6E268A"/>
              </a:clrFrom>
              <a:clrTo>
                <a:srgbClr val="6E268A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5" b="89941" l="9992" r="91206">
                        <a14:foregroundMark x1="49463" y1="34689" x2="50743" y2="28772"/>
                        <a14:foregroundMark x1="43476" y1="39867" x2="45334" y2="36538"/>
                        <a14:foregroundMark x1="50330" y1="33210" x2="45128" y2="37278"/>
                        <a14:foregroundMark x1="13832" y1="38388" x2="17465" y2="44527"/>
                        <a14:foregroundMark x1="18084" y1="52441" x2="20768" y2="57470"/>
                        <a14:foregroundMark x1="50537" y1="43195" x2="51775" y2="45784"/>
                        <a14:foregroundMark x1="53922" y1="47115" x2="51858" y2="46006"/>
                        <a14:foregroundMark x1="51363" y1="45414" x2="54872" y2="48003"/>
                        <a14:foregroundMark x1="77168" y1="48003" x2="79356" y2="46006"/>
                        <a14:foregroundMark x1="86994" y1="44527" x2="89678" y2="40607"/>
                        <a14:foregroundMark x1="86251" y1="26701" x2="89265" y2="31361"/>
                        <a14:foregroundMark x1="10859" y1="41938" x2="14162" y2="47485"/>
                        <a14:foregroundMark x1="72832" y1="23373" x2="80182" y2="27071"/>
                        <a14:foregroundMark x1="80801" y1="26553" x2="85012" y2="22263"/>
                        <a14:foregroundMark x1="52684" y1="26183" x2="50206" y2="30251"/>
                        <a14:foregroundMark x1="34600" y1="38979" x2="39141" y2="42086"/>
                        <a14:foregroundMark x1="38852" y1="41716" x2="40504" y2="44675"/>
                        <a14:foregroundMark x1="33567" y1="49852" x2="37490" y2="56879"/>
                        <a14:backgroundMark x1="54748" y1="49704" x2="67671" y2="50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02250" y="3459044"/>
            <a:ext cx="753935" cy="4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43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상호작용 관련 게임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5491"/>
          </a:xfrm>
        </p:spPr>
        <p:txBody>
          <a:bodyPr>
            <a:normAutofit/>
          </a:bodyPr>
          <a:lstStyle/>
          <a:p>
            <a:r>
              <a:rPr lang="ko-KR" altLang="en-US"/>
              <a:t>프로그래머들이 해야 되는 상호작용 구조물</a:t>
            </a:r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포탈</a:t>
            </a:r>
            <a:r>
              <a:rPr lang="en-US" altLang="ko-KR"/>
              <a:t>]</a:t>
            </a:r>
          </a:p>
          <a:p>
            <a:endParaRPr lang="en-US" altLang="ko-KR"/>
          </a:p>
          <a:p>
            <a:r>
              <a:rPr lang="ko-KR" altLang="en-US"/>
              <a:t>그래픽 디자이너들이 해야 되는 상호작용 구조물</a:t>
            </a:r>
            <a:endParaRPr lang="en-US" altLang="ko-KR"/>
          </a:p>
          <a:p>
            <a:r>
              <a:rPr lang="ko-KR" altLang="en-US"/>
              <a:t>언차티드</a:t>
            </a:r>
            <a:r>
              <a:rPr lang="en-US" altLang="ko-KR"/>
              <a:t>4 </a:t>
            </a:r>
            <a:r>
              <a:rPr lang="ko-KR" altLang="en-US"/>
              <a:t>퍼즐 </a:t>
            </a:r>
            <a:r>
              <a:rPr lang="en-US" altLang="ko-KR"/>
              <a:t>– </a:t>
            </a:r>
            <a:r>
              <a:rPr lang="ko-KR" altLang="en-US"/>
              <a:t>이벤트에 의해서 분할되는 오브젝트</a:t>
            </a:r>
            <a:endParaRPr lang="en-US" altLang="ko-KR"/>
          </a:p>
          <a:p>
            <a:r>
              <a:rPr lang="ko-KR" altLang="en-US"/>
              <a:t>언차티드</a:t>
            </a:r>
            <a:r>
              <a:rPr lang="en-US" altLang="ko-KR"/>
              <a:t>4</a:t>
            </a:r>
            <a:r>
              <a:rPr lang="ko-KR" altLang="en-US"/>
              <a:t>는 시나리오 액션 게임이지 시나리오 퍼즐 액션 게임이 아니다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인사이드</a:t>
            </a:r>
          </a:p>
        </p:txBody>
      </p:sp>
    </p:spTree>
    <p:extLst>
      <p:ext uri="{BB962C8B-B14F-4D97-AF65-F5344CB8AC3E}">
        <p14:creationId xmlns:p14="http://schemas.microsoft.com/office/powerpoint/2010/main" val="1539454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 가서 할 것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상호작용 구조물 한 개 정도 제대로 스케치 해오자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그걸 맵에 넣어서 퀄리티업 할거야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11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615</Words>
  <Application>Microsoft Office PowerPoint</Application>
  <PresentationFormat>와이드스크린</PresentationFormat>
  <Paragraphs>94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몬스터 배치의 기획 의도</vt:lpstr>
      <vt:lpstr>플레이 시간</vt:lpstr>
      <vt:lpstr>레벨을 소모하는 흐름</vt:lpstr>
      <vt:lpstr>N차 플레이 유도</vt:lpstr>
      <vt:lpstr>상황의 기차칸</vt:lpstr>
      <vt:lpstr>PowerPoint 프레젠테이션</vt:lpstr>
      <vt:lpstr>상호작용 구조물 (Interaction Object)</vt:lpstr>
      <vt:lpstr>상호작용 구조물 (Interaction Object)</vt:lpstr>
      <vt:lpstr>내 상호작용 구조물 아이디어 스케치하기</vt:lpstr>
      <vt:lpstr>내 상호작용 구조물 아이디어 스케치하기</vt:lpstr>
      <vt:lpstr>내 상호작용 구조물 아이디어 스케치하기</vt:lpstr>
      <vt:lpstr>내 상호작용 구조물 아이디어 스케치하기</vt:lpstr>
      <vt:lpstr>내 상호작용 구조물 아이디어 스케치하기</vt:lpstr>
      <vt:lpstr>맵 이미지 예시</vt:lpstr>
      <vt:lpstr>내 게임의 상호작용 구조물 - 오브젝트</vt:lpstr>
      <vt:lpstr>내 게임의 상호작용 구조물 - NPC</vt:lpstr>
      <vt:lpstr>맵 이미지 예시</vt:lpstr>
      <vt:lpstr>상호작용 관련 게임</vt:lpstr>
      <vt:lpstr>집 가서 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몬스터 배치의 기획 의도</dc:title>
  <dc:creator>FullName</dc:creator>
  <cp:lastModifiedBy>musukie52@gmail.com</cp:lastModifiedBy>
  <cp:revision>12</cp:revision>
  <dcterms:created xsi:type="dcterms:W3CDTF">2026-06-09T05:01:22Z</dcterms:created>
  <dcterms:modified xsi:type="dcterms:W3CDTF">2026-06-10T02:18:43Z</dcterms:modified>
</cp:coreProperties>
</file>